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Zielperspektive 1 und 2 erschließen die Sachdimension, 3 die human-soziale; 3 ist die anspruchsvollste.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Bienhaus (2008, S. 5): keine Universalmethode; Methodensystem als Beziehungsgeflecht.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2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20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121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2 · Mehrperspektivisch, Methoden und Modelle</a:t>
            </a:r>
            <a:endParaRPr lang="en-US" sz="2600" dirty="0"/>
          </a:p>
        </p:txBody>
      </p:sp>
      <p:sp>
        <p:nvSpPr>
          <p:cNvPr id="4" name="box-122"/>
          <p:cNvSpPr txBox="1"/>
          <p:nvPr/>
        </p:nvSpPr>
        <p:spPr>
          <a:xfrm>
            <a:off x="548640" y="3611880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123"/>
          <p:cNvSpPr txBox="1"/>
          <p:nvPr/>
        </p:nvSpPr>
        <p:spPr>
          <a:xfrm>
            <a:off x="2560320" y="3611880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Technikbegriff · Technik im Fächerkanon</a:t>
            </a:r>
            <a:endParaRPr lang="en-US" sz="2200" dirty="0"/>
          </a:p>
        </p:txBody>
      </p:sp>
      <p:sp>
        <p:nvSpPr>
          <p:cNvPr id="6" name="box-124"/>
          <p:cNvSpPr txBox="1"/>
          <p:nvPr/>
        </p:nvSpPr>
        <p:spPr>
          <a:xfrm>
            <a:off x="548640" y="4325112"/>
            <a:ext cx="1828800" cy="566928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125"/>
          <p:cNvSpPr txBox="1"/>
          <p:nvPr/>
        </p:nvSpPr>
        <p:spPr>
          <a:xfrm>
            <a:off x="2560320" y="4325112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Mehrperspektivischer Technikunterricht · Methoden und Modelle</a:t>
            </a:r>
            <a:endParaRPr lang="en-US" sz="2200" dirty="0"/>
          </a:p>
        </p:txBody>
      </p:sp>
      <p:sp>
        <p:nvSpPr>
          <p:cNvPr id="8" name="box-126"/>
          <p:cNvSpPr txBox="1"/>
          <p:nvPr/>
        </p:nvSpPr>
        <p:spPr>
          <a:xfrm>
            <a:off x="548640" y="5038344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127"/>
          <p:cNvSpPr txBox="1"/>
          <p:nvPr/>
        </p:nvSpPr>
        <p:spPr>
          <a:xfrm>
            <a:off x="2560320" y="5038344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Aktuelle Entwicklungen · Leistungsbewertung · Impulsreferat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28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Rückblick: Aufgabenpaket 1</a:t>
            </a:r>
            <a:endParaRPr lang="en-US" sz="2800" dirty="0"/>
          </a:p>
        </p:txBody>
      </p:sp>
      <p:sp>
        <p:nvSpPr>
          <p:cNvPr id="3" name="tile-129"/>
          <p:cNvSpPr txBox="1"/>
          <p:nvPr/>
        </p:nvSpPr>
        <p:spPr>
          <a:xfrm>
            <a:off x="548640" y="178308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Ropohl für Klasse 6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vorlesen und prüfen: vereinfacht, aber nicht verfälscht?</a:t>
            </a:r>
            <a:endParaRPr lang="en-US" sz="2400" dirty="0"/>
          </a:p>
        </p:txBody>
      </p:sp>
      <p:sp>
        <p:nvSpPr>
          <p:cNvPr id="4" name="tile-130"/>
          <p:cNvSpPr txBox="1"/>
          <p:nvPr/>
        </p:nvSpPr>
        <p:spPr>
          <a:xfrm>
            <a:off x="4297680" y="1783080"/>
            <a:ext cx="3474720" cy="292608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KC und Ropohl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Was fehlt im Kerncurriculum?</a:t>
            </a:r>
            <a:endParaRPr lang="en-US" sz="2400" dirty="0"/>
          </a:p>
        </p:txBody>
      </p:sp>
      <p:sp>
        <p:nvSpPr>
          <p:cNvPr id="5" name="tile-131"/>
          <p:cNvSpPr txBox="1"/>
          <p:nvPr/>
        </p:nvSpPr>
        <p:spPr>
          <a:xfrm>
            <a:off x="8046720" y="1783080"/>
            <a:ext cx="3474720" cy="29260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Fächerkanon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deine Entscheidung und dein stärkstes Argument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3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Der mehrperspektivische Technikunterricht</a:t>
            </a:r>
            <a:endParaRPr lang="en-US" sz="2800" dirty="0"/>
          </a:p>
        </p:txBody>
      </p:sp>
      <p:sp>
        <p:nvSpPr>
          <p:cNvPr id="3" name="text-13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6687A"/>
                </a:solidFill>
              </a:rPr>
              <a:t>ERKENNTNISPERSPEKTIVEN (Schmayl) – Blick auf die Sache</a:t>
            </a:r>
            <a:endParaRPr lang="en-US" sz="1400" dirty="0"/>
          </a:p>
        </p:txBody>
      </p:sp>
      <p:sp>
        <p:nvSpPr>
          <p:cNvPr id="4" name="box-134"/>
          <p:cNvSpPr txBox="1"/>
          <p:nvPr/>
        </p:nvSpPr>
        <p:spPr>
          <a:xfrm>
            <a:off x="548640" y="1965960"/>
            <a:ext cx="3474720" cy="822960"/>
          </a:xfrm>
          <a:prstGeom prst="rect">
            <a:avLst/>
          </a:prstGeom>
          <a:solidFill>
            <a:srgbClr val="DDE9F1"/>
          </a:solidFill>
          <a:ln w="25400">
            <a:solidFill>
              <a:srgbClr val="3B6E8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Sachperspektive</a:t>
            </a:r>
            <a:endParaRPr lang="en-US" sz="2000" dirty="0"/>
          </a:p>
        </p:txBody>
      </p:sp>
      <p:sp>
        <p:nvSpPr>
          <p:cNvPr id="5" name="box-135"/>
          <p:cNvSpPr txBox="1"/>
          <p:nvPr/>
        </p:nvSpPr>
        <p:spPr>
          <a:xfrm>
            <a:off x="4297680" y="1965960"/>
            <a:ext cx="3474720" cy="822960"/>
          </a:xfrm>
          <a:prstGeom prst="rect">
            <a:avLst/>
          </a:prstGeom>
          <a:solidFill>
            <a:srgbClr val="FBE3EC"/>
          </a:solidFill>
          <a:ln w="25400">
            <a:solidFill>
              <a:srgbClr val="C2255C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human-soziale Perspektive</a:t>
            </a:r>
            <a:endParaRPr lang="en-US" sz="2000" dirty="0"/>
          </a:p>
        </p:txBody>
      </p:sp>
      <p:sp>
        <p:nvSpPr>
          <p:cNvPr id="6" name="box-136"/>
          <p:cNvSpPr txBox="1"/>
          <p:nvPr/>
        </p:nvSpPr>
        <p:spPr>
          <a:xfrm>
            <a:off x="8046720" y="1965960"/>
            <a:ext cx="3474720" cy="822960"/>
          </a:xfrm>
          <a:prstGeom prst="rect">
            <a:avLst/>
          </a:prstGeom>
          <a:solidFill>
            <a:srgbClr val="FDE6D7"/>
          </a:solidFill>
          <a:ln w="25400">
            <a:solidFill>
              <a:srgbClr val="D9480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Sinn- und Wertperspektive</a:t>
            </a:r>
            <a:endParaRPr lang="en-US" sz="2000" dirty="0"/>
          </a:p>
        </p:txBody>
      </p:sp>
      <p:sp>
        <p:nvSpPr>
          <p:cNvPr id="7" name="box-137"/>
          <p:cNvSpPr txBox="1"/>
          <p:nvPr/>
        </p:nvSpPr>
        <p:spPr>
          <a:xfrm>
            <a:off x="548640" y="352044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F"/>
                </a:solidFill>
              </a:rPr>
              <a:t>technische Kenntnisse und Strukturzusammenhänge</a:t>
            </a:r>
            <a:endParaRPr lang="en-US" sz="1900" dirty="0"/>
          </a:p>
        </p:txBody>
      </p:sp>
      <p:sp>
        <p:nvSpPr>
          <p:cNvPr id="8" name="box-138"/>
          <p:cNvSpPr txBox="1"/>
          <p:nvPr/>
        </p:nvSpPr>
        <p:spPr>
          <a:xfrm>
            <a:off x="4297680" y="352044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F"/>
                </a:solidFill>
              </a:rPr>
              <a:t>technisches Handeln</a:t>
            </a:r>
            <a:endParaRPr lang="en-US" sz="1900" dirty="0"/>
          </a:p>
        </p:txBody>
      </p:sp>
      <p:sp>
        <p:nvSpPr>
          <p:cNvPr id="9" name="box-139"/>
          <p:cNvSpPr txBox="1"/>
          <p:nvPr/>
        </p:nvSpPr>
        <p:spPr>
          <a:xfrm>
            <a:off x="8046720" y="3520440"/>
            <a:ext cx="34747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F"/>
                </a:solidFill>
              </a:rPr>
              <a:t>Bedeutung und Bewertung technischer Sachverhalte</a:t>
            </a:r>
            <a:endParaRPr lang="en-US" sz="1900" dirty="0"/>
          </a:p>
        </p:txBody>
      </p:sp>
      <p:sp>
        <p:nvSpPr>
          <p:cNvPr id="10" name="arrow-140"/>
          <p:cNvSpPr/>
          <p:nvPr/>
        </p:nvSpPr>
        <p:spPr>
          <a:xfrm>
            <a:off x="2286000" y="2807208"/>
            <a:ext cx="914" cy="6949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1" name="arrow-141"/>
          <p:cNvSpPr/>
          <p:nvPr/>
        </p:nvSpPr>
        <p:spPr>
          <a:xfrm>
            <a:off x="6035040" y="2807208"/>
            <a:ext cx="3749040" cy="6949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2" name="arrow-142"/>
          <p:cNvSpPr/>
          <p:nvPr/>
        </p:nvSpPr>
        <p:spPr>
          <a:xfrm>
            <a:off x="9784080" y="2807208"/>
            <a:ext cx="914" cy="6949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3" name="arrow-143"/>
          <p:cNvSpPr/>
          <p:nvPr/>
        </p:nvSpPr>
        <p:spPr>
          <a:xfrm>
            <a:off x="2926080" y="2807208"/>
            <a:ext cx="3108960" cy="6949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4" name="box-144"/>
          <p:cNvSpPr txBox="1"/>
          <p:nvPr/>
        </p:nvSpPr>
        <p:spPr>
          <a:xfrm>
            <a:off x="3291840" y="3017520"/>
            <a:ext cx="5394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6687A"/>
                </a:solidFill>
              </a:rPr>
              <a:t>ZIELPERSPEKTIVEN (Sachs) – Richtziele des Unterrichts</a:t>
            </a:r>
            <a:endParaRPr lang="en-US" sz="1400" dirty="0"/>
          </a:p>
        </p:txBody>
      </p:sp>
      <p:sp>
        <p:nvSpPr>
          <p:cNvPr id="15" name="box-145"/>
          <p:cNvSpPr txBox="1"/>
          <p:nvPr/>
        </p:nvSpPr>
        <p:spPr>
          <a:xfrm>
            <a:off x="548640" y="4846320"/>
            <a:ext cx="11094415" cy="685800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F"/>
                </a:solidFill>
              </a:rPr>
              <a:t>vorberufliche Orientierung – „allgegenwärtig“, in die anderen eingebunden</a:t>
            </a:r>
            <a:endParaRPr lang="en-US" sz="1900" dirty="0"/>
          </a:p>
        </p:txBody>
      </p:sp>
      <p:sp>
        <p:nvSpPr>
          <p:cNvPr id="16" name="text-146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Eigene Darstellung nach Bienhaus (2008): Technikdidaktik – der mehrperspektivische Ansatz, S. 2–4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4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Mehrperspektivisch ≠ mehrdimensional</a:t>
            </a:r>
            <a:endParaRPr lang="en-US" sz="2800" dirty="0"/>
          </a:p>
        </p:txBody>
      </p:sp>
      <p:sp>
        <p:nvSpPr>
          <p:cNvPr id="3" name="tile-148"/>
          <p:cNvSpPr txBox="1"/>
          <p:nvPr/>
        </p:nvSpPr>
        <p:spPr>
          <a:xfrm>
            <a:off x="548640" y="1691640"/>
            <a:ext cx="5440680" cy="3017520"/>
          </a:xfrm>
          <a:prstGeom prst="rect">
            <a:avLst/>
          </a:prstGeom>
          <a:solidFill>
            <a:srgbClr val="FCE8E5"/>
          </a:solidFill>
          <a:ln w="25400">
            <a:solidFill>
              <a:srgbClr val="C23B2E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23B2E"/>
                </a:solidFill>
              </a:rPr>
              <a:t>Nicht gemeint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100" dirty="0">
                <a:solidFill>
                  <a:srgbClr val="14232F"/>
                </a:solidFill>
              </a:rPr>
              <a:t>möglichst viele Wissenschaften berücksichtigen – dafür wäre „mehrdimensional“ das passende Wort</a:t>
            </a:r>
            <a:endParaRPr lang="en-US" sz="2400" dirty="0"/>
          </a:p>
        </p:txBody>
      </p:sp>
      <p:sp>
        <p:nvSpPr>
          <p:cNvPr id="4" name="tile-149"/>
          <p:cNvSpPr txBox="1"/>
          <p:nvPr/>
        </p:nvSpPr>
        <p:spPr>
          <a:xfrm>
            <a:off x="6199632" y="1691640"/>
            <a:ext cx="5440680" cy="3017520"/>
          </a:xfrm>
          <a:prstGeom prst="rect">
            <a:avLst/>
          </a:prstGeom>
          <a:solidFill>
            <a:srgbClr val="E2F4E8"/>
          </a:solidFill>
          <a:ln w="25400">
            <a:solidFill>
              <a:srgbClr val="17803F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803F"/>
                </a:solidFill>
              </a:rPr>
              <a:t>Gemeint</a:t>
            </a:r>
            <a:endParaRPr lang="en-US" sz="2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100" dirty="0">
                <a:solidFill>
                  <a:srgbClr val="14232F"/>
                </a:solidFill>
              </a:rPr>
              <a:t>ein Unterricht, der die Zielperspektiven verfolgt – Richtziel: Mündigkeit in einer von Technik geprägten Welt</a:t>
            </a:r>
            <a:endParaRPr lang="en-US" sz="2400" dirty="0"/>
          </a:p>
        </p:txBody>
      </p:sp>
      <p:sp>
        <p:nvSpPr>
          <p:cNvPr id="5" name="text-150"/>
          <p:cNvSpPr txBox="1"/>
          <p:nvPr/>
        </p:nvSpPr>
        <p:spPr>
          <a:xfrm>
            <a:off x="548640" y="53949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Bienhaus (2008), S. 3 und 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Inhaltsfelder des mpTu</a:t>
            </a:r>
            <a:endParaRPr lang="en-US" sz="2800" dirty="0"/>
          </a:p>
        </p:txBody>
      </p:sp>
      <p:graphicFrame>
        <p:nvGraphicFramePr>
          <p:cNvPr id="6" name="table-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Lebensbereiche: Haushalt · Betrieb · Öffentlichkeit · Freizeit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Arbeit und Produktion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Bauen und Wohnen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Versorgung und Entsorgung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Transport und Verkehr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4232F"/>
                          </a:solidFill>
                        </a:rPr>
                        <a:t>Information und Kommunikation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Arbeitsverfahren, Werkzeuge, Maschinen, Werkstoffe, Arbeitsplatz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Baukonstruktion, Raumfunktion, Wohnbedürfnisse, Umweltplanung, Haustechnik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Wasserversorgung, Energieversorgung, Abfallentsorgung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Fahrzeuge, Hebezeuge, Verkehrseinrichtung, Verkehrsplanung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4232F"/>
                          </a:solidFill>
                        </a:rPr>
                        <a:t>Steuerung, Regelung, informationsverarbeitende Maschinen, Automatisierung</a:t>
                      </a:r>
                      <a:endParaRPr lang="en-US" sz="16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x-153"/>
          <p:cNvSpPr txBox="1"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Themen: Bautechnik · Maschinentechnik · Produktionstechnik · Energietechnik · Informationstechnik · Textiltechnik</a:t>
            </a:r>
            <a:endParaRPr lang="en-US" sz="1800" dirty="0"/>
          </a:p>
        </p:txBody>
      </p:sp>
      <p:sp>
        <p:nvSpPr>
          <p:cNvPr id="5" name="text-154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Neu gezeichnet nach Wilkening/Schmayl (1984), Folie aus dem Seminarmaterial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5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Das Methodensystem</a:t>
            </a:r>
            <a:endParaRPr lang="en-US" sz="2800" dirty="0"/>
          </a:p>
        </p:txBody>
      </p:sp>
      <p:sp>
        <p:nvSpPr>
          <p:cNvPr id="3" name="tile-156"/>
          <p:cNvSpPr txBox="1"/>
          <p:nvPr/>
        </p:nvSpPr>
        <p:spPr>
          <a:xfrm>
            <a:off x="548640" y="1600200"/>
            <a:ext cx="3474720" cy="18745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Projektmethode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früher Werkaufgabe; komplexe Vorhaben</a:t>
            </a:r>
            <a:endParaRPr lang="en-US" sz="2200" dirty="0"/>
          </a:p>
        </p:txBody>
      </p:sp>
      <p:sp>
        <p:nvSpPr>
          <p:cNvPr id="4" name="tile-157"/>
          <p:cNvSpPr txBox="1"/>
          <p:nvPr/>
        </p:nvSpPr>
        <p:spPr>
          <a:xfrm>
            <a:off x="4297680" y="1600200"/>
            <a:ext cx="3474720" cy="18745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Erfindendes Konstruieren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eigene Lösung für ein Problem</a:t>
            </a:r>
            <a:endParaRPr lang="en-US" sz="2200" dirty="0"/>
          </a:p>
        </p:txBody>
      </p:sp>
      <p:sp>
        <p:nvSpPr>
          <p:cNvPr id="5" name="tile-158"/>
          <p:cNvSpPr txBox="1"/>
          <p:nvPr/>
        </p:nvSpPr>
        <p:spPr>
          <a:xfrm>
            <a:off x="8046720" y="1600200"/>
            <a:ext cx="3474720" cy="18745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Nachvollziehendes Fertigen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Produkt nach Plan herstellen</a:t>
            </a:r>
            <a:endParaRPr lang="en-US" sz="2200" dirty="0"/>
          </a:p>
        </p:txBody>
      </p:sp>
      <p:sp>
        <p:nvSpPr>
          <p:cNvPr id="6" name="tile-159"/>
          <p:cNvSpPr txBox="1"/>
          <p:nvPr/>
        </p:nvSpPr>
        <p:spPr>
          <a:xfrm>
            <a:off x="548640" y="3703320"/>
            <a:ext cx="3474720" cy="18745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Lehrgangsmäßiges Instruieren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Verfahren schrittweise vermitteln</a:t>
            </a:r>
            <a:endParaRPr lang="en-US" sz="2200" dirty="0"/>
          </a:p>
        </p:txBody>
      </p:sp>
      <p:sp>
        <p:nvSpPr>
          <p:cNvPr id="7" name="tile-160"/>
          <p:cNvSpPr txBox="1"/>
          <p:nvPr/>
        </p:nvSpPr>
        <p:spPr>
          <a:xfrm>
            <a:off x="4297680" y="3703320"/>
            <a:ext cx="3474720" cy="18745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Forschendes Experimentieren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Zusammenhänge im Versuch untersuchen</a:t>
            </a:r>
            <a:endParaRPr lang="en-US" sz="2200" dirty="0"/>
          </a:p>
        </p:txBody>
      </p:sp>
      <p:sp>
        <p:nvSpPr>
          <p:cNvPr id="8" name="tile-161"/>
          <p:cNvSpPr txBox="1"/>
          <p:nvPr/>
        </p:nvSpPr>
        <p:spPr>
          <a:xfrm>
            <a:off x="8046720" y="3703320"/>
            <a:ext cx="3474720" cy="18745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Analysieren der Realtechnik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vorhandene Technik untersuchen, zerlegen</a:t>
            </a:r>
            <a:endParaRPr lang="en-US" sz="2200" dirty="0"/>
          </a:p>
        </p:txBody>
      </p:sp>
      <p:sp>
        <p:nvSpPr>
          <p:cNvPr id="9" name="text-162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Bienhaus (2008), S. 5; Kurzbeschreibungen: eigene Formulierung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63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These</a:t>
            </a:r>
            <a:endParaRPr lang="en-US" sz="2800" dirty="0"/>
          </a:p>
        </p:txBody>
      </p:sp>
      <p:sp>
        <p:nvSpPr>
          <p:cNvPr id="3" name="box-164"/>
          <p:cNvSpPr txBox="1"/>
          <p:nvPr/>
        </p:nvSpPr>
        <p:spPr>
          <a:xfrm>
            <a:off x="548640" y="2057400"/>
            <a:ext cx="11094415" cy="23774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5591"/>
                </a:solidFill>
              </a:rPr>
              <a:t>„Die Projektmethode reicht aus, um guten Technikunterricht zu machen.“</a:t>
            </a:r>
            <a:endParaRPr lang="en-US" sz="3600" dirty="0"/>
          </a:p>
        </p:txBody>
      </p:sp>
      <p:sp>
        <p:nvSpPr>
          <p:cNvPr id="4" name="text-165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6687A"/>
                </a:solidFill>
              </a:rPr>
              <a:t>Stimmst du zu? Vor- und Nachteile der Projektmethode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66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 Education – eine neue Methode?</a:t>
            </a:r>
            <a:endParaRPr lang="en-US" sz="2800" dirty="0"/>
          </a:p>
        </p:txBody>
      </p:sp>
      <p:sp>
        <p:nvSpPr>
          <p:cNvPr id="3" name="quote-167"/>
          <p:cNvSpPr txBox="1"/>
          <p:nvPr/>
        </p:nvSpPr>
        <p:spPr>
          <a:xfrm>
            <a:off x="548640" y="1600200"/>
            <a:ext cx="11094415" cy="14630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„Alles, was Schule anfasst, wird zu Schule.“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Deinet (2002), zit. n. Ingold &amp; Maurer (2019): Making in der Schule. In: Chance MakerSpace, S. 60</a:t>
            </a:r>
            <a:endParaRPr lang="en-US" sz="2400" dirty="0"/>
          </a:p>
        </p:txBody>
      </p:sp>
      <p:sp>
        <p:nvSpPr>
          <p:cNvPr id="4" name="tile-168"/>
          <p:cNvSpPr txBox="1"/>
          <p:nvPr/>
        </p:nvSpPr>
        <p:spPr>
          <a:xfrm>
            <a:off x="548640" y="3337560"/>
            <a:ext cx="5440680" cy="228600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Schnittmengen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Projektunterricht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handlungsorientiertes Lernen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Reformpädagogik: Pestalozzi, Montessori, Kerschensteiner, Dewey</a:t>
            </a:r>
            <a:endParaRPr lang="en-US" sz="2200" dirty="0"/>
          </a:p>
        </p:txBody>
      </p:sp>
      <p:sp>
        <p:nvSpPr>
          <p:cNvPr id="5" name="tile-169"/>
          <p:cNvSpPr txBox="1"/>
          <p:nvPr/>
        </p:nvSpPr>
        <p:spPr>
          <a:xfrm>
            <a:off x="6199632" y="3337560"/>
            <a:ext cx="5440680" cy="228600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Reibungspunkte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Fehlerkultur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Bewertung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Taktung</a:t>
            </a:r>
            <a:endParaRPr lang="en-US" sz="22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900" dirty="0">
                <a:solidFill>
                  <a:srgbClr val="14232F"/>
                </a:solidFill>
              </a:rPr>
              <a:t>Raum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7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Ansätze der Technikdidaktik</a:t>
            </a:r>
            <a:endParaRPr lang="en-US" sz="2800" dirty="0"/>
          </a:p>
        </p:txBody>
      </p:sp>
      <p:sp>
        <p:nvSpPr>
          <p:cNvPr id="3" name="box-171"/>
          <p:cNvSpPr txBox="1"/>
          <p:nvPr/>
        </p:nvSpPr>
        <p:spPr>
          <a:xfrm>
            <a:off x="4267048" y="1554480"/>
            <a:ext cx="3657600" cy="548640"/>
          </a:xfrm>
          <a:prstGeom prst="rect">
            <a:avLst/>
          </a:prstGeom>
          <a:solidFill>
            <a:srgbClr val="EEF3F7"/>
          </a:solidFill>
          <a:ln w="1905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Werkunterricht</a:t>
            </a:r>
            <a:endParaRPr lang="en-US" sz="1800" dirty="0"/>
          </a:p>
        </p:txBody>
      </p:sp>
      <p:sp>
        <p:nvSpPr>
          <p:cNvPr id="4" name="arrow-172"/>
          <p:cNvSpPr/>
          <p:nvPr/>
        </p:nvSpPr>
        <p:spPr>
          <a:xfrm>
            <a:off x="6095848" y="2121408"/>
            <a:ext cx="914" cy="2377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5" name="box-173"/>
          <p:cNvSpPr txBox="1"/>
          <p:nvPr/>
        </p:nvSpPr>
        <p:spPr>
          <a:xfrm>
            <a:off x="4267048" y="2377440"/>
            <a:ext cx="3657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35591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Technisches Werken</a:t>
            </a:r>
            <a:endParaRPr lang="en-US" sz="1800" dirty="0"/>
          </a:p>
        </p:txBody>
      </p:sp>
      <p:sp>
        <p:nvSpPr>
          <p:cNvPr id="6" name="arrow-174"/>
          <p:cNvSpPr/>
          <p:nvPr/>
        </p:nvSpPr>
        <p:spPr>
          <a:xfrm>
            <a:off x="6095848" y="2898648"/>
            <a:ext cx="914" cy="237744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7" name="box-175"/>
          <p:cNvSpPr txBox="1"/>
          <p:nvPr/>
        </p:nvSpPr>
        <p:spPr>
          <a:xfrm>
            <a:off x="4267048" y="3154680"/>
            <a:ext cx="3657600" cy="54864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Technikunterricht</a:t>
            </a:r>
            <a:endParaRPr lang="en-US" sz="2000" dirty="0"/>
          </a:p>
        </p:txBody>
      </p:sp>
      <p:sp>
        <p:nvSpPr>
          <p:cNvPr id="8" name="text-176"/>
          <p:cNvSpPr txBox="1"/>
          <p:nvPr/>
        </p:nvSpPr>
        <p:spPr>
          <a:xfrm>
            <a:off x="54864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polytechnischer Unterricht in sozialistischen Ländern →</a:t>
            </a:r>
            <a:endParaRPr lang="en-US" sz="1400" dirty="0"/>
          </a:p>
        </p:txBody>
      </p:sp>
      <p:sp>
        <p:nvSpPr>
          <p:cNvPr id="9" name="text-177"/>
          <p:cNvSpPr txBox="1"/>
          <p:nvPr/>
        </p:nvSpPr>
        <p:spPr>
          <a:xfrm>
            <a:off x="8351215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← Hinführung zur Arbeits- und Wirtschaftswelt (Arbeitslehre)</a:t>
            </a:r>
            <a:endParaRPr lang="en-US" sz="1400" dirty="0"/>
          </a:p>
        </p:txBody>
      </p:sp>
      <p:sp>
        <p:nvSpPr>
          <p:cNvPr id="10" name="arrow-178"/>
          <p:cNvSpPr/>
          <p:nvPr/>
        </p:nvSpPr>
        <p:spPr>
          <a:xfrm flipH="1">
            <a:off x="2286000" y="3721608"/>
            <a:ext cx="3809848" cy="393192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1" name="box-179"/>
          <p:cNvSpPr txBox="1"/>
          <p:nvPr/>
        </p:nvSpPr>
        <p:spPr>
          <a:xfrm>
            <a:off x="548640" y="4142232"/>
            <a:ext cx="3474720" cy="685800"/>
          </a:xfrm>
          <a:prstGeom prst="rect">
            <a:avLst/>
          </a:prstGeom>
          <a:solidFill>
            <a:srgbClr val="DDE9F1"/>
          </a:solidFill>
          <a:ln w="25400">
            <a:solidFill>
              <a:srgbClr val="3B6E8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fachspezifisches Modell</a:t>
            </a:r>
            <a:endParaRPr lang="en-US" sz="1800" dirty="0"/>
          </a:p>
        </p:txBody>
      </p:sp>
      <p:sp>
        <p:nvSpPr>
          <p:cNvPr id="12" name="arrow-180"/>
          <p:cNvSpPr/>
          <p:nvPr/>
        </p:nvSpPr>
        <p:spPr>
          <a:xfrm>
            <a:off x="2286000" y="4846320"/>
            <a:ext cx="914" cy="274320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3" name="box-181"/>
          <p:cNvSpPr txBox="1"/>
          <p:nvPr/>
        </p:nvSpPr>
        <p:spPr>
          <a:xfrm>
            <a:off x="548640" y="5148072"/>
            <a:ext cx="347472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3B6E8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allgemeintechnologischer Ansatz (AtA)</a:t>
            </a:r>
            <a:endParaRPr lang="en-US" sz="1800" dirty="0"/>
          </a:p>
        </p:txBody>
      </p:sp>
      <p:sp>
        <p:nvSpPr>
          <p:cNvPr id="14" name="arrow-182"/>
          <p:cNvSpPr/>
          <p:nvPr/>
        </p:nvSpPr>
        <p:spPr>
          <a:xfrm flipH="1">
            <a:off x="6035040" y="3721608"/>
            <a:ext cx="60808" cy="393192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5" name="box-183"/>
          <p:cNvSpPr txBox="1"/>
          <p:nvPr/>
        </p:nvSpPr>
        <p:spPr>
          <a:xfrm>
            <a:off x="4297680" y="4142232"/>
            <a:ext cx="3474720" cy="685800"/>
          </a:xfrm>
          <a:prstGeom prst="rect">
            <a:avLst/>
          </a:prstGeom>
          <a:solidFill>
            <a:srgbClr val="FFF3C9"/>
          </a:solidFill>
          <a:ln w="25400">
            <a:solidFill>
              <a:srgbClr val="B58A0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mehrperspektivisches Modell</a:t>
            </a:r>
            <a:endParaRPr lang="en-US" sz="1800" dirty="0"/>
          </a:p>
        </p:txBody>
      </p:sp>
      <p:sp>
        <p:nvSpPr>
          <p:cNvPr id="16" name="arrow-184"/>
          <p:cNvSpPr/>
          <p:nvPr/>
        </p:nvSpPr>
        <p:spPr>
          <a:xfrm>
            <a:off x="6035040" y="4846320"/>
            <a:ext cx="914" cy="274320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7" name="box-185"/>
          <p:cNvSpPr txBox="1"/>
          <p:nvPr/>
        </p:nvSpPr>
        <p:spPr>
          <a:xfrm>
            <a:off x="4297680" y="5148072"/>
            <a:ext cx="347472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B58A00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mehrperspektivischer Ansatz (MpA)</a:t>
            </a:r>
            <a:endParaRPr lang="en-US" sz="1800" dirty="0"/>
          </a:p>
        </p:txBody>
      </p:sp>
      <p:sp>
        <p:nvSpPr>
          <p:cNvPr id="18" name="arrow-186"/>
          <p:cNvSpPr/>
          <p:nvPr/>
        </p:nvSpPr>
        <p:spPr>
          <a:xfrm>
            <a:off x="6095848" y="3721608"/>
            <a:ext cx="3688232" cy="393192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19" name="box-187"/>
          <p:cNvSpPr txBox="1"/>
          <p:nvPr/>
        </p:nvSpPr>
        <p:spPr>
          <a:xfrm>
            <a:off x="8046720" y="4142232"/>
            <a:ext cx="3474720" cy="685800"/>
          </a:xfrm>
          <a:prstGeom prst="rect">
            <a:avLst/>
          </a:prstGeom>
          <a:solidFill>
            <a:srgbClr val="FBE3EC"/>
          </a:solidFill>
          <a:ln w="25400">
            <a:solidFill>
              <a:srgbClr val="C2255C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gesellschaftsorientiertes Modell</a:t>
            </a:r>
            <a:endParaRPr lang="en-US" sz="1800" dirty="0"/>
          </a:p>
        </p:txBody>
      </p:sp>
      <p:sp>
        <p:nvSpPr>
          <p:cNvPr id="20" name="arrow-188"/>
          <p:cNvSpPr/>
          <p:nvPr/>
        </p:nvSpPr>
        <p:spPr>
          <a:xfrm>
            <a:off x="9784080" y="4846320"/>
            <a:ext cx="914" cy="274320"/>
          </a:xfrm>
          <a:prstGeom prst="line">
            <a:avLst/>
          </a:prstGeom>
          <a:noFill/>
          <a:ln w="25400">
            <a:solidFill>
              <a:srgbClr val="56687A"/>
            </a:solidFill>
            <a:prstDash val="solid"/>
            <a:tailEnd type="triangle"/>
          </a:ln>
        </p:spPr>
      </p:sp>
      <p:sp>
        <p:nvSpPr>
          <p:cNvPr id="21" name="box-189"/>
          <p:cNvSpPr txBox="1"/>
          <p:nvPr/>
        </p:nvSpPr>
        <p:spPr>
          <a:xfrm>
            <a:off x="8046720" y="5148072"/>
            <a:ext cx="3474720" cy="777240"/>
          </a:xfrm>
          <a:prstGeom prst="rect">
            <a:avLst/>
          </a:prstGeom>
          <a:solidFill>
            <a:srgbClr val="FFFFFF"/>
          </a:solidFill>
          <a:ln w="31750">
            <a:solidFill>
              <a:srgbClr val="C2255C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arbeitsorientierter Ansatz (AoA)</a:t>
            </a:r>
            <a:endParaRPr lang="en-US" sz="1800" dirty="0"/>
          </a:p>
        </p:txBody>
      </p:sp>
      <p:sp>
        <p:nvSpPr>
          <p:cNvPr id="22" name="text-190"/>
          <p:cNvSpPr txBox="1"/>
          <p:nvPr/>
        </p:nvSpPr>
        <p:spPr>
          <a:xfrm>
            <a:off x="548640" y="60807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Neu gezeichnet nach der Abbildung aus Schmayl/Wilkening (1995), Seminarmaterial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AtA · MpA · AoA</a:t>
            </a:r>
            <a:endParaRPr lang="en-US" sz="2800" dirty="0"/>
          </a:p>
        </p:txBody>
      </p:sp>
      <p:graphicFrame>
        <p:nvGraphicFramePr>
          <p:cNvPr id="11" name="table-1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18104"/>
                <a:gridCol w="3118104"/>
                <a:gridCol w="31181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AtA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MpA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AoA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Leitidee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Technikwissenschaften, Systemtheorie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Technik als Kulturphänomen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Leitbegriff Arbeit (Arbeitslehre)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Struktur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Wandeln, Speichern, Übertragen × Stoff, Energie, Information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drei Erkenntnisperspektiven, Handlungsfelder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Verbünde wie AWT oder WAT; Berufsorientierung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4232F"/>
                          </a:solidFill>
                        </a:rPr>
                        <a:t>Kritik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humane und gesellschaftliche Bezüge fehlen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Binnenstruktur der Felder offen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Gegenstand „Arbeit“ unklar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x-193"/>
          <p:cNvSpPr txBox="1"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F"/>
                </a:solidFill>
              </a:rPr>
              <a:t>Und das KC AWT IGS? „technische Strukturelemente Stoff, Energie, Information“ (S. 11)</a:t>
            </a:r>
            <a:endParaRPr lang="en-US" sz="1900" dirty="0"/>
          </a:p>
        </p:txBody>
      </p:sp>
      <p:sp>
        <p:nvSpPr>
          <p:cNvPr id="5" name="text-194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Binder (2014), Kap. 4.2–4.4, S. 20 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19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Das Interaktionsmodell nach Hüttner</a:t>
            </a:r>
            <a:endParaRPr lang="en-US" sz="2800" dirty="0"/>
          </a:p>
        </p:txBody>
      </p:sp>
      <p:sp>
        <p:nvSpPr>
          <p:cNvPr id="3" name="box-196"/>
          <p:cNvSpPr txBox="1"/>
          <p:nvPr/>
        </p:nvSpPr>
        <p:spPr>
          <a:xfrm>
            <a:off x="548640" y="1600200"/>
            <a:ext cx="2926080" cy="896112"/>
          </a:xfrm>
          <a:prstGeom prst="rect">
            <a:avLst/>
          </a:prstGeom>
          <a:solidFill>
            <a:srgbClr val="023A63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Theorieebene</a:t>
            </a:r>
            <a:endParaRPr lang="en-US" sz="2100" dirty="0"/>
          </a:p>
        </p:txBody>
      </p:sp>
      <p:sp>
        <p:nvSpPr>
          <p:cNvPr id="4" name="box-197"/>
          <p:cNvSpPr txBox="1"/>
          <p:nvPr/>
        </p:nvSpPr>
        <p:spPr>
          <a:xfrm>
            <a:off x="3566160" y="1600200"/>
            <a:ext cx="8074152" cy="89611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Forschungsmethoden · Rahmenziel · Bildungsschwerpunkte · Leitlinien · Quellen</a:t>
            </a:r>
            <a:endParaRPr lang="en-US" sz="1800" dirty="0"/>
          </a:p>
        </p:txBody>
      </p:sp>
      <p:sp>
        <p:nvSpPr>
          <p:cNvPr id="5" name="box-198"/>
          <p:cNvSpPr txBox="1"/>
          <p:nvPr/>
        </p:nvSpPr>
        <p:spPr>
          <a:xfrm>
            <a:off x="548640" y="2624328"/>
            <a:ext cx="2926080" cy="896112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Analyseebene</a:t>
            </a:r>
            <a:endParaRPr lang="en-US" sz="2100" dirty="0"/>
          </a:p>
        </p:txBody>
      </p:sp>
      <p:sp>
        <p:nvSpPr>
          <p:cNvPr id="6" name="box-199"/>
          <p:cNvSpPr txBox="1"/>
          <p:nvPr/>
        </p:nvSpPr>
        <p:spPr>
          <a:xfrm>
            <a:off x="3566160" y="2624328"/>
            <a:ext cx="8074152" cy="89611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Bildungsinhalte auswählen · Bildungsgehalt bestimmen · anthropogene Voraussetzungen</a:t>
            </a:r>
            <a:endParaRPr lang="en-US" sz="1800" dirty="0"/>
          </a:p>
        </p:txBody>
      </p:sp>
      <p:sp>
        <p:nvSpPr>
          <p:cNvPr id="7" name="box-200"/>
          <p:cNvSpPr txBox="1"/>
          <p:nvPr/>
        </p:nvSpPr>
        <p:spPr>
          <a:xfrm>
            <a:off x="548640" y="3648456"/>
            <a:ext cx="2926080" cy="896112"/>
          </a:xfrm>
          <a:prstGeom prst="rect">
            <a:avLst/>
          </a:prstGeom>
          <a:solidFill>
            <a:srgbClr val="2F74AB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Planungsebene</a:t>
            </a:r>
            <a:endParaRPr lang="en-US" sz="2100" dirty="0"/>
          </a:p>
        </p:txBody>
      </p:sp>
      <p:sp>
        <p:nvSpPr>
          <p:cNvPr id="8" name="box-201"/>
          <p:cNvSpPr txBox="1"/>
          <p:nvPr/>
        </p:nvSpPr>
        <p:spPr>
          <a:xfrm>
            <a:off x="3566160" y="3648456"/>
            <a:ext cx="8074152" cy="89611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Unterrichtsplanung erörtern · Handlungsorientierungen erarbeiten</a:t>
            </a:r>
            <a:endParaRPr lang="en-US" sz="1800" dirty="0"/>
          </a:p>
        </p:txBody>
      </p:sp>
      <p:sp>
        <p:nvSpPr>
          <p:cNvPr id="9" name="box-202"/>
          <p:cNvSpPr txBox="1"/>
          <p:nvPr/>
        </p:nvSpPr>
        <p:spPr>
          <a:xfrm>
            <a:off x="548640" y="4672584"/>
            <a:ext cx="2926080" cy="896112"/>
          </a:xfrm>
          <a:prstGeom prst="rect">
            <a:avLst/>
          </a:prstGeom>
          <a:solidFill>
            <a:srgbClr val="4E86B8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Interaktionsebene</a:t>
            </a:r>
            <a:endParaRPr lang="en-US" sz="2100" dirty="0"/>
          </a:p>
        </p:txBody>
      </p:sp>
      <p:sp>
        <p:nvSpPr>
          <p:cNvPr id="10" name="box-203"/>
          <p:cNvSpPr txBox="1"/>
          <p:nvPr/>
        </p:nvSpPr>
        <p:spPr>
          <a:xfrm>
            <a:off x="3566160" y="4672584"/>
            <a:ext cx="8074152" cy="896112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32F"/>
                </a:solidFill>
              </a:rPr>
              <a:t>Lehr- und Lernhandlungen · Lernorganisation · Lernkontrolle</a:t>
            </a:r>
            <a:endParaRPr lang="en-US" sz="1800" dirty="0"/>
          </a:p>
        </p:txBody>
      </p:sp>
      <p:sp>
        <p:nvSpPr>
          <p:cNvPr id="11" name="text-204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Hüttner, Kap. 2.5 (Auszug im Seminarmaterial). Die Theorieebene durchdringt alle Ebenen, Rückkopplung bereichert sie.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0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Zum Vergleich: das Berliner Modell</a:t>
            </a:r>
            <a:endParaRPr lang="en-US" sz="2800" dirty="0"/>
          </a:p>
        </p:txBody>
      </p:sp>
      <p:sp>
        <p:nvSpPr>
          <p:cNvPr id="3" name="step-206"/>
          <p:cNvSpPr txBox="1"/>
          <p:nvPr/>
        </p:nvSpPr>
        <p:spPr>
          <a:xfrm>
            <a:off x="548640" y="1965960"/>
            <a:ext cx="3423818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Bedingungsfelder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anthropogene und soziokulturelle Voraussetzungen</a:t>
            </a:r>
            <a:endParaRPr lang="en-US" sz="2200" dirty="0"/>
          </a:p>
        </p:txBody>
      </p:sp>
      <p:sp>
        <p:nvSpPr>
          <p:cNvPr id="4" name="arrow-207"/>
          <p:cNvSpPr/>
          <p:nvPr/>
        </p:nvSpPr>
        <p:spPr>
          <a:xfrm>
            <a:off x="4027322" y="29718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step-208"/>
          <p:cNvSpPr txBox="1"/>
          <p:nvPr/>
        </p:nvSpPr>
        <p:spPr>
          <a:xfrm>
            <a:off x="4383938" y="1965960"/>
            <a:ext cx="3423818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Entscheidungsfelder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Ziele · Inhalt · Methode · Medien – wechselseitig abhängig</a:t>
            </a:r>
            <a:endParaRPr lang="en-US" sz="2200" dirty="0"/>
          </a:p>
        </p:txBody>
      </p:sp>
      <p:sp>
        <p:nvSpPr>
          <p:cNvPr id="6" name="arrow-209"/>
          <p:cNvSpPr/>
          <p:nvPr/>
        </p:nvSpPr>
        <p:spPr>
          <a:xfrm>
            <a:off x="7862621" y="297180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210"/>
          <p:cNvSpPr txBox="1"/>
          <p:nvPr/>
        </p:nvSpPr>
        <p:spPr>
          <a:xfrm>
            <a:off x="8219237" y="1965960"/>
            <a:ext cx="3423818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Folgen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anthropogene und soziokulturelle Folgen</a:t>
            </a:r>
            <a:endParaRPr lang="en-US" sz="2200" dirty="0"/>
          </a:p>
        </p:txBody>
      </p:sp>
      <p:sp>
        <p:nvSpPr>
          <p:cNvPr id="8" name="box-211"/>
          <p:cNvSpPr txBox="1"/>
          <p:nvPr/>
        </p:nvSpPr>
        <p:spPr>
          <a:xfrm>
            <a:off x="548640" y="4297680"/>
            <a:ext cx="11094415" cy="73152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32F"/>
                </a:solidFill>
              </a:rPr>
              <a:t>Welche Felder findest du im Interaktionsmodell wieder?</a:t>
            </a:r>
            <a:endParaRPr lang="en-US" sz="2200" dirty="0"/>
          </a:p>
        </p:txBody>
      </p:sp>
      <p:sp>
        <p:nvSpPr>
          <p:cNvPr id="9" name="text-212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Heimann, Otto &amp; Schulz; nach Mackeprang (2004): Einführung in die Technikdidaktik, Modul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13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Didaktische Reduktion</a:t>
            </a:r>
            <a:endParaRPr lang="en-US" sz="2800" dirty="0"/>
          </a:p>
        </p:txBody>
      </p:sp>
      <p:sp>
        <p:nvSpPr>
          <p:cNvPr id="3" name="raum-214"/>
          <p:cNvSpPr/>
          <p:nvPr/>
        </p:nvSpPr>
        <p:spPr>
          <a:xfrm>
            <a:off x="1371600" y="2057400"/>
            <a:ext cx="4754880" cy="3291840"/>
          </a:xfrm>
          <a:prstGeom prst="rect">
            <a:avLst/>
          </a:prstGeom>
          <a:solidFill>
            <a:srgbClr val="EEF3F7"/>
          </a:solidFill>
          <a:ln w="12700">
            <a:solidFill>
              <a:srgbClr val="C9D4DE"/>
            </a:solidFill>
            <a:prstDash val="solid"/>
          </a:ln>
        </p:spPr>
      </p:sp>
      <p:sp>
        <p:nvSpPr>
          <p:cNvPr id="4" name="arrow-215"/>
          <p:cNvSpPr/>
          <p:nvPr/>
        </p:nvSpPr>
        <p:spPr>
          <a:xfrm>
            <a:off x="1554480" y="2240280"/>
            <a:ext cx="4297680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arrow-216"/>
          <p:cNvSpPr/>
          <p:nvPr/>
        </p:nvSpPr>
        <p:spPr>
          <a:xfrm>
            <a:off x="1554480" y="2240280"/>
            <a:ext cx="914" cy="2926080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6" name="text-217"/>
          <p:cNvSpPr txBox="1"/>
          <p:nvPr/>
        </p:nvSpPr>
        <p:spPr>
          <a:xfrm>
            <a:off x="137160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abstrakt</a:t>
            </a:r>
            <a:endParaRPr lang="en-US" sz="1400" dirty="0"/>
          </a:p>
        </p:txBody>
      </p:sp>
      <p:sp>
        <p:nvSpPr>
          <p:cNvPr id="7" name="text-218"/>
          <p:cNvSpPr txBox="1"/>
          <p:nvPr/>
        </p:nvSpPr>
        <p:spPr>
          <a:xfrm>
            <a:off x="466344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anschaulich</a:t>
            </a:r>
            <a:endParaRPr lang="en-US" sz="1400" dirty="0"/>
          </a:p>
        </p:txBody>
      </p:sp>
      <p:sp>
        <p:nvSpPr>
          <p:cNvPr id="8" name="text-219"/>
          <p:cNvSpPr txBox="1"/>
          <p:nvPr/>
        </p:nvSpPr>
        <p:spPr>
          <a:xfrm>
            <a:off x="54864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schwer</a:t>
            </a:r>
            <a:endParaRPr lang="en-US" sz="1400" dirty="0"/>
          </a:p>
        </p:txBody>
      </p:sp>
      <p:sp>
        <p:nvSpPr>
          <p:cNvPr id="9" name="text-220"/>
          <p:cNvSpPr txBox="1"/>
          <p:nvPr/>
        </p:nvSpPr>
        <p:spPr>
          <a:xfrm>
            <a:off x="548640" y="4983480"/>
            <a:ext cx="8229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einfach</a:t>
            </a:r>
            <a:endParaRPr lang="en-US" sz="1400" dirty="0"/>
          </a:p>
        </p:txBody>
      </p:sp>
      <p:sp>
        <p:nvSpPr>
          <p:cNvPr id="10" name="text-221"/>
          <p:cNvSpPr txBox="1"/>
          <p:nvPr/>
        </p:nvSpPr>
        <p:spPr>
          <a:xfrm>
            <a:off x="2834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32F"/>
                </a:solidFill>
              </a:rPr>
              <a:t>horizontal</a:t>
            </a:r>
            <a:endParaRPr lang="en-US" sz="1600" dirty="0"/>
          </a:p>
        </p:txBody>
      </p:sp>
      <p:sp>
        <p:nvSpPr>
          <p:cNvPr id="11" name="text-222"/>
          <p:cNvSpPr txBox="1"/>
          <p:nvPr/>
        </p:nvSpPr>
        <p:spPr>
          <a:xfrm>
            <a:off x="169164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232F"/>
                </a:solidFill>
              </a:rPr>
              <a:t>vertikal</a:t>
            </a:r>
            <a:endParaRPr lang="en-US" sz="1600" dirty="0"/>
          </a:p>
        </p:txBody>
      </p:sp>
      <p:sp>
        <p:nvSpPr>
          <p:cNvPr id="12" name="ziel-223"/>
          <p:cNvSpPr/>
          <p:nvPr/>
        </p:nvSpPr>
        <p:spPr>
          <a:xfrm>
            <a:off x="4572000" y="4251960"/>
            <a:ext cx="365760" cy="365760"/>
          </a:xfrm>
          <a:prstGeom prst="ellipse">
            <a:avLst/>
          </a:prstGeom>
          <a:solidFill>
            <a:srgbClr val="17803F"/>
          </a:solidFill>
          <a:ln/>
        </p:spPr>
      </p:sp>
      <p:sp>
        <p:nvSpPr>
          <p:cNvPr id="13" name="text-224"/>
          <p:cNvSpPr txBox="1"/>
          <p:nvPr/>
        </p:nvSpPr>
        <p:spPr>
          <a:xfrm>
            <a:off x="4983480" y="4233672"/>
            <a:ext cx="10972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803F"/>
                </a:solidFill>
              </a:rPr>
              <a:t>Ziel</a:t>
            </a:r>
            <a:endParaRPr lang="en-US" sz="1600" dirty="0"/>
          </a:p>
        </p:txBody>
      </p:sp>
      <p:sp>
        <p:nvSpPr>
          <p:cNvPr id="14" name="tile-225"/>
          <p:cNvSpPr txBox="1"/>
          <p:nvPr/>
        </p:nvSpPr>
        <p:spPr>
          <a:xfrm>
            <a:off x="6675120" y="2057400"/>
            <a:ext cx="4965192" cy="160020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Vertikal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14232F"/>
                </a:solidFill>
              </a:rPr>
              <a:t>geringerer Gültigkeitsumfang, leichter fasslich – ein Ausschnitt</a:t>
            </a:r>
            <a:endParaRPr lang="en-US" sz="2200" dirty="0"/>
          </a:p>
        </p:txBody>
      </p:sp>
      <p:sp>
        <p:nvSpPr>
          <p:cNvPr id="15" name="tile-226"/>
          <p:cNvSpPr txBox="1"/>
          <p:nvPr/>
        </p:nvSpPr>
        <p:spPr>
          <a:xfrm>
            <a:off x="6675120" y="3794760"/>
            <a:ext cx="4965192" cy="160020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Horizontal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800" dirty="0">
                <a:solidFill>
                  <a:srgbClr val="14232F"/>
                </a:solidFill>
              </a:rPr>
              <a:t>gleicher Gültigkeitsumfang, konkreter: Worte statt Symbole, Skizzen, Beispiele, Analogien</a:t>
            </a:r>
            <a:endParaRPr lang="en-US" sz="2200" dirty="0"/>
          </a:p>
        </p:txBody>
      </p:sp>
      <p:sp>
        <p:nvSpPr>
          <p:cNvPr id="16" name="text-227"/>
          <p:cNvSpPr txBox="1"/>
          <p:nvPr/>
        </p:nvSpPr>
        <p:spPr>
          <a:xfrm>
            <a:off x="548640" y="5440680"/>
            <a:ext cx="11094415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Vereinfachen, ohne zu verfälschen.</a:t>
            </a:r>
            <a:endParaRPr lang="en-US" sz="2200" dirty="0"/>
          </a:p>
        </p:txBody>
      </p:sp>
      <p:sp>
        <p:nvSpPr>
          <p:cNvPr id="17" name="text-228"/>
          <p:cNvSpPr txBox="1"/>
          <p:nvPr/>
        </p:nvSpPr>
        <p:spPr>
          <a:xfrm>
            <a:off x="548640" y="59436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Nach Walker (2009): Automatisierungstechnik im Technikunterricht, DGTB-Vortrag, mit Bezug auf Hering und Grüner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2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Bis Termin 3: Aufgabenpaket 2</a:t>
            </a:r>
            <a:endParaRPr lang="en-US" sz="2800" dirty="0"/>
          </a:p>
        </p:txBody>
      </p:sp>
      <p:sp>
        <p:nvSpPr>
          <p:cNvPr id="3" name="tile-230"/>
          <p:cNvSpPr txBox="1"/>
          <p:nvPr/>
        </p:nvSpPr>
        <p:spPr>
          <a:xfrm>
            <a:off x="548640" y="1600200"/>
            <a:ext cx="3474720" cy="21031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Teil A · mpTu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Begriffe klären, Perspektiven zuordnen, KC analysieren</a:t>
            </a:r>
            <a:endParaRPr lang="en-US" sz="2200" dirty="0"/>
          </a:p>
        </p:txBody>
      </p:sp>
      <p:sp>
        <p:nvSpPr>
          <p:cNvPr id="4" name="tile-231"/>
          <p:cNvSpPr txBox="1"/>
          <p:nvPr/>
        </p:nvSpPr>
        <p:spPr>
          <a:xfrm>
            <a:off x="4297680" y="1600200"/>
            <a:ext cx="3474720" cy="210312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Teil B · Methoden &amp; Modelle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Methoden zuordnen, Projektmethode, Ansätze, Interaktionsmodell</a:t>
            </a:r>
            <a:endParaRPr lang="en-US" sz="2200" dirty="0"/>
          </a:p>
        </p:txBody>
      </p:sp>
      <p:sp>
        <p:nvSpPr>
          <p:cNvPr id="5" name="tile-232"/>
          <p:cNvSpPr txBox="1"/>
          <p:nvPr/>
        </p:nvSpPr>
        <p:spPr>
          <a:xfrm>
            <a:off x="8046720" y="1600200"/>
            <a:ext cx="3474720" cy="21031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Teil C · Vorbereitung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Thesen für das Gespräch, Referatsthema wählen, Referat planen</a:t>
            </a:r>
            <a:endParaRPr lang="en-US" sz="2200" dirty="0"/>
          </a:p>
        </p:txBody>
      </p:sp>
      <p:sp>
        <p:nvSpPr>
          <p:cNvPr id="6" name="link-233"/>
          <p:cNvSpPr txBox="1"/>
          <p:nvPr/>
        </p:nvSpPr>
        <p:spPr>
          <a:xfrm>
            <a:off x="548640" y="406908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sp>
        <p:nvSpPr>
          <p:cNvPr id="7" name="text-234"/>
          <p:cNvSpPr txBox="1"/>
          <p:nvPr/>
        </p:nvSpPr>
        <p:spPr>
          <a:xfrm>
            <a:off x="548640" y="4800600"/>
            <a:ext cx="713232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Vor Termin 3: Export „Nur Aufgabenpaket 2“ schicken</a:t>
            </a:r>
            <a:endParaRPr lang="en-US" sz="2000" dirty="0"/>
          </a:p>
        </p:txBody>
      </p:sp>
      <p:pic>
        <p:nvPicPr>
          <p:cNvPr id="8" name="qr-235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94760"/>
            <a:ext cx="20116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2: Mehrperspektivisch, Methoden und Modelle</dc:title>
  <dc:subject>Universität Hildesheim, WiSe 2026/27</dc:subject>
  <dc:creator>Daniel Beyrodt</dc:creator>
  <cp:lastModifiedBy>Daniel Beyrodt</cp:lastModifiedBy>
  <cp:revision>1</cp:revision>
  <dcterms:created xsi:type="dcterms:W3CDTF">2026-10-28T06:12:14Z</dcterms:created>
  <dcterms:modified xsi:type="dcterms:W3CDTF">2026-10-28T06:12:14Z</dcterms:modified>
</cp:coreProperties>
</file>