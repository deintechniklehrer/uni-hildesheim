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Ablauf: drei Termine mit Input und Gespräch, dazwischen Aufgabenpakete auf der Lernplattform.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fragen, dann auflösen: ein wissenschaftliches Gespräch.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Wege zu den LP: Referat 20 Min. plus Diskussion plus Ausarbeitung über 10 Seiten, oder Vortrag 40 Min. plus Diskussion ohne Ausarbeitung. In beiden Fällen PDF der Präsentation vorher einreichen.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Gesprächseinstieg. Begriffe als Impuls: Was davon ist Technik? Warum?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Arbeitsauftrag für Paket 1 ankündigen: KC und Ropohl vergleichen.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Länderübersicht ist veraltet – das ist Teil der Aufgabe im Paket: aktuellen Stand in Primärquellen prüfen.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und QR-Code zur Lernplattform: https://t1p.de/tdk-26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1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Wj-KTcxjLq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1 · Technik und Technikunterricht</a:t>
            </a:r>
            <a:endParaRPr lang="en-US" sz="2600" dirty="0"/>
          </a:p>
        </p:txBody>
      </p:sp>
      <p:sp>
        <p:nvSpPr>
          <p:cNvPr id="4" name="box-3"/>
          <p:cNvSpPr txBox="1"/>
          <p:nvPr/>
        </p:nvSpPr>
        <p:spPr>
          <a:xfrm>
            <a:off x="548640" y="3611880"/>
            <a:ext cx="1828800" cy="56692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4"/>
          <p:cNvSpPr txBox="1"/>
          <p:nvPr/>
        </p:nvSpPr>
        <p:spPr>
          <a:xfrm>
            <a:off x="2560320" y="3611880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Technikbegriff · Technik im Fächerkanon</a:t>
            </a:r>
            <a:endParaRPr lang="en-US" sz="2200" dirty="0"/>
          </a:p>
        </p:txBody>
      </p:sp>
      <p:sp>
        <p:nvSpPr>
          <p:cNvPr id="6" name="box-5"/>
          <p:cNvSpPr txBox="1"/>
          <p:nvPr/>
        </p:nvSpPr>
        <p:spPr>
          <a:xfrm>
            <a:off x="548640" y="4325112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6"/>
          <p:cNvSpPr txBox="1"/>
          <p:nvPr/>
        </p:nvSpPr>
        <p:spPr>
          <a:xfrm>
            <a:off x="2560320" y="4325112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Mehrperspektivischer Technikunterricht · Methoden und Modelle</a:t>
            </a:r>
            <a:endParaRPr lang="en-US" sz="2200" dirty="0"/>
          </a:p>
        </p:txBody>
      </p:sp>
      <p:sp>
        <p:nvSpPr>
          <p:cNvPr id="8" name="box-7"/>
          <p:cNvSpPr txBox="1"/>
          <p:nvPr/>
        </p:nvSpPr>
        <p:spPr>
          <a:xfrm>
            <a:off x="548640" y="5038344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8"/>
          <p:cNvSpPr txBox="1"/>
          <p:nvPr/>
        </p:nvSpPr>
        <p:spPr>
          <a:xfrm>
            <a:off x="2560320" y="5038344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Aktuelle Entwicklungen · Leistungsbewertung · Impulsreferat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Was ist ein Kolloquium?</a:t>
            </a:r>
            <a:endParaRPr lang="en-US" sz="2800" dirty="0"/>
          </a:p>
        </p:txBody>
      </p:sp>
      <p:sp>
        <p:nvSpPr>
          <p:cNvPr id="3" name="text-10"/>
          <p:cNvSpPr txBox="1"/>
          <p:nvPr/>
        </p:nvSpPr>
        <p:spPr>
          <a:xfrm>
            <a:off x="548640" y="1783080"/>
            <a:ext cx="11094415" cy="2011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C9D4DE"/>
                </a:solidFill>
              </a:rPr>
              <a:t>?</a:t>
            </a:r>
            <a:endParaRPr lang="en-US" sz="12000" dirty="0"/>
          </a:p>
        </p:txBody>
      </p:sp>
      <p:sp>
        <p:nvSpPr>
          <p:cNvPr id="4" name="box-11"/>
          <p:cNvSpPr txBox="1"/>
          <p:nvPr/>
        </p:nvSpPr>
        <p:spPr>
          <a:xfrm>
            <a:off x="2468880" y="4206240"/>
            <a:ext cx="7315200" cy="109728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35591"/>
                </a:solidFill>
              </a:rPr>
              <a:t>ein wissenschaftliches Gespräch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So läuft das Kolloquium</a:t>
            </a:r>
            <a:endParaRPr lang="en-US" sz="2800" dirty="0"/>
          </a:p>
        </p:txBody>
      </p:sp>
      <p:sp>
        <p:nvSpPr>
          <p:cNvPr id="3" name="step-13"/>
          <p:cNvSpPr txBox="1"/>
          <p:nvPr/>
        </p:nvSpPr>
        <p:spPr>
          <a:xfrm>
            <a:off x="548640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Termin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Input und Gespräch</a:t>
            </a:r>
            <a:endParaRPr lang="en-US" sz="2200" dirty="0"/>
          </a:p>
        </p:txBody>
      </p:sp>
      <p:sp>
        <p:nvSpPr>
          <p:cNvPr id="4" name="arrow-14"/>
          <p:cNvSpPr/>
          <p:nvPr/>
        </p:nvSpPr>
        <p:spPr>
          <a:xfrm>
            <a:off x="3068498" y="24003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step-15"/>
          <p:cNvSpPr txBox="1"/>
          <p:nvPr/>
        </p:nvSpPr>
        <p:spPr>
          <a:xfrm>
            <a:off x="3425114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Aufgabenpaket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auf der Lernplattform, bis zum nächsten Termin</a:t>
            </a:r>
            <a:endParaRPr lang="en-US" sz="2200" dirty="0"/>
          </a:p>
        </p:txBody>
      </p:sp>
      <p:sp>
        <p:nvSpPr>
          <p:cNvPr id="6" name="arrow-16"/>
          <p:cNvSpPr/>
          <p:nvPr/>
        </p:nvSpPr>
        <p:spPr>
          <a:xfrm>
            <a:off x="5944972" y="24003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7" name="step-17"/>
          <p:cNvSpPr txBox="1"/>
          <p:nvPr/>
        </p:nvSpPr>
        <p:spPr>
          <a:xfrm>
            <a:off x="6301588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Export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Ergebnisse als Word oder PDF vorher schicken</a:t>
            </a:r>
            <a:endParaRPr lang="en-US" sz="2200" dirty="0"/>
          </a:p>
        </p:txBody>
      </p:sp>
      <p:sp>
        <p:nvSpPr>
          <p:cNvPr id="8" name="arrow-18"/>
          <p:cNvSpPr/>
          <p:nvPr/>
        </p:nvSpPr>
        <p:spPr>
          <a:xfrm>
            <a:off x="8821445" y="24003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9" name="step-19"/>
          <p:cNvSpPr txBox="1"/>
          <p:nvPr/>
        </p:nvSpPr>
        <p:spPr>
          <a:xfrm>
            <a:off x="9178061" y="1691640"/>
            <a:ext cx="2464994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Nächster Termin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700" dirty="0">
                <a:solidFill>
                  <a:srgbClr val="14232F"/>
                </a:solidFill>
              </a:rPr>
              <a:t>Besprechung und neuer Input</a:t>
            </a:r>
            <a:endParaRPr lang="en-US" sz="2200" dirty="0"/>
          </a:p>
        </p:txBody>
      </p:sp>
      <p:sp>
        <p:nvSpPr>
          <p:cNvPr id="10" name="text-20"/>
          <p:cNvSpPr txBox="1"/>
          <p:nvPr/>
        </p:nvSpPr>
        <p:spPr>
          <a:xfrm>
            <a:off x="548640" y="3429000"/>
            <a:ext cx="329184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b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35591"/>
                </a:solidFill>
              </a:rPr>
              <a:t>3 LP</a:t>
            </a:r>
            <a:endParaRPr lang="en-US" sz="6600" dirty="0"/>
          </a:p>
        </p:txBody>
      </p:sp>
      <p:sp>
        <p:nvSpPr>
          <p:cNvPr id="11" name="text-21"/>
          <p:cNvSpPr txBox="1"/>
          <p:nvPr/>
        </p:nvSpPr>
        <p:spPr>
          <a:xfrm>
            <a:off x="548640" y="4572000"/>
            <a:ext cx="329184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= 90 Std. bei 2 SWS, davon 30 Std. Präsenz</a:t>
            </a:r>
            <a:endParaRPr lang="en-US" sz="2000" dirty="0"/>
          </a:p>
        </p:txBody>
      </p:sp>
      <p:sp>
        <p:nvSpPr>
          <p:cNvPr id="12" name="tile-22"/>
          <p:cNvSpPr txBox="1"/>
          <p:nvPr/>
        </p:nvSpPr>
        <p:spPr>
          <a:xfrm>
            <a:off x="4206240" y="3474720"/>
            <a:ext cx="7434072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Zwei Wege zu den Leistungspunkten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Referat (20 Min.) + Diskussion + Ausarbeitung (über 10 Seiten)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oder: Vortrag (40 Min.) + Diskussion – ohne Ausarbeitung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14232F"/>
                </a:solidFill>
              </a:rPr>
              <a:t>Präsentation als PDF vor Beginn einreichen</a:t>
            </a:r>
            <a:endParaRPr lang="en-US" sz="2200" dirty="0"/>
          </a:p>
        </p:txBody>
      </p:sp>
      <p:sp>
        <p:nvSpPr>
          <p:cNvPr id="13" name="text-23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Bei Krankheit: Abmeldung bis 7:00 Uhr am selben Tag per Mail. Hinweise zu Vortrag/Referat und Ausarbeitung: TaskCard und Lernplattform.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Was ist Technik – für dich?</a:t>
            </a:r>
            <a:endParaRPr lang="en-US" sz="2800" dirty="0"/>
          </a:p>
        </p:txBody>
      </p:sp>
      <p:sp>
        <p:nvSpPr>
          <p:cNvPr id="3" name="box-25"/>
          <p:cNvSpPr txBox="1"/>
          <p:nvPr/>
        </p:nvSpPr>
        <p:spPr>
          <a:xfrm>
            <a:off x="548640" y="1965960"/>
            <a:ext cx="11094415" cy="14630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35591"/>
                </a:solidFill>
              </a:rPr>
              <a:t>Spontan, in zwei Sätzen.</a:t>
            </a:r>
            <a:endParaRPr lang="en-US" sz="3000" dirty="0"/>
          </a:p>
        </p:txBody>
      </p:sp>
      <p:sp>
        <p:nvSpPr>
          <p:cNvPr id="4" name="box-26"/>
          <p:cNvSpPr txBox="1"/>
          <p:nvPr/>
        </p:nvSpPr>
        <p:spPr>
          <a:xfrm>
            <a:off x="548640" y="393192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Smartphone?</a:t>
            </a:r>
            <a:endParaRPr lang="en-US" sz="2200" dirty="0"/>
          </a:p>
        </p:txBody>
      </p:sp>
      <p:sp>
        <p:nvSpPr>
          <p:cNvPr id="5" name="box-27"/>
          <p:cNvSpPr txBox="1"/>
          <p:nvPr/>
        </p:nvSpPr>
        <p:spPr>
          <a:xfrm>
            <a:off x="4297680" y="393192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Holzlöffel?</a:t>
            </a:r>
            <a:endParaRPr lang="en-US" sz="2200" dirty="0"/>
          </a:p>
        </p:txBody>
      </p:sp>
      <p:sp>
        <p:nvSpPr>
          <p:cNvPr id="6" name="box-28"/>
          <p:cNvSpPr txBox="1"/>
          <p:nvPr/>
        </p:nvSpPr>
        <p:spPr>
          <a:xfrm>
            <a:off x="8046720" y="393192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Kläranlage?</a:t>
            </a:r>
            <a:endParaRPr lang="en-US" sz="2200" dirty="0"/>
          </a:p>
        </p:txBody>
      </p:sp>
      <p:sp>
        <p:nvSpPr>
          <p:cNvPr id="7" name="box-29"/>
          <p:cNvSpPr txBox="1"/>
          <p:nvPr/>
        </p:nvSpPr>
        <p:spPr>
          <a:xfrm>
            <a:off x="548640" y="489204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Programmieren?</a:t>
            </a:r>
            <a:endParaRPr lang="en-US" sz="2200" dirty="0"/>
          </a:p>
        </p:txBody>
      </p:sp>
      <p:sp>
        <p:nvSpPr>
          <p:cNvPr id="8" name="box-30"/>
          <p:cNvSpPr txBox="1"/>
          <p:nvPr/>
        </p:nvSpPr>
        <p:spPr>
          <a:xfrm>
            <a:off x="4297680" y="489204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Stricken?</a:t>
            </a:r>
            <a:endParaRPr lang="en-US" sz="2200" dirty="0"/>
          </a:p>
        </p:txBody>
      </p:sp>
      <p:sp>
        <p:nvSpPr>
          <p:cNvPr id="9" name="box-31"/>
          <p:cNvSpPr txBox="1"/>
          <p:nvPr/>
        </p:nvSpPr>
        <p:spPr>
          <a:xfrm>
            <a:off x="8046720" y="4892040"/>
            <a:ext cx="34747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Ampelschaltung?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Ein Computer …</a:t>
            </a:r>
            <a:endParaRPr lang="en-US" sz="2800" dirty="0"/>
          </a:p>
        </p:txBody>
      </p:sp>
      <p:sp>
        <p:nvSpPr>
          <p:cNvPr id="3" name="quote-33"/>
          <p:cNvSpPr txBox="1"/>
          <p:nvPr/>
        </p:nvSpPr>
        <p:spPr>
          <a:xfrm>
            <a:off x="548640" y="1874520"/>
            <a:ext cx="11094415" cy="347472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„Ein Computer wird erst wirklicher Computer, wenn er zum Teil einer Mensch-Maschine-Einheit geworden ist. […] erst die Arbeitseinheit von Mensch und Computer bringt die Textverarbeitung zuwege. […] bezeichne ich sie als soziotechnisches System.“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Ropohl (2009): Allgemeine Technologie, S. 58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3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Ropohls Technikbegriff</a:t>
            </a:r>
            <a:endParaRPr lang="en-US" sz="2800" dirty="0"/>
          </a:p>
        </p:txBody>
      </p:sp>
      <p:sp>
        <p:nvSpPr>
          <p:cNvPr id="3" name="box-35"/>
          <p:cNvSpPr txBox="1"/>
          <p:nvPr/>
        </p:nvSpPr>
        <p:spPr>
          <a:xfrm>
            <a:off x="548640" y="1783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F"/>
                </a:solidFill>
              </a:rPr>
              <a:t>a</a:t>
            </a:r>
            <a:endParaRPr lang="en-US" sz="2600" dirty="0"/>
          </a:p>
        </p:txBody>
      </p:sp>
      <p:sp>
        <p:nvSpPr>
          <p:cNvPr id="4" name="tile-36"/>
          <p:cNvSpPr txBox="1"/>
          <p:nvPr/>
        </p:nvSpPr>
        <p:spPr>
          <a:xfrm>
            <a:off x="548640" y="25603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Sachsysteme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nutzenorientierte, künstliche, gegenständliche Gebilde (Artefakte)</a:t>
            </a:r>
            <a:endParaRPr lang="en-US" sz="2600" dirty="0"/>
          </a:p>
        </p:txBody>
      </p:sp>
      <p:sp>
        <p:nvSpPr>
          <p:cNvPr id="5" name="box-37"/>
          <p:cNvSpPr txBox="1"/>
          <p:nvPr/>
        </p:nvSpPr>
        <p:spPr>
          <a:xfrm>
            <a:off x="4297680" y="1783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F"/>
                </a:solidFill>
              </a:rPr>
              <a:t>b</a:t>
            </a:r>
            <a:endParaRPr lang="en-US" sz="2600" dirty="0"/>
          </a:p>
        </p:txBody>
      </p:sp>
      <p:sp>
        <p:nvSpPr>
          <p:cNvPr id="6" name="tile-38"/>
          <p:cNvSpPr txBox="1"/>
          <p:nvPr/>
        </p:nvSpPr>
        <p:spPr>
          <a:xfrm>
            <a:off x="4297680" y="25603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Entstehung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menschliche Handlungen und Einrichtungen, in denen Sachsysteme entstehen</a:t>
            </a:r>
            <a:endParaRPr lang="en-US" sz="2600" dirty="0"/>
          </a:p>
        </p:txBody>
      </p:sp>
      <p:sp>
        <p:nvSpPr>
          <p:cNvPr id="7" name="box-39"/>
          <p:cNvSpPr txBox="1"/>
          <p:nvPr/>
        </p:nvSpPr>
        <p:spPr>
          <a:xfrm>
            <a:off x="8046720" y="1783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F"/>
                </a:solidFill>
              </a:rPr>
              <a:t>c</a:t>
            </a:r>
            <a:endParaRPr lang="en-US" sz="2600" dirty="0"/>
          </a:p>
        </p:txBody>
      </p:sp>
      <p:sp>
        <p:nvSpPr>
          <p:cNvPr id="8" name="tile-40"/>
          <p:cNvSpPr txBox="1"/>
          <p:nvPr/>
        </p:nvSpPr>
        <p:spPr>
          <a:xfrm>
            <a:off x="8046720" y="2560320"/>
            <a:ext cx="3474720" cy="23774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Verwendung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menschliche Handlungen, in denen Sachsysteme verwendet werden</a:t>
            </a:r>
            <a:endParaRPr lang="en-US" sz="2600" dirty="0"/>
          </a:p>
        </p:txBody>
      </p:sp>
      <p:sp>
        <p:nvSpPr>
          <p:cNvPr id="9" name="text-41"/>
          <p:cNvSpPr txBox="1"/>
          <p:nvPr/>
        </p:nvSpPr>
        <p:spPr>
          <a:xfrm>
            <a:off x="548640" y="52578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„Technik umfasst (a) die Menge der nutzenorientierten, künstlichen, gegenständlichen Gebilde […], (b) die Menge menschlicher Handlungen und Einrichtungen, in denen Sachsysteme entstehen und (c) die Menge menschlicher Handlungen, in denen Sachsysteme verwendet werden.“ (Ropohl 2009, S. 31)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4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Wie weit ist der Begriff?</a:t>
            </a:r>
            <a:endParaRPr lang="en-US" sz="2800" dirty="0"/>
          </a:p>
        </p:txBody>
      </p:sp>
      <p:sp>
        <p:nvSpPr>
          <p:cNvPr id="3" name="ell-43"/>
          <p:cNvSpPr/>
          <p:nvPr/>
        </p:nvSpPr>
        <p:spPr>
          <a:xfrm>
            <a:off x="548640" y="1600200"/>
            <a:ext cx="5852160" cy="4206240"/>
          </a:xfrm>
          <a:prstGeom prst="ellipse">
            <a:avLst/>
          </a:prstGeom>
          <a:solidFill>
            <a:srgbClr val="EEF3F7"/>
          </a:solidFill>
          <a:ln w="19050">
            <a:solidFill>
              <a:srgbClr val="56687A"/>
            </a:solidFill>
            <a:prstDash val="solid"/>
          </a:ln>
        </p:spPr>
      </p:sp>
      <p:sp>
        <p:nvSpPr>
          <p:cNvPr id="4" name="ell-44"/>
          <p:cNvSpPr/>
          <p:nvPr/>
        </p:nvSpPr>
        <p:spPr>
          <a:xfrm>
            <a:off x="1463040" y="2423160"/>
            <a:ext cx="4023360" cy="3017520"/>
          </a:xfrm>
          <a:prstGeom prst="ellipse">
            <a:avLst/>
          </a:prstGeom>
          <a:solidFill>
            <a:srgbClr val="DDE9F1"/>
          </a:solidFill>
          <a:ln w="25400">
            <a:solidFill>
              <a:srgbClr val="035591"/>
            </a:solidFill>
            <a:prstDash val="solid"/>
          </a:ln>
        </p:spPr>
      </p:sp>
      <p:sp>
        <p:nvSpPr>
          <p:cNvPr id="5" name="ell-45"/>
          <p:cNvSpPr/>
          <p:nvPr/>
        </p:nvSpPr>
        <p:spPr>
          <a:xfrm>
            <a:off x="2377440" y="3429000"/>
            <a:ext cx="2194560" cy="1737360"/>
          </a:xfrm>
          <a:prstGeom prst="ellipse">
            <a:avLst/>
          </a:prstGeom>
          <a:solidFill>
            <a:srgbClr val="FFF3C9"/>
          </a:solidFill>
          <a:ln w="31750">
            <a:solidFill>
              <a:srgbClr val="F5B700"/>
            </a:solidFill>
            <a:prstDash val="solid"/>
          </a:ln>
        </p:spPr>
      </p:sp>
      <p:sp>
        <p:nvSpPr>
          <p:cNvPr id="6" name="text-46"/>
          <p:cNvSpPr txBox="1"/>
          <p:nvPr/>
        </p:nvSpPr>
        <p:spPr>
          <a:xfrm>
            <a:off x="548640" y="1828800"/>
            <a:ext cx="58521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weit</a:t>
            </a:r>
            <a:endParaRPr lang="en-US" sz="2200" dirty="0"/>
          </a:p>
        </p:txBody>
      </p:sp>
      <p:sp>
        <p:nvSpPr>
          <p:cNvPr id="7" name="text-47"/>
          <p:cNvSpPr txBox="1"/>
          <p:nvPr/>
        </p:nvSpPr>
        <p:spPr>
          <a:xfrm>
            <a:off x="1463040" y="2651760"/>
            <a:ext cx="4023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mittelweit</a:t>
            </a:r>
            <a:endParaRPr lang="en-US" sz="2200" dirty="0"/>
          </a:p>
        </p:txBody>
      </p:sp>
      <p:sp>
        <p:nvSpPr>
          <p:cNvPr id="8" name="text-48"/>
          <p:cNvSpPr txBox="1"/>
          <p:nvPr/>
        </p:nvSpPr>
        <p:spPr>
          <a:xfrm>
            <a:off x="2377440" y="3977640"/>
            <a:ext cx="21945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eng</a:t>
            </a:r>
            <a:endParaRPr lang="en-US" sz="2200" dirty="0"/>
          </a:p>
        </p:txBody>
      </p:sp>
      <p:graphicFrame>
        <p:nvGraphicFramePr>
          <p:cNvPr id="8" name="table-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965960"/>
          <a:ext cx="48737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19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Verwendung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Technik ist …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weit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alles kunstfertige, zweckorientierte Handeln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mittelweit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Artefakte + alle Handlungen mit ihnen (Ropohl)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eng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alle künstlich hergestellten Dinge (Sachtechnik)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-50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Binder (2014): Theorien und Modelle der Technikdidaktik, S.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5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Dimensionen der Technik</a:t>
            </a:r>
            <a:endParaRPr lang="en-US" sz="2800" dirty="0"/>
          </a:p>
        </p:txBody>
      </p:sp>
      <p:sp>
        <p:nvSpPr>
          <p:cNvPr id="3" name="box-52"/>
          <p:cNvSpPr txBox="1"/>
          <p:nvPr/>
        </p:nvSpPr>
        <p:spPr>
          <a:xfrm>
            <a:off x="3813048" y="1600200"/>
            <a:ext cx="4572000" cy="8686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spc="600" kern="0" dirty="0">
                <a:solidFill>
                  <a:srgbClr val="FFFFFF"/>
                </a:solidFill>
              </a:rPr>
              <a:t>TECHNIK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Entstehung · Sachsysteme · Verwendung</a:t>
            </a:r>
            <a:endParaRPr lang="en-US" sz="2000" dirty="0"/>
          </a:p>
        </p:txBody>
      </p:sp>
      <p:sp>
        <p:nvSpPr>
          <p:cNvPr id="4" name="box-53"/>
          <p:cNvSpPr txBox="1"/>
          <p:nvPr/>
        </p:nvSpPr>
        <p:spPr>
          <a:xfrm>
            <a:off x="548640" y="26974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C2255C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Soziale Dimension</a:t>
            </a:r>
            <a:endParaRPr lang="en-US" sz="2000" dirty="0"/>
          </a:p>
        </p:txBody>
      </p:sp>
      <p:sp>
        <p:nvSpPr>
          <p:cNvPr id="5" name="box-54"/>
          <p:cNvSpPr txBox="1"/>
          <p:nvPr/>
        </p:nvSpPr>
        <p:spPr>
          <a:xfrm>
            <a:off x="731520" y="3383280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politologisch</a:t>
            </a:r>
            <a:endParaRPr lang="en-US" sz="1700" dirty="0"/>
          </a:p>
        </p:txBody>
      </p:sp>
      <p:sp>
        <p:nvSpPr>
          <p:cNvPr id="6" name="box-55"/>
          <p:cNvSpPr txBox="1"/>
          <p:nvPr/>
        </p:nvSpPr>
        <p:spPr>
          <a:xfrm>
            <a:off x="731520" y="3895344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soziologisch</a:t>
            </a:r>
            <a:endParaRPr lang="en-US" sz="1700" dirty="0"/>
          </a:p>
        </p:txBody>
      </p:sp>
      <p:sp>
        <p:nvSpPr>
          <p:cNvPr id="7" name="box-56"/>
          <p:cNvSpPr txBox="1"/>
          <p:nvPr/>
        </p:nvSpPr>
        <p:spPr>
          <a:xfrm>
            <a:off x="731520" y="4407408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ökonomisch</a:t>
            </a:r>
            <a:endParaRPr lang="en-US" sz="1700" dirty="0"/>
          </a:p>
        </p:txBody>
      </p:sp>
      <p:sp>
        <p:nvSpPr>
          <p:cNvPr id="8" name="box-57"/>
          <p:cNvSpPr txBox="1"/>
          <p:nvPr/>
        </p:nvSpPr>
        <p:spPr>
          <a:xfrm>
            <a:off x="731520" y="4919472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BE3EC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juridisch</a:t>
            </a:r>
            <a:endParaRPr lang="en-US" sz="1700" dirty="0"/>
          </a:p>
        </p:txBody>
      </p:sp>
      <p:sp>
        <p:nvSpPr>
          <p:cNvPr id="9" name="box-58"/>
          <p:cNvSpPr txBox="1"/>
          <p:nvPr/>
        </p:nvSpPr>
        <p:spPr>
          <a:xfrm>
            <a:off x="4297680" y="26974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D9480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Humane Dimension</a:t>
            </a:r>
            <a:endParaRPr lang="en-US" sz="2000" dirty="0"/>
          </a:p>
        </p:txBody>
      </p:sp>
      <p:sp>
        <p:nvSpPr>
          <p:cNvPr id="10" name="box-59"/>
          <p:cNvSpPr txBox="1"/>
          <p:nvPr/>
        </p:nvSpPr>
        <p:spPr>
          <a:xfrm>
            <a:off x="4480560" y="3383280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anthropologisch</a:t>
            </a:r>
            <a:endParaRPr lang="en-US" sz="1700" dirty="0"/>
          </a:p>
        </p:txBody>
      </p:sp>
      <p:sp>
        <p:nvSpPr>
          <p:cNvPr id="11" name="box-60"/>
          <p:cNvSpPr txBox="1"/>
          <p:nvPr/>
        </p:nvSpPr>
        <p:spPr>
          <a:xfrm>
            <a:off x="4480560" y="3895344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psychologisch</a:t>
            </a:r>
            <a:endParaRPr lang="en-US" sz="1700" dirty="0"/>
          </a:p>
        </p:txBody>
      </p:sp>
      <p:sp>
        <p:nvSpPr>
          <p:cNvPr id="12" name="box-61"/>
          <p:cNvSpPr txBox="1"/>
          <p:nvPr/>
        </p:nvSpPr>
        <p:spPr>
          <a:xfrm>
            <a:off x="4480560" y="4407408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physiologisch</a:t>
            </a:r>
            <a:endParaRPr lang="en-US" sz="1700" dirty="0"/>
          </a:p>
        </p:txBody>
      </p:sp>
      <p:sp>
        <p:nvSpPr>
          <p:cNvPr id="13" name="box-62"/>
          <p:cNvSpPr txBox="1"/>
          <p:nvPr/>
        </p:nvSpPr>
        <p:spPr>
          <a:xfrm>
            <a:off x="4480560" y="4919472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ethisch</a:t>
            </a:r>
            <a:endParaRPr lang="en-US" sz="1700" dirty="0"/>
          </a:p>
        </p:txBody>
      </p:sp>
      <p:sp>
        <p:nvSpPr>
          <p:cNvPr id="14" name="box-63"/>
          <p:cNvSpPr txBox="1"/>
          <p:nvPr/>
        </p:nvSpPr>
        <p:spPr>
          <a:xfrm>
            <a:off x="4480560" y="5431536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FDE6D7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ästhetisch</a:t>
            </a:r>
            <a:endParaRPr lang="en-US" sz="1700" dirty="0"/>
          </a:p>
        </p:txBody>
      </p:sp>
      <p:sp>
        <p:nvSpPr>
          <p:cNvPr id="15" name="box-64"/>
          <p:cNvSpPr txBox="1"/>
          <p:nvPr/>
        </p:nvSpPr>
        <p:spPr>
          <a:xfrm>
            <a:off x="8046720" y="26974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3B6E8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Naturale Dimension</a:t>
            </a:r>
            <a:endParaRPr lang="en-US" sz="2000" dirty="0"/>
          </a:p>
        </p:txBody>
      </p:sp>
      <p:sp>
        <p:nvSpPr>
          <p:cNvPr id="16" name="box-65"/>
          <p:cNvSpPr txBox="1"/>
          <p:nvPr/>
        </p:nvSpPr>
        <p:spPr>
          <a:xfrm>
            <a:off x="8229600" y="3383280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ökologisch</a:t>
            </a:r>
            <a:endParaRPr lang="en-US" sz="1700" dirty="0"/>
          </a:p>
        </p:txBody>
      </p:sp>
      <p:sp>
        <p:nvSpPr>
          <p:cNvPr id="17" name="box-66"/>
          <p:cNvSpPr txBox="1"/>
          <p:nvPr/>
        </p:nvSpPr>
        <p:spPr>
          <a:xfrm>
            <a:off x="8229600" y="3895344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ingenieurwissenschaftlich</a:t>
            </a:r>
            <a:endParaRPr lang="en-US" sz="1700" dirty="0"/>
          </a:p>
        </p:txBody>
      </p:sp>
      <p:sp>
        <p:nvSpPr>
          <p:cNvPr id="18" name="box-67"/>
          <p:cNvSpPr txBox="1"/>
          <p:nvPr/>
        </p:nvSpPr>
        <p:spPr>
          <a:xfrm>
            <a:off x="8229600" y="4407408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physikalisch</a:t>
            </a:r>
            <a:endParaRPr lang="en-US" sz="1700" dirty="0"/>
          </a:p>
        </p:txBody>
      </p:sp>
      <p:sp>
        <p:nvSpPr>
          <p:cNvPr id="19" name="box-68"/>
          <p:cNvSpPr txBox="1"/>
          <p:nvPr/>
        </p:nvSpPr>
        <p:spPr>
          <a:xfrm>
            <a:off x="8229600" y="4919472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chemisch</a:t>
            </a:r>
            <a:endParaRPr lang="en-US" sz="1700" dirty="0"/>
          </a:p>
        </p:txBody>
      </p:sp>
      <p:sp>
        <p:nvSpPr>
          <p:cNvPr id="20" name="box-69"/>
          <p:cNvSpPr txBox="1"/>
          <p:nvPr/>
        </p:nvSpPr>
        <p:spPr>
          <a:xfrm>
            <a:off x="8229600" y="5431536"/>
            <a:ext cx="3108960" cy="420624"/>
          </a:xfrm>
          <a:prstGeom prst="roundRect">
            <a:avLst>
              <a:gd name="adj" fmla="val 17391"/>
            </a:avLst>
          </a:prstGeom>
          <a:solidFill>
            <a:srgbClr val="DDE9F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4232F"/>
                </a:solidFill>
              </a:rPr>
              <a:t>biologisch</a:t>
            </a:r>
            <a:endParaRPr lang="en-US" sz="1700" dirty="0"/>
          </a:p>
        </p:txBody>
      </p:sp>
      <p:sp>
        <p:nvSpPr>
          <p:cNvPr id="21" name="text-70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Ropohl (2009), Bild 1, S. 32 (Erstauflage 1979)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7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Der Technikbegriff im Kerncurriculum</a:t>
            </a:r>
            <a:endParaRPr lang="en-US" sz="2800" dirty="0"/>
          </a:p>
        </p:txBody>
      </p:sp>
      <p:sp>
        <p:nvSpPr>
          <p:cNvPr id="3" name="tile-72"/>
          <p:cNvSpPr txBox="1"/>
          <p:nvPr/>
        </p:nvSpPr>
        <p:spPr>
          <a:xfrm>
            <a:off x="548640" y="1691640"/>
            <a:ext cx="5440680" cy="16459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KC Technik Realschule (2010)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„Bildungsbeitrag des Faches Technik“, S. 7 f.</a:t>
            </a:r>
            <a:endParaRPr lang="en-US" sz="2200" dirty="0"/>
          </a:p>
        </p:txBody>
      </p:sp>
      <p:sp>
        <p:nvSpPr>
          <p:cNvPr id="4" name="tile-73"/>
          <p:cNvSpPr txBox="1"/>
          <p:nvPr/>
        </p:nvSpPr>
        <p:spPr>
          <a:xfrm>
            <a:off x="6199632" y="1691640"/>
            <a:ext cx="5440680" cy="16459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KC AWT IGS (MK 2023)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„Bildungsbeitrag“, S. 5 f.; „Technisches und textiltechnisches Themenfeld“, S. 11</a:t>
            </a:r>
            <a:endParaRPr lang="en-US" sz="2200" dirty="0"/>
          </a:p>
        </p:txBody>
      </p:sp>
      <p:sp>
        <p:nvSpPr>
          <p:cNvPr id="5" name="box-74"/>
          <p:cNvSpPr txBox="1"/>
          <p:nvPr/>
        </p:nvSpPr>
        <p:spPr>
          <a:xfrm>
            <a:off x="548640" y="3886200"/>
            <a:ext cx="11094415" cy="12801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Wie beschreiben die Kerncurricula Technik – und was ist anders als bei Ropohl?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7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Technik im Fächerkanon</a:t>
            </a:r>
            <a:endParaRPr lang="en-US" sz="2800" dirty="0"/>
          </a:p>
        </p:txBody>
      </p:sp>
      <p:sp>
        <p:nvSpPr>
          <p:cNvPr id="3" name="quote-76"/>
          <p:cNvSpPr txBox="1"/>
          <p:nvPr/>
        </p:nvSpPr>
        <p:spPr>
          <a:xfrm>
            <a:off x="548640" y="1874520"/>
            <a:ext cx="11094415" cy="32918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„Grundsätzlich muss jedes Schulfach im allgemeinbildenden Schulwesen seine Notwendigkeit darlegen können. Es muss Intentionen (Absichten, Zielrichtungen) beschreiben und sie den Lernenden und der Gesellschaft gegenüber begründen können.“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Binder (2014): Theorien und Modelle der Technikdidaktik, S. 7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77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Leitziel technischer Bildung</a:t>
            </a:r>
            <a:endParaRPr lang="en-US" sz="2800" dirty="0"/>
          </a:p>
        </p:txBody>
      </p:sp>
      <p:sp>
        <p:nvSpPr>
          <p:cNvPr id="3" name="quote-78"/>
          <p:cNvSpPr txBox="1"/>
          <p:nvPr/>
        </p:nvSpPr>
        <p:spPr>
          <a:xfrm>
            <a:off x="548640" y="1691640"/>
            <a:ext cx="11094415" cy="274320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„Technische Bildung steht unter der leitenden Zielsetzung des mündigen, selbstbestimmten Menschen, der fähig ist, in technisch geprägten Lebenssituationen sachkompetent zu handeln und sich verantwortungsbewusst zu entscheiden.“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Wilkening et al. (1977), S. 12, zit. n. Binder (2014), S. 8</a:t>
            </a:r>
            <a:endParaRPr lang="en-US" sz="2400" dirty="0"/>
          </a:p>
        </p:txBody>
      </p:sp>
      <p:sp>
        <p:nvSpPr>
          <p:cNvPr id="4" name="link-79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Video: Harald Lesch zum Fächerkanon – </a:t>
            </a:r>
            <a:pPr indent="0" marL="0">
              <a:buNone/>
            </a:pPr>
            <a:r>
              <a:rPr lang="en-US" sz="2200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youtu.be/Wj-KTcxjLqs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8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Ist Technik angewandte Naturwissenschaft?</a:t>
            </a:r>
            <a:endParaRPr lang="en-US" sz="2800" dirty="0"/>
          </a:p>
        </p:txBody>
      </p:sp>
      <p:graphicFrame>
        <p:nvGraphicFramePr>
          <p:cNvPr id="13" name="table-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43984"/>
                <a:gridCol w="4453128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Naturwissenschaft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Technik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Gegenstand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was von Natur aus da ist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was der Mensch künstlich schafft – was sein soll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Fragerichtung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kausal: Ursache → Wirkung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final: Sinn und Zweck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Methoden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analytisch, erklärend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synthetisch, problemlösend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4232F"/>
                          </a:solidFill>
                        </a:rPr>
                        <a:t>Bewertung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richtig oder falsch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4232F"/>
                          </a:solidFill>
                        </a:rPr>
                        <a:t>gut oder schlecht</a:t>
                      </a:r>
                      <a:endParaRPr lang="en-US" sz="20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82"/>
          <p:cNvSpPr txBox="1"/>
          <p:nvPr/>
        </p:nvSpPr>
        <p:spPr>
          <a:xfrm>
            <a:off x="548640" y="56235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Brandt (2011): Technikunterricht versus Naturwissenschaftlicher Unterricht, VDI Berlin-Brandenburg, S. 4. Binder (2014, S. 3): „angewandte Naturwissenschaften“ ist eine Verkürzung.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8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Ein Fall aus Hildesheim</a:t>
            </a:r>
            <a:endParaRPr lang="en-US" sz="2800" dirty="0"/>
          </a:p>
        </p:txBody>
      </p:sp>
      <p:sp>
        <p:nvSpPr>
          <p:cNvPr id="3" name="text-84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Schulversuch der Robert-Bosch-Gesamtschule (ab 2009)</a:t>
            </a:r>
            <a:endParaRPr lang="en-US" sz="2200" dirty="0"/>
          </a:p>
        </p:txBody>
      </p:sp>
      <p:sp>
        <p:nvSpPr>
          <p:cNvPr id="4" name="box-85"/>
          <p:cNvSpPr txBox="1"/>
          <p:nvPr/>
        </p:nvSpPr>
        <p:spPr>
          <a:xfrm>
            <a:off x="548640" y="2286000"/>
            <a:ext cx="4206240" cy="1005840"/>
          </a:xfrm>
          <a:prstGeom prst="rect">
            <a:avLst/>
          </a:prstGeom>
          <a:solidFill>
            <a:srgbClr val="EEF3F7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AWT + Naturwissenschaften</a:t>
            </a:r>
            <a:endParaRPr lang="en-US" sz="2200" dirty="0"/>
          </a:p>
        </p:txBody>
      </p:sp>
      <p:sp>
        <p:nvSpPr>
          <p:cNvPr id="5" name="arrow-86"/>
          <p:cNvSpPr/>
          <p:nvPr/>
        </p:nvSpPr>
        <p:spPr>
          <a:xfrm>
            <a:off x="4892040" y="2788920"/>
            <a:ext cx="914400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box-87"/>
          <p:cNvSpPr txBox="1"/>
          <p:nvPr/>
        </p:nvSpPr>
        <p:spPr>
          <a:xfrm>
            <a:off x="5943600" y="2286000"/>
            <a:ext cx="5696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AW · Physik/Technik · Naturwissenschaften</a:t>
            </a:r>
            <a:endParaRPr lang="en-US" sz="2200" dirty="0"/>
          </a:p>
        </p:txBody>
      </p:sp>
      <p:sp>
        <p:nvSpPr>
          <p:cNvPr id="7" name="list-88"/>
          <p:cNvSpPr txBox="1"/>
          <p:nvPr/>
        </p:nvSpPr>
        <p:spPr>
          <a:xfrm>
            <a:off x="548640" y="3566160"/>
            <a:ext cx="11094415" cy="1280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ab Jg. 8 für alle: Fischertechnik-Modelle, eigener Elektromotor, Hausinstallation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Partner: Robert Bosch GmbH, Handwerkskammer, Uni Hildesheim</a:t>
            </a:r>
            <a:endParaRPr lang="en-US" sz="2000" dirty="0"/>
          </a:p>
        </p:txBody>
      </p:sp>
      <p:sp>
        <p:nvSpPr>
          <p:cNvPr id="8" name="box-89"/>
          <p:cNvSpPr txBox="1"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Würdest du Physik und Technik zusammenlegen?</a:t>
            </a:r>
            <a:endParaRPr lang="en-US" sz="2400" dirty="0"/>
          </a:p>
        </p:txBody>
      </p:sp>
      <p:sp>
        <p:nvSpPr>
          <p:cNvPr id="9" name="text-90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Müller, S.: Die Einrichtung des neuen Unterrichtsfachs „Physik/Technik“. Projekttagebuch, Website der RBG, abgerufen 28.10.2016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9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Technik in den Bundesländern (Stand ca. 2016)</a:t>
            </a:r>
            <a:endParaRPr lang="en-US" sz="2800" dirty="0"/>
          </a:p>
        </p:txBody>
      </p:sp>
      <p:graphicFrame>
        <p:nvGraphicFramePr>
          <p:cNvPr id="15" name="table-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566928"/>
                <a:gridCol w="566928"/>
                <a:gridCol w="603504"/>
                <a:gridCol w="603504"/>
                <a:gridCol w="566928"/>
                <a:gridCol w="566928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Land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Baden-Württemberg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Bayern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Berlin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Brandenburg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Bremen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Hamburg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Hessen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Mecklenburg-Vorp.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-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60020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566928"/>
                <a:gridCol w="566928"/>
                <a:gridCol w="603504"/>
                <a:gridCol w="603504"/>
                <a:gridCol w="566928"/>
                <a:gridCol w="566928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Land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F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 V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 II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Niedersachsen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Nordrhein-Westfalen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○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○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Rheinland-Pfalz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Saarland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Sachsen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Sachsen-Anhalt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Schleswig-Holstein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232F"/>
                          </a:solidFill>
                        </a:rPr>
                        <a:t>Thüringen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FA7C9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35591"/>
                          </a:solidFill>
                        </a:rPr>
                        <a:t>●</a:t>
                      </a:r>
                      <a:endParaRPr lang="en-US" sz="14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94"/>
          <p:cNvSpPr txBox="1"/>
          <p:nvPr/>
        </p:nvSpPr>
        <p:spPr>
          <a:xfrm>
            <a:off x="548640" y="576072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T = Technik, Inf = Informatik, I/II = Sek I/II, F = Fach, V = Fächerverbund; ● Fach, ○ Verbund (Sek II); helle Punkte = Verbund (Sek I). Nach Grafik im Seminarmaterial (Lehrpläne der Länder, Stand ca. 2016) – veraltet, z. B. Informatik in NDS seit 2023/24 Pflichtfach.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9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Du entscheidest: Wie soll Technik unterrichtet werden?</a:t>
            </a:r>
            <a:endParaRPr lang="en-US" sz="2800" dirty="0"/>
          </a:p>
        </p:txBody>
      </p:sp>
      <p:sp>
        <p:nvSpPr>
          <p:cNvPr id="3" name="box-96"/>
          <p:cNvSpPr txBox="1"/>
          <p:nvPr/>
        </p:nvSpPr>
        <p:spPr>
          <a:xfrm>
            <a:off x="548640" y="169164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</a:t>
            </a:r>
            <a:endParaRPr lang="en-US" sz="2800" dirty="0"/>
          </a:p>
        </p:txBody>
      </p:sp>
      <p:sp>
        <p:nvSpPr>
          <p:cNvPr id="4" name="box-97"/>
          <p:cNvSpPr txBox="1"/>
          <p:nvPr/>
        </p:nvSpPr>
        <p:spPr>
          <a:xfrm>
            <a:off x="1371600" y="169164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als eigenständiges Fach</a:t>
            </a:r>
            <a:endParaRPr lang="en-US" sz="2200" dirty="0"/>
          </a:p>
        </p:txBody>
      </p:sp>
      <p:sp>
        <p:nvSpPr>
          <p:cNvPr id="5" name="box-98"/>
          <p:cNvSpPr txBox="1"/>
          <p:nvPr/>
        </p:nvSpPr>
        <p:spPr>
          <a:xfrm>
            <a:off x="6172200" y="169164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</a:t>
            </a:r>
            <a:endParaRPr lang="en-US" sz="2800" dirty="0"/>
          </a:p>
        </p:txBody>
      </p:sp>
      <p:sp>
        <p:nvSpPr>
          <p:cNvPr id="6" name="box-99"/>
          <p:cNvSpPr txBox="1"/>
          <p:nvPr/>
        </p:nvSpPr>
        <p:spPr>
          <a:xfrm>
            <a:off x="6995160" y="169164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im Fächerverbund mit Wirtschaft</a:t>
            </a:r>
            <a:endParaRPr lang="en-US" sz="2200" dirty="0"/>
          </a:p>
        </p:txBody>
      </p:sp>
      <p:sp>
        <p:nvSpPr>
          <p:cNvPr id="7" name="box-100"/>
          <p:cNvSpPr txBox="1"/>
          <p:nvPr/>
        </p:nvSpPr>
        <p:spPr>
          <a:xfrm>
            <a:off x="548640" y="301752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</a:t>
            </a:r>
            <a:endParaRPr lang="en-US" sz="2800" dirty="0"/>
          </a:p>
        </p:txBody>
      </p:sp>
      <p:sp>
        <p:nvSpPr>
          <p:cNvPr id="8" name="box-101"/>
          <p:cNvSpPr txBox="1"/>
          <p:nvPr/>
        </p:nvSpPr>
        <p:spPr>
          <a:xfrm>
            <a:off x="1371600" y="301752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im Fächerverbund mit Naturwissenschaften</a:t>
            </a:r>
            <a:endParaRPr lang="en-US" sz="2200" dirty="0"/>
          </a:p>
        </p:txBody>
      </p:sp>
      <p:sp>
        <p:nvSpPr>
          <p:cNvPr id="9" name="box-102"/>
          <p:cNvSpPr txBox="1"/>
          <p:nvPr/>
        </p:nvSpPr>
        <p:spPr>
          <a:xfrm>
            <a:off x="6172200" y="301752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</a:t>
            </a:r>
            <a:endParaRPr lang="en-US" sz="2800" dirty="0"/>
          </a:p>
        </p:txBody>
      </p:sp>
      <p:sp>
        <p:nvSpPr>
          <p:cNvPr id="10" name="box-103"/>
          <p:cNvSpPr txBox="1"/>
          <p:nvPr/>
        </p:nvSpPr>
        <p:spPr>
          <a:xfrm>
            <a:off x="6995160" y="301752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im Fächerverbund mit Informatik</a:t>
            </a:r>
            <a:endParaRPr lang="en-US" sz="2200" dirty="0"/>
          </a:p>
        </p:txBody>
      </p:sp>
      <p:sp>
        <p:nvSpPr>
          <p:cNvPr id="11" name="box-104"/>
          <p:cNvSpPr txBox="1"/>
          <p:nvPr/>
        </p:nvSpPr>
        <p:spPr>
          <a:xfrm>
            <a:off x="548640" y="434340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</a:t>
            </a:r>
            <a:endParaRPr lang="en-US" sz="2800" dirty="0"/>
          </a:p>
        </p:txBody>
      </p:sp>
      <p:sp>
        <p:nvSpPr>
          <p:cNvPr id="12" name="box-105"/>
          <p:cNvSpPr txBox="1"/>
          <p:nvPr/>
        </p:nvSpPr>
        <p:spPr>
          <a:xfrm>
            <a:off x="1371600" y="434340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nur integriert in Projekte</a:t>
            </a:r>
            <a:endParaRPr lang="en-US" sz="2200" dirty="0"/>
          </a:p>
        </p:txBody>
      </p:sp>
      <p:sp>
        <p:nvSpPr>
          <p:cNvPr id="13" name="box-106"/>
          <p:cNvSpPr txBox="1"/>
          <p:nvPr/>
        </p:nvSpPr>
        <p:spPr>
          <a:xfrm>
            <a:off x="6172200" y="4343400"/>
            <a:ext cx="731520" cy="105156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</a:t>
            </a:r>
            <a:endParaRPr lang="en-US" sz="2800" dirty="0"/>
          </a:p>
        </p:txBody>
      </p:sp>
      <p:sp>
        <p:nvSpPr>
          <p:cNvPr id="14" name="box-107"/>
          <p:cNvSpPr txBox="1"/>
          <p:nvPr/>
        </p:nvSpPr>
        <p:spPr>
          <a:xfrm>
            <a:off x="6995160" y="4343400"/>
            <a:ext cx="4645152" cy="105156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32F"/>
                </a:solidFill>
              </a:rPr>
              <a:t>gar nicht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0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Bis Termin 2: Aufgabenpaket 1</a:t>
            </a:r>
            <a:endParaRPr lang="en-US" sz="2800" dirty="0"/>
          </a:p>
        </p:txBody>
      </p:sp>
      <p:sp>
        <p:nvSpPr>
          <p:cNvPr id="3" name="tile-109"/>
          <p:cNvSpPr txBox="1"/>
          <p:nvPr/>
        </p:nvSpPr>
        <p:spPr>
          <a:xfrm>
            <a:off x="548640" y="1600200"/>
            <a:ext cx="5440680" cy="173736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A · Technikbegriff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Ropohl für Klasse 6, Dimensionen zuordnen, KC und Ropohl vergleichen</a:t>
            </a:r>
            <a:endParaRPr lang="en-US" sz="2200" dirty="0"/>
          </a:p>
        </p:txBody>
      </p:sp>
      <p:sp>
        <p:nvSpPr>
          <p:cNvPr id="4" name="tile-110"/>
          <p:cNvSpPr txBox="1"/>
          <p:nvPr/>
        </p:nvSpPr>
        <p:spPr>
          <a:xfrm>
            <a:off x="6199632" y="1600200"/>
            <a:ext cx="5440680" cy="173736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B · Fächerkanon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Intentionen im KC, Naturwissenschaft oder Technik, Schulversuch, deine Entscheidung, Länder-Check</a:t>
            </a:r>
            <a:endParaRPr lang="en-US" sz="2200" dirty="0"/>
          </a:p>
        </p:txBody>
      </p:sp>
      <p:sp>
        <p:nvSpPr>
          <p:cNvPr id="5" name="link-111"/>
          <p:cNvSpPr txBox="1"/>
          <p:nvPr/>
        </p:nvSpPr>
        <p:spPr>
          <a:xfrm>
            <a:off x="548640" y="37033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Lernplattform: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6" name="list-112"/>
          <p:cNvSpPr txBox="1"/>
          <p:nvPr/>
        </p:nvSpPr>
        <p:spPr>
          <a:xfrm>
            <a:off x="548640" y="4480560"/>
            <a:ext cx="7132320" cy="1280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Termin 1 → „Nach dem Termin“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Vor Termin 2: Export „Nur Aufgabenpaket 1“ als Word oder PDF schicken</a:t>
            </a:r>
            <a:endParaRPr lang="en-US" sz="2000" dirty="0"/>
          </a:p>
        </p:txBody>
      </p:sp>
      <p:pic>
        <p:nvPicPr>
          <p:cNvPr id="7" name="qr-113" descr="QR-Code zur Lernplattform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3611880"/>
            <a:ext cx="2194560" cy="2194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1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Zur Lernplattform</a:t>
            </a:r>
            <a:endParaRPr lang="en-US" sz="2800" dirty="0"/>
          </a:p>
        </p:txBody>
      </p:sp>
      <p:sp>
        <p:nvSpPr>
          <p:cNvPr id="3" name="text-115"/>
          <p:cNvSpPr txBox="1"/>
          <p:nvPr/>
        </p:nvSpPr>
        <p:spPr>
          <a:xfrm>
            <a:off x="548640" y="1691640"/>
            <a:ext cx="694944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Lernplattform mit allen Aufgaben, Folien und Materialien</a:t>
            </a:r>
            <a:endParaRPr lang="en-US" sz="2200" dirty="0"/>
          </a:p>
        </p:txBody>
      </p:sp>
      <p:sp>
        <p:nvSpPr>
          <p:cNvPr id="4" name="link-116"/>
          <p:cNvSpPr txBox="1"/>
          <p:nvPr/>
        </p:nvSpPr>
        <p:spPr>
          <a:xfrm>
            <a:off x="548640" y="2377440"/>
            <a:ext cx="694944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4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4000" dirty="0"/>
          </a:p>
        </p:txBody>
      </p:sp>
      <p:sp>
        <p:nvSpPr>
          <p:cNvPr id="5" name="list-117"/>
          <p:cNvSpPr txBox="1"/>
          <p:nvPr/>
        </p:nvSpPr>
        <p:spPr>
          <a:xfrm>
            <a:off x="548640" y="3429000"/>
            <a:ext cx="6949440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Termin wählen → „Nach dem Termin“: Aufgabenpaket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Antworten werden im Browser gespeichert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4232F"/>
                </a:solidFill>
              </a:rPr>
              <a:t>Vor dem nächsten Termin: Export als Word oder PDF schicken</a:t>
            </a:r>
            <a:endParaRPr lang="en-US" sz="2000" dirty="0"/>
          </a:p>
        </p:txBody>
      </p:sp>
      <p:pic>
        <p:nvPicPr>
          <p:cNvPr id="6" name="qr-118" descr="QR-Code zur Lernplattform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45920"/>
            <a:ext cx="3520440" cy="3520440"/>
          </a:xfrm>
          <a:prstGeom prst="rect">
            <a:avLst/>
          </a:prstGeom>
        </p:spPr>
      </p:pic>
      <p:sp>
        <p:nvSpPr>
          <p:cNvPr id="7" name="text-119"/>
          <p:cNvSpPr txBox="1"/>
          <p:nvPr/>
        </p:nvSpPr>
        <p:spPr>
          <a:xfrm>
            <a:off x="8138160" y="5212080"/>
            <a:ext cx="3520440" cy="3200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6687A"/>
                </a:solidFill>
              </a:rPr>
              <a:t>QR-Code: https://t1p.de/tdk-26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1: Technik und Technikunterricht</dc:title>
  <dc:subject>Universität Hildesheim, WiSe 2026/27</dc:subject>
  <dc:creator>Daniel Beyrodt</dc:creator>
  <cp:lastModifiedBy>Daniel Beyrodt</cp:lastModifiedBy>
  <cp:revision>1</cp:revision>
  <dcterms:created xsi:type="dcterms:W3CDTF">2026-10-28T05:44:09Z</dcterms:created>
  <dcterms:modified xsi:type="dcterms:W3CDTF">2026-10-28T05:44:09Z</dcterms:modified>
</cp:coreProperties>
</file>