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1609344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20116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Technikdidaktisches Kolloquium · Termin 2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9601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6517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6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20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Technikdidaktisches Kolloquium</a:t>
            </a:r>
            <a:endParaRPr lang="en-US" sz="4400" dirty="0"/>
          </a:p>
        </p:txBody>
      </p:sp>
      <p:sp>
        <p:nvSpPr>
          <p:cNvPr id="3" name="text-121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700"/>
                </a:solidFill>
              </a:rPr>
              <a:t>Termin 2 · Der mehrperspektivische Technikunterricht</a:t>
            </a:r>
            <a:endParaRPr lang="en-US" sz="2600" dirty="0"/>
          </a:p>
        </p:txBody>
      </p:sp>
      <p:sp>
        <p:nvSpPr>
          <p:cNvPr id="4" name="box-122"/>
          <p:cNvSpPr txBox="1"/>
          <p:nvPr/>
        </p:nvSpPr>
        <p:spPr>
          <a:xfrm>
            <a:off x="548640" y="356616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1</a:t>
            </a:r>
            <a:endParaRPr lang="en-US" sz="2000" dirty="0"/>
          </a:p>
        </p:txBody>
      </p:sp>
      <p:sp>
        <p:nvSpPr>
          <p:cNvPr id="5" name="text-123"/>
          <p:cNvSpPr txBox="1"/>
          <p:nvPr/>
        </p:nvSpPr>
        <p:spPr>
          <a:xfrm>
            <a:off x="2560320" y="356616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Einführung · Technikbegriff · Technik im Fächerkanon</a:t>
            </a:r>
            <a:endParaRPr lang="en-US" sz="2200" dirty="0"/>
          </a:p>
        </p:txBody>
      </p:sp>
      <p:sp>
        <p:nvSpPr>
          <p:cNvPr id="6" name="box-124"/>
          <p:cNvSpPr txBox="1"/>
          <p:nvPr/>
        </p:nvSpPr>
        <p:spPr>
          <a:xfrm>
            <a:off x="548640" y="4206240"/>
            <a:ext cx="1828800" cy="530352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Termin 2</a:t>
            </a:r>
            <a:endParaRPr lang="en-US" sz="2000" dirty="0"/>
          </a:p>
        </p:txBody>
      </p:sp>
      <p:sp>
        <p:nvSpPr>
          <p:cNvPr id="7" name="text-125"/>
          <p:cNvSpPr txBox="1"/>
          <p:nvPr/>
        </p:nvSpPr>
        <p:spPr>
          <a:xfrm>
            <a:off x="2560320" y="420624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Besprechung Paket 1 · Der mehrperspektivische Technikunterricht</a:t>
            </a:r>
            <a:endParaRPr lang="en-US" sz="2200" dirty="0"/>
          </a:p>
        </p:txBody>
      </p:sp>
      <p:sp>
        <p:nvSpPr>
          <p:cNvPr id="8" name="box-126"/>
          <p:cNvSpPr txBox="1"/>
          <p:nvPr/>
        </p:nvSpPr>
        <p:spPr>
          <a:xfrm>
            <a:off x="548640" y="484632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3</a:t>
            </a:r>
            <a:endParaRPr lang="en-US" sz="2000" dirty="0"/>
          </a:p>
        </p:txBody>
      </p:sp>
      <p:sp>
        <p:nvSpPr>
          <p:cNvPr id="9" name="text-127"/>
          <p:cNvSpPr txBox="1"/>
          <p:nvPr/>
        </p:nvSpPr>
        <p:spPr>
          <a:xfrm>
            <a:off x="2560320" y="484632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Besprechung Paket 2 · Aktuelle Entwicklungen im Technikunterricht</a:t>
            </a:r>
            <a:endParaRPr lang="en-US" sz="2200" dirty="0"/>
          </a:p>
        </p:txBody>
      </p:sp>
      <p:sp>
        <p:nvSpPr>
          <p:cNvPr id="10" name="box-128"/>
          <p:cNvSpPr txBox="1"/>
          <p:nvPr/>
        </p:nvSpPr>
        <p:spPr>
          <a:xfrm>
            <a:off x="548640" y="5486400"/>
            <a:ext cx="1828800" cy="530352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4</a:t>
            </a:r>
            <a:endParaRPr lang="en-US" sz="2000" dirty="0"/>
          </a:p>
        </p:txBody>
      </p:sp>
      <p:sp>
        <p:nvSpPr>
          <p:cNvPr id="11" name="text-129"/>
          <p:cNvSpPr txBox="1"/>
          <p:nvPr/>
        </p:nvSpPr>
        <p:spPr>
          <a:xfrm>
            <a:off x="2560320" y="5486400"/>
            <a:ext cx="8961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Referat oder Vortrag und Diskussion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3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Besprechung: Technikbegriff</a:t>
            </a:r>
            <a:endParaRPr lang="en-US" sz="2800" dirty="0"/>
          </a:p>
        </p:txBody>
      </p:sp>
      <p:sp>
        <p:nvSpPr>
          <p:cNvPr id="3" name="ntile-131"/>
          <p:cNvSpPr txBox="1"/>
          <p:nvPr/>
        </p:nvSpPr>
        <p:spPr>
          <a:xfrm>
            <a:off x="548640" y="1783080"/>
            <a:ext cx="3515258" cy="329184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1.1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Deine Definition für die 6. Klasse: vereinfacht, aber nicht verfälscht?</a:t>
            </a:r>
            <a:endParaRPr lang="en-US" sz="3400" dirty="0"/>
          </a:p>
        </p:txBody>
      </p:sp>
      <p:sp>
        <p:nvSpPr>
          <p:cNvPr id="4" name="ntile-132"/>
          <p:cNvSpPr txBox="1"/>
          <p:nvPr/>
        </p:nvSpPr>
        <p:spPr>
          <a:xfrm>
            <a:off x="4338218" y="1783080"/>
            <a:ext cx="3515258" cy="329184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1.2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Wie beschreibt das KC Technik?</a:t>
            </a:r>
            <a:endParaRPr lang="en-US" sz="3400" dirty="0"/>
          </a:p>
        </p:txBody>
      </p:sp>
      <p:sp>
        <p:nvSpPr>
          <p:cNvPr id="5" name="ntile-133"/>
          <p:cNvSpPr txBox="1"/>
          <p:nvPr/>
        </p:nvSpPr>
        <p:spPr>
          <a:xfrm>
            <a:off x="8127797" y="1783080"/>
            <a:ext cx="3515258" cy="3291840"/>
          </a:xfrm>
          <a:prstGeom prst="rect">
            <a:avLst/>
          </a:prstGeom>
          <a:solidFill>
            <a:srgbClr val="FFF3C9"/>
          </a:solidFill>
          <a:ln w="19050">
            <a:solidFill>
              <a:srgbClr val="F5B700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1.3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KC und Ropohl: Was ist gleich, was fehlt?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3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Besprechung: Technik im Fächerkanon</a:t>
            </a:r>
            <a:endParaRPr lang="en-US" sz="2800" dirty="0"/>
          </a:p>
        </p:txBody>
      </p:sp>
      <p:sp>
        <p:nvSpPr>
          <p:cNvPr id="3" name="ntile-135"/>
          <p:cNvSpPr txBox="1"/>
          <p:nvPr/>
        </p:nvSpPr>
        <p:spPr>
          <a:xfrm>
            <a:off x="548640" y="1691640"/>
            <a:ext cx="3515258" cy="201168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1.4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Intentionen und Begründungen</a:t>
            </a:r>
            <a:endParaRPr lang="en-US" sz="3400" dirty="0"/>
          </a:p>
        </p:txBody>
      </p:sp>
      <p:sp>
        <p:nvSpPr>
          <p:cNvPr id="4" name="ntile-136"/>
          <p:cNvSpPr txBox="1"/>
          <p:nvPr/>
        </p:nvSpPr>
        <p:spPr>
          <a:xfrm>
            <a:off x="4338218" y="1691640"/>
            <a:ext cx="3515258" cy="201168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1.5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Harald Lesch und das Fach Technik</a:t>
            </a:r>
            <a:endParaRPr lang="en-US" sz="3400" dirty="0"/>
          </a:p>
        </p:txBody>
      </p:sp>
      <p:sp>
        <p:nvSpPr>
          <p:cNvPr id="5" name="ntile-137"/>
          <p:cNvSpPr txBox="1"/>
          <p:nvPr/>
        </p:nvSpPr>
        <p:spPr>
          <a:xfrm>
            <a:off x="8127797" y="1691640"/>
            <a:ext cx="3515258" cy="201168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1.6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Der Schulversuch der RBG</a:t>
            </a:r>
            <a:endParaRPr lang="en-US" sz="3400" dirty="0"/>
          </a:p>
        </p:txBody>
      </p:sp>
      <p:sp>
        <p:nvSpPr>
          <p:cNvPr id="6" name="ntile-138"/>
          <p:cNvSpPr txBox="1"/>
          <p:nvPr/>
        </p:nvSpPr>
        <p:spPr>
          <a:xfrm>
            <a:off x="548640" y="3931920"/>
            <a:ext cx="3515258" cy="201168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1.7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Physik und Technik zusammenlegen?</a:t>
            </a:r>
            <a:endParaRPr lang="en-US" sz="3400" dirty="0"/>
          </a:p>
        </p:txBody>
      </p:sp>
      <p:sp>
        <p:nvSpPr>
          <p:cNvPr id="7" name="ntile-139"/>
          <p:cNvSpPr txBox="1"/>
          <p:nvPr/>
        </p:nvSpPr>
        <p:spPr>
          <a:xfrm>
            <a:off x="4338218" y="3931920"/>
            <a:ext cx="3515258" cy="201168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1.8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Und der VDI?</a:t>
            </a:r>
            <a:endParaRPr lang="en-US" sz="3400" dirty="0"/>
          </a:p>
        </p:txBody>
      </p:sp>
      <p:sp>
        <p:nvSpPr>
          <p:cNvPr id="8" name="ntile-140"/>
          <p:cNvSpPr txBox="1"/>
          <p:nvPr/>
        </p:nvSpPr>
        <p:spPr>
          <a:xfrm>
            <a:off x="8127797" y="3931920"/>
            <a:ext cx="3515258" cy="2011680"/>
          </a:xfrm>
          <a:prstGeom prst="rect">
            <a:avLst/>
          </a:prstGeom>
          <a:solidFill>
            <a:srgbClr val="FFF3C9"/>
          </a:solidFill>
          <a:ln w="19050">
            <a:solidFill>
              <a:srgbClr val="F5B700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1.9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Deine Entscheidung (a–f) und dein stärkstes Argument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4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Der mehrperspektivische Technikunterricht</a:t>
            </a:r>
            <a:endParaRPr lang="en-US" sz="2800" dirty="0"/>
          </a:p>
        </p:txBody>
      </p:sp>
      <p:sp>
        <p:nvSpPr>
          <p:cNvPr id="3" name="box-142"/>
          <p:cNvSpPr txBox="1"/>
          <p:nvPr/>
        </p:nvSpPr>
        <p:spPr>
          <a:xfrm>
            <a:off x="548640" y="2148840"/>
            <a:ext cx="11094415" cy="20116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35591"/>
                </a:solidFill>
              </a:rPr>
              <a:t>Der mehrperspektivische Technikunterricht</a:t>
            </a:r>
            <a:endParaRPr lang="en-US" sz="20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4232F"/>
                </a:solidFill>
              </a:rPr>
              <a:t>(mpTu) nach Wilkening und Schmayl</a:t>
            </a:r>
            <a:endParaRPr lang="en-US" sz="2000" dirty="0"/>
          </a:p>
        </p:txBody>
      </p:sp>
      <p:sp>
        <p:nvSpPr>
          <p:cNvPr id="4" name="text-14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87A"/>
                </a:solidFill>
              </a:rPr>
              <a:t>Grundlage: Bienhaus (2008): Technikdidaktik – der mehrperspektivische Ansatz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4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Erkenntnisperspektive und Zielperspektive</a:t>
            </a:r>
            <a:endParaRPr lang="en-US" sz="2800" dirty="0"/>
          </a:p>
        </p:txBody>
      </p:sp>
      <p:sp>
        <p:nvSpPr>
          <p:cNvPr id="3" name="aufgabe-145"/>
          <p:cNvSpPr txBox="1"/>
          <p:nvPr/>
        </p:nvSpPr>
        <p:spPr>
          <a:xfrm>
            <a:off x="548640" y="2057400"/>
            <a:ext cx="11094415" cy="2926080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Aufgabe 2.1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600" dirty="0">
                <a:solidFill>
                  <a:srgbClr val="14232F"/>
                </a:solidFill>
              </a:rPr>
              <a:t>Lies den Auszug „Technikdidaktik – der mehrperspektivische Ansatz“ von Bienhaus. Erkläre die Begriffe Erkenntnisperspektive und Zielperspektive und nenne die jeweiligen Perspektiven.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46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Erkenntnisperspektiven im Kerncurriculum</a:t>
            </a:r>
            <a:endParaRPr lang="en-US" sz="2800" dirty="0"/>
          </a:p>
        </p:txBody>
      </p:sp>
      <p:sp>
        <p:nvSpPr>
          <p:cNvPr id="3" name="aufgabe-147"/>
          <p:cNvSpPr txBox="1"/>
          <p:nvPr/>
        </p:nvSpPr>
        <p:spPr>
          <a:xfrm>
            <a:off x="548640" y="2057400"/>
            <a:ext cx="11094415" cy="2926080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Aufgabe 2.2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600" dirty="0">
                <a:solidFill>
                  <a:srgbClr val="14232F"/>
                </a:solidFill>
              </a:rPr>
              <a:t>Analysiere, in welcher Form die Erkenntnisperspektiven nach Schmayl im Kerncurriculum Technik für die Realschule wiederzufinden sind.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48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Inhaltsfelder im Kerncurriculum</a:t>
            </a:r>
            <a:endParaRPr lang="en-US" sz="2800" dirty="0"/>
          </a:p>
        </p:txBody>
      </p:sp>
      <p:sp>
        <p:nvSpPr>
          <p:cNvPr id="3" name="aufgabe-149"/>
          <p:cNvSpPr txBox="1"/>
          <p:nvPr/>
        </p:nvSpPr>
        <p:spPr>
          <a:xfrm>
            <a:off x="548640" y="2057400"/>
            <a:ext cx="11094415" cy="2926080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Aufgabe 2.3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600" dirty="0">
                <a:solidFill>
                  <a:srgbClr val="14232F"/>
                </a:solidFill>
              </a:rPr>
              <a:t>Vergleiche, welche Inhaltsfelder des mehrperspektivischen Technikunterrichts im Kerncurriculum Technik für die Realschule vorkommen und welche nicht.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56687A"/>
                </a:solidFill>
              </a:rPr>
              <a:t>Auf der nächsten Folie findest du eine Übersicht der Inhaltsfelder des mpTu.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5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Mehrperspektivische Technikdidaktik: Inhaltsfelder</a:t>
            </a:r>
            <a:endParaRPr lang="en-US" sz="2800" dirty="0"/>
          </a:p>
        </p:txBody>
      </p:sp>
      <p:graphicFrame>
        <p:nvGraphicFramePr>
          <p:cNvPr id="9" name="table-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Lebensbereiche: Haushalt · Betrieb · Öffentlichkeit · Freizeit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Arbeit und Produktion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Bauen und Wohnen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Versorgung und Entsorgung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Transport und Verkehr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Information und Kommunikation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Arbeitsverfahren, Werkzeuge, Maschinen, Werkstoffe, Arbeitsplatz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Baukonstruktion, Raumfunktion, Wohnbedürfnisse, Umweltplanung, Haustechnik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Wasserversorgung, Energieversorgung, Abfallentsorgung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Fahrzeuge, Hebezeuge, Verkehrseinrichtung, Verkehrsplanung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Steuerung, Regelung, informationsverarbeitende Maschinen, Automatisierung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x-152"/>
          <p:cNvSpPr txBox="1"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3C9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Themen: Bautechnik · Maschinentechnik · Produktionstechnik · Energietechnik · Informationstechnik · Textiltechnik</a:t>
            </a:r>
            <a:endParaRPr lang="en-US" sz="1800" dirty="0"/>
          </a:p>
        </p:txBody>
      </p:sp>
      <p:sp>
        <p:nvSpPr>
          <p:cNvPr id="5" name="text-153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Neu gezeichnet nach Wilkening/Schmayl (1984), Folie aus dem Seminarmaterial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5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Dein Referat in Termin 4</a:t>
            </a:r>
            <a:endParaRPr lang="en-US" sz="2800" dirty="0"/>
          </a:p>
        </p:txBody>
      </p:sp>
      <p:sp>
        <p:nvSpPr>
          <p:cNvPr id="3" name="tile-155"/>
          <p:cNvSpPr txBox="1"/>
          <p:nvPr/>
        </p:nvSpPr>
        <p:spPr>
          <a:xfrm>
            <a:off x="548640" y="1600200"/>
            <a:ext cx="5440680" cy="14173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Weg A · Referat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20 Min. + Diskussion + Ausarbeitung (über 10 Seiten)</a:t>
            </a:r>
            <a:endParaRPr lang="en-US" sz="2200" dirty="0"/>
          </a:p>
        </p:txBody>
      </p:sp>
      <p:sp>
        <p:nvSpPr>
          <p:cNvPr id="4" name="tile-156"/>
          <p:cNvSpPr txBox="1"/>
          <p:nvPr/>
        </p:nvSpPr>
        <p:spPr>
          <a:xfrm>
            <a:off x="6199632" y="1600200"/>
            <a:ext cx="5440680" cy="141732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Weg B · Vortrag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40 Min. + Diskussion, keine Ausarbeitung</a:t>
            </a:r>
            <a:endParaRPr lang="en-US" sz="2200" dirty="0"/>
          </a:p>
        </p:txBody>
      </p:sp>
      <p:sp>
        <p:nvSpPr>
          <p:cNvPr id="5" name="aufgabe-157"/>
          <p:cNvSpPr txBox="1"/>
          <p:nvPr/>
        </p:nvSpPr>
        <p:spPr>
          <a:xfrm>
            <a:off x="548640" y="3246120"/>
            <a:ext cx="11094415" cy="1371600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Aufgabe 2.4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Wähle ein Thema aus der Liste der Seminarthemen oder schlage ein eigenes vor. Entscheide dich für Weg A oder B.</a:t>
            </a:r>
            <a:endParaRPr lang="en-US" sz="2000" dirty="0"/>
          </a:p>
        </p:txBody>
      </p:sp>
      <p:sp>
        <p:nvSpPr>
          <p:cNvPr id="6" name="text-158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6687A"/>
                </a:solidFill>
              </a:rPr>
              <a:t>Den Beitrag planst du nach Termin 3 in Aufgabenpaket 3.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5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Bis Termin 3: Aufgabenpaket 2</a:t>
            </a:r>
            <a:endParaRPr lang="en-US" sz="2800" dirty="0"/>
          </a:p>
        </p:txBody>
      </p:sp>
      <p:sp>
        <p:nvSpPr>
          <p:cNvPr id="3" name="tile-160"/>
          <p:cNvSpPr txBox="1"/>
          <p:nvPr/>
        </p:nvSpPr>
        <p:spPr>
          <a:xfrm>
            <a:off x="548640" y="1600200"/>
            <a:ext cx="5440680" cy="19202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mpTu · 2.1–2.3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Erkenntnis- und Zielperspektive, Perspektiven im KC, Inhaltsfelder im KC</a:t>
            </a:r>
            <a:endParaRPr lang="en-US" sz="2200" dirty="0"/>
          </a:p>
        </p:txBody>
      </p:sp>
      <p:sp>
        <p:nvSpPr>
          <p:cNvPr id="4" name="tile-161"/>
          <p:cNvSpPr txBox="1"/>
          <p:nvPr/>
        </p:nvSpPr>
        <p:spPr>
          <a:xfrm>
            <a:off x="6199632" y="1600200"/>
            <a:ext cx="5440680" cy="192024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Referat · 2.4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Thema wählen, Weg A oder B</a:t>
            </a:r>
            <a:endParaRPr lang="en-US" sz="2200" dirty="0"/>
          </a:p>
        </p:txBody>
      </p:sp>
      <p:sp>
        <p:nvSpPr>
          <p:cNvPr id="5" name="link-162"/>
          <p:cNvSpPr txBox="1"/>
          <p:nvPr/>
        </p:nvSpPr>
        <p:spPr>
          <a:xfrm>
            <a:off x="5486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32F"/>
                </a:solidFill>
              </a:rPr>
              <a:t>Kursseite: </a:t>
            </a:r>
            <a:pPr indent="0" marL="0">
              <a:buNone/>
            </a:pPr>
            <a:r>
              <a:rPr lang="en-US" sz="3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3000" dirty="0"/>
          </a:p>
        </p:txBody>
      </p:sp>
      <p:sp>
        <p:nvSpPr>
          <p:cNvPr id="6" name="text-163"/>
          <p:cNvSpPr txBox="1"/>
          <p:nvPr/>
        </p:nvSpPr>
        <p:spPr>
          <a:xfrm>
            <a:off x="548640" y="4663440"/>
            <a:ext cx="7132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Vor Termin 3: Export „Nur Aufgabenpaket 2“ schicken</a:t>
            </a:r>
            <a:endParaRPr lang="en-US" sz="2000" dirty="0"/>
          </a:p>
        </p:txBody>
      </p:sp>
      <p:pic>
        <p:nvPicPr>
          <p:cNvPr id="7" name="qr-164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70332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inTechniklehrer">
  <a:themeElements>
    <a:clrScheme name="deinTechniklehrer">
      <a:dk1>
        <a:srgbClr val="14232F"/>
      </a:dk1>
      <a:lt1>
        <a:srgbClr val="FFFFFF"/>
      </a:lt1>
      <a:dk2>
        <a:srgbClr val="023A63"/>
      </a:dk2>
      <a:lt2>
        <a:srgbClr val="EEF3F7"/>
      </a:lt2>
      <a:accent1>
        <a:srgbClr val="035591"/>
      </a:accent1>
      <a:accent2>
        <a:srgbClr val="F5B700"/>
      </a:accent2>
      <a:accent3>
        <a:srgbClr val="C2255C"/>
      </a:accent3>
      <a:accent4>
        <a:srgbClr val="D9480F"/>
      </a:accent4>
      <a:accent5>
        <a:srgbClr val="3B6E8F"/>
      </a:accent5>
      <a:accent6>
        <a:srgbClr val="17803F"/>
      </a:accent6>
      <a:hlink>
        <a:srgbClr val="035591"/>
      </a:hlink>
      <a:folHlink>
        <a:srgbClr val="56687A"/>
      </a:folHlink>
    </a:clrScheme>
    <a:fontScheme name="deinTechniklehr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Technikdidaktisches Kolloquium – Termin 2: Der mehrperspektivische Technikunterricht</dc:title>
  <dc:subject>Universität Hildesheim, WiSe 2026/27</dc:subject>
  <dc:creator>Daniel Beyrodt</dc:creator>
  <cp:lastModifiedBy>Daniel Beyrodt</cp:lastModifiedBy>
  <cp:revision>1</cp:revision>
  <dcterms:created xsi:type="dcterms:W3CDTF">2026-10-28T10:47:19Z</dcterms:created>
  <dcterms:modified xsi:type="dcterms:W3CDTF">2026-10-28T10:47:19Z</dcterms:modified>
</cp:coreProperties>
</file>