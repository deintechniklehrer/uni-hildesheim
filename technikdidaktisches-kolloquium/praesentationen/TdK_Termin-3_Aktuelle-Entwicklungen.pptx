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Aufbau nach den Hinweisen für Studierende (Vortrag/Referat).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f0df0622-abb2-5c0a-a841-b1a0cebc56b9/scratchpad/ppt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01168"/>
            <a:ext cx="1609344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0" y="201168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6687A"/>
                </a:solidFill>
              </a:rPr>
              <a:t>Technikdidaktisches Kolloquium · Termin 3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2700">
            <a:solidFill>
              <a:srgbClr val="C9D4D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87A"/>
                </a:solidFill>
              </a:rPr>
              <a:t>Daniel Beyrodt · Universität Hildesheim · WiSe 2026/27 · CC BY-NC-SA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2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926080" cy="9601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tmp/claude-0/-home-claude/f0df0622-abb2-5c0a-a841-b1a0cebc56b9/scratchpad/ppt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6517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6"/>
                </a:solidFill>
              </a:rPr>
              <a:t>Daniel Beyrodt · Universität Hildesheim · WiSe 2026/27 · CC BY-NC-SA 4.0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t1p.de/tdk-26" TargetMode="External"/><Relationship Id="rId2" Type="http://schemas.openxmlformats.org/officeDocument/2006/relationships/image" Target="../media/image-1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6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Technikdidaktisches Kolloquium</a:t>
            </a:r>
            <a:endParaRPr lang="en-US" sz="4400" dirty="0"/>
          </a:p>
        </p:txBody>
      </p:sp>
      <p:sp>
        <p:nvSpPr>
          <p:cNvPr id="3" name="text-166"/>
          <p:cNvSpPr txBox="1"/>
          <p:nvPr/>
        </p:nvSpPr>
        <p:spPr>
          <a:xfrm>
            <a:off x="548640" y="2880360"/>
            <a:ext cx="10972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B700"/>
                </a:solidFill>
              </a:rPr>
              <a:t>Termin 3 · Aktuelle Entwicklungen im Technikunterricht</a:t>
            </a:r>
            <a:endParaRPr lang="en-US" sz="2600" dirty="0"/>
          </a:p>
        </p:txBody>
      </p:sp>
      <p:sp>
        <p:nvSpPr>
          <p:cNvPr id="4" name="box-167"/>
          <p:cNvSpPr txBox="1"/>
          <p:nvPr/>
        </p:nvSpPr>
        <p:spPr>
          <a:xfrm>
            <a:off x="548640" y="3566160"/>
            <a:ext cx="1828800" cy="530352"/>
          </a:xfrm>
          <a:prstGeom prst="rect">
            <a:avLst/>
          </a:prstGeom>
          <a:solidFill>
            <a:srgbClr val="0F4F7E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Termin 1</a:t>
            </a:r>
            <a:endParaRPr lang="en-US" sz="2000" dirty="0"/>
          </a:p>
        </p:txBody>
      </p:sp>
      <p:sp>
        <p:nvSpPr>
          <p:cNvPr id="5" name="text-168"/>
          <p:cNvSpPr txBox="1"/>
          <p:nvPr/>
        </p:nvSpPr>
        <p:spPr>
          <a:xfrm>
            <a:off x="2560320" y="3566160"/>
            <a:ext cx="89611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8E6"/>
                </a:solidFill>
              </a:rPr>
              <a:t>Einführung · Technikbegriff · Technik im Fächerkanon</a:t>
            </a:r>
            <a:endParaRPr lang="en-US" sz="2200" dirty="0"/>
          </a:p>
        </p:txBody>
      </p:sp>
      <p:sp>
        <p:nvSpPr>
          <p:cNvPr id="6" name="box-169"/>
          <p:cNvSpPr txBox="1"/>
          <p:nvPr/>
        </p:nvSpPr>
        <p:spPr>
          <a:xfrm>
            <a:off x="548640" y="4206240"/>
            <a:ext cx="1828800" cy="530352"/>
          </a:xfrm>
          <a:prstGeom prst="rect">
            <a:avLst/>
          </a:prstGeom>
          <a:solidFill>
            <a:srgbClr val="0F4F7E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Termin 2</a:t>
            </a:r>
            <a:endParaRPr lang="en-US" sz="2000" dirty="0"/>
          </a:p>
        </p:txBody>
      </p:sp>
      <p:sp>
        <p:nvSpPr>
          <p:cNvPr id="7" name="text-170"/>
          <p:cNvSpPr txBox="1"/>
          <p:nvPr/>
        </p:nvSpPr>
        <p:spPr>
          <a:xfrm>
            <a:off x="2560320" y="4206240"/>
            <a:ext cx="89611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8E6"/>
                </a:solidFill>
              </a:rPr>
              <a:t>Besprechung Paket 1 · Der mehrperspektivische Technikunterricht</a:t>
            </a:r>
            <a:endParaRPr lang="en-US" sz="2200" dirty="0"/>
          </a:p>
        </p:txBody>
      </p:sp>
      <p:sp>
        <p:nvSpPr>
          <p:cNvPr id="8" name="box-171"/>
          <p:cNvSpPr txBox="1"/>
          <p:nvPr/>
        </p:nvSpPr>
        <p:spPr>
          <a:xfrm>
            <a:off x="548640" y="4846320"/>
            <a:ext cx="1828800" cy="530352"/>
          </a:xfrm>
          <a:prstGeom prst="rect">
            <a:avLst/>
          </a:prstGeom>
          <a:solidFill>
            <a:srgbClr val="F5B7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2F"/>
                </a:solidFill>
              </a:rPr>
              <a:t>Termin 3</a:t>
            </a:r>
            <a:endParaRPr lang="en-US" sz="2000" dirty="0"/>
          </a:p>
        </p:txBody>
      </p:sp>
      <p:sp>
        <p:nvSpPr>
          <p:cNvPr id="9" name="text-172"/>
          <p:cNvSpPr txBox="1"/>
          <p:nvPr/>
        </p:nvSpPr>
        <p:spPr>
          <a:xfrm>
            <a:off x="2560320" y="4846320"/>
            <a:ext cx="89611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Besprechung Paket 2 · Aktuelle Entwicklungen im Technikunterricht</a:t>
            </a:r>
            <a:endParaRPr lang="en-US" sz="2200" dirty="0"/>
          </a:p>
        </p:txBody>
      </p:sp>
      <p:sp>
        <p:nvSpPr>
          <p:cNvPr id="10" name="box-173"/>
          <p:cNvSpPr txBox="1"/>
          <p:nvPr/>
        </p:nvSpPr>
        <p:spPr>
          <a:xfrm>
            <a:off x="548640" y="5486400"/>
            <a:ext cx="1828800" cy="530352"/>
          </a:xfrm>
          <a:prstGeom prst="rect">
            <a:avLst/>
          </a:prstGeom>
          <a:solidFill>
            <a:srgbClr val="0F4F7E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Termin 4</a:t>
            </a:r>
            <a:endParaRPr lang="en-US" sz="2000" dirty="0"/>
          </a:p>
        </p:txBody>
      </p:sp>
      <p:sp>
        <p:nvSpPr>
          <p:cNvPr id="11" name="text-174"/>
          <p:cNvSpPr txBox="1"/>
          <p:nvPr/>
        </p:nvSpPr>
        <p:spPr>
          <a:xfrm>
            <a:off x="2560320" y="5486400"/>
            <a:ext cx="89611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8E6"/>
                </a:solidFill>
              </a:rPr>
              <a:t>Referat oder Vortrag und Diskussion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75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Besprechung: Aufgabenpaket 2</a:t>
            </a:r>
            <a:endParaRPr lang="en-US" sz="2800" dirty="0"/>
          </a:p>
        </p:txBody>
      </p:sp>
      <p:sp>
        <p:nvSpPr>
          <p:cNvPr id="3" name="ntile-176"/>
          <p:cNvSpPr txBox="1"/>
          <p:nvPr/>
        </p:nvSpPr>
        <p:spPr>
          <a:xfrm>
            <a:off x="548640" y="1783080"/>
            <a:ext cx="3515258" cy="3291840"/>
          </a:xfrm>
          <a:prstGeom prst="rect">
            <a:avLst/>
          </a:prstGeom>
          <a:solidFill>
            <a:srgbClr val="EEF3F7"/>
          </a:solidFill>
          <a:ln w="19050">
            <a:solidFill>
              <a:srgbClr val="EEF3F7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35591"/>
                </a:solidFill>
              </a:rPr>
              <a:t>2.1</a:t>
            </a:r>
            <a:endParaRPr lang="en-US" sz="3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Erkenntnis- und Zielperspektiven in eigenen Worten</a:t>
            </a:r>
            <a:endParaRPr lang="en-US" sz="3400" dirty="0"/>
          </a:p>
        </p:txBody>
      </p:sp>
      <p:sp>
        <p:nvSpPr>
          <p:cNvPr id="4" name="ntile-177"/>
          <p:cNvSpPr txBox="1"/>
          <p:nvPr/>
        </p:nvSpPr>
        <p:spPr>
          <a:xfrm>
            <a:off x="4338218" y="1783080"/>
            <a:ext cx="3515258" cy="3291840"/>
          </a:xfrm>
          <a:prstGeom prst="rect">
            <a:avLst/>
          </a:prstGeom>
          <a:solidFill>
            <a:srgbClr val="EEF3F7"/>
          </a:solidFill>
          <a:ln w="19050">
            <a:solidFill>
              <a:srgbClr val="EEF3F7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35591"/>
                </a:solidFill>
              </a:rPr>
              <a:t>2.2</a:t>
            </a:r>
            <a:endParaRPr lang="en-US" sz="3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Wie mehrperspektivisch ist das KC?</a:t>
            </a:r>
            <a:endParaRPr lang="en-US" sz="3400" dirty="0"/>
          </a:p>
        </p:txBody>
      </p:sp>
      <p:sp>
        <p:nvSpPr>
          <p:cNvPr id="5" name="ntile-178"/>
          <p:cNvSpPr txBox="1"/>
          <p:nvPr/>
        </p:nvSpPr>
        <p:spPr>
          <a:xfrm>
            <a:off x="8127797" y="1783080"/>
            <a:ext cx="3515258" cy="3291840"/>
          </a:xfrm>
          <a:prstGeom prst="rect">
            <a:avLst/>
          </a:prstGeom>
          <a:solidFill>
            <a:srgbClr val="FFF3C9"/>
          </a:solidFill>
          <a:ln w="19050">
            <a:solidFill>
              <a:srgbClr val="F5B700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35591"/>
                </a:solidFill>
              </a:rPr>
              <a:t>2.3</a:t>
            </a:r>
            <a:endParaRPr lang="en-US" sz="3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Welche Inhaltsfelder fehlen im KC – und warum?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79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Aktuelle Entwicklungen im Technikunterricht</a:t>
            </a:r>
            <a:endParaRPr lang="en-US" sz="2800" dirty="0"/>
          </a:p>
        </p:txBody>
      </p:sp>
      <p:sp>
        <p:nvSpPr>
          <p:cNvPr id="3" name="text-180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Woher kommt das Lagebild?</a:t>
            </a:r>
            <a:endParaRPr lang="en-US" sz="2200" dirty="0"/>
          </a:p>
        </p:txBody>
      </p:sp>
      <p:sp>
        <p:nvSpPr>
          <p:cNvPr id="4" name="tile-181"/>
          <p:cNvSpPr txBox="1"/>
          <p:nvPr/>
        </p:nvSpPr>
        <p:spPr>
          <a:xfrm>
            <a:off x="548640" y="2148840"/>
            <a:ext cx="3474720" cy="17830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Fachberatung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Austausch landesweit</a:t>
            </a:r>
            <a:endParaRPr lang="en-US" sz="2200" dirty="0"/>
          </a:p>
        </p:txBody>
      </p:sp>
      <p:sp>
        <p:nvSpPr>
          <p:cNvPr id="5" name="tile-182"/>
          <p:cNvSpPr txBox="1"/>
          <p:nvPr/>
        </p:nvSpPr>
        <p:spPr>
          <a:xfrm>
            <a:off x="4297680" y="2148840"/>
            <a:ext cx="3474720" cy="17830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Fachmoderation AWT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Dienstbesprechungen der Fachbereichsleitungen</a:t>
            </a:r>
            <a:endParaRPr lang="en-US" sz="2200" dirty="0"/>
          </a:p>
        </p:txBody>
      </p:sp>
      <p:sp>
        <p:nvSpPr>
          <p:cNvPr id="6" name="tile-183"/>
          <p:cNvSpPr txBox="1"/>
          <p:nvPr/>
        </p:nvSpPr>
        <p:spPr>
          <a:xfrm>
            <a:off x="8046720" y="2148840"/>
            <a:ext cx="3474720" cy="178308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Tagungen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Netzwerktagung AWT, Jahrestagung der didaktischen Leitungen</a:t>
            </a:r>
            <a:endParaRPr lang="en-US" sz="2200" dirty="0"/>
          </a:p>
        </p:txBody>
      </p:sp>
      <p:sp>
        <p:nvSpPr>
          <p:cNvPr id="7" name="tile-184"/>
          <p:cNvSpPr txBox="1"/>
          <p:nvPr/>
        </p:nvSpPr>
        <p:spPr>
          <a:xfrm>
            <a:off x="548640" y="4114800"/>
            <a:ext cx="3474720" cy="17830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Fortbildungen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Kompetenzzentren, NLQ</a:t>
            </a:r>
            <a:endParaRPr lang="en-US" sz="2200" dirty="0"/>
          </a:p>
        </p:txBody>
      </p:sp>
      <p:sp>
        <p:nvSpPr>
          <p:cNvPr id="8" name="tile-185"/>
          <p:cNvSpPr txBox="1"/>
          <p:nvPr/>
        </p:nvSpPr>
        <p:spPr>
          <a:xfrm>
            <a:off x="4297680" y="4114800"/>
            <a:ext cx="3474720" cy="17830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DGTB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Deutsche Gesellschaft für Technische Bildung</a:t>
            </a:r>
            <a:endParaRPr lang="en-US" sz="2200" dirty="0"/>
          </a:p>
        </p:txBody>
      </p:sp>
      <p:sp>
        <p:nvSpPr>
          <p:cNvPr id="9" name="tile-186"/>
          <p:cNvSpPr txBox="1"/>
          <p:nvPr/>
        </p:nvSpPr>
        <p:spPr>
          <a:xfrm>
            <a:off x="8046720" y="4114800"/>
            <a:ext cx="3474720" cy="17830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Netzwerke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Netzwerk Techniklehrkräfte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87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Probleme in Schulen</a:t>
            </a:r>
            <a:endParaRPr lang="en-US" sz="2800" dirty="0"/>
          </a:p>
        </p:txBody>
      </p:sp>
      <p:sp>
        <p:nvSpPr>
          <p:cNvPr id="3" name="list-188"/>
          <p:cNvSpPr txBox="1"/>
          <p:nvPr/>
        </p:nvSpPr>
        <p:spPr>
          <a:xfrm>
            <a:off x="548640" y="1691640"/>
            <a:ext cx="11094415" cy="4023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32F"/>
                </a:solidFill>
              </a:rPr>
              <a:t>Lehrkräftemangel: Kürzungen im WPK-Bereich in praktischen Fächern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32F"/>
                </a:solidFill>
              </a:rPr>
              <a:t>Schwierigkeiten mit BBS-Kooperationen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32F"/>
                </a:solidFill>
              </a:rPr>
              <a:t>Anzahl ausgebildeter Lehrkräfte im Fach Technik nimmt ab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32F"/>
                </a:solidFill>
              </a:rPr>
              <a:t>Fachraumausstattung verschlechtert sich an vielen Schulen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32F"/>
                </a:solidFill>
              </a:rPr>
              <a:t>Werkräume werden teilweise zu Klassenräumen</a:t>
            </a:r>
            <a:endParaRPr lang="en-US" sz="2400" dirty="0"/>
          </a:p>
        </p:txBody>
      </p:sp>
      <p:sp>
        <p:nvSpPr>
          <p:cNvPr id="4" name="text-189"/>
          <p:cNvSpPr txBox="1"/>
          <p:nvPr/>
        </p:nvSpPr>
        <p:spPr>
          <a:xfrm>
            <a:off x="548640" y="594360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Beobachtungen aus Fachberatung und Fachmoderation, Stand 2024.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90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Digitalisierung im Fach Technik</a:t>
            </a:r>
            <a:endParaRPr lang="en-US" sz="2800" dirty="0"/>
          </a:p>
        </p:txBody>
      </p:sp>
      <p:sp>
        <p:nvSpPr>
          <p:cNvPr id="3" name="tile-191"/>
          <p:cNvSpPr txBox="1"/>
          <p:nvPr/>
        </p:nvSpPr>
        <p:spPr>
          <a:xfrm>
            <a:off x="548640" y="1600200"/>
            <a:ext cx="3474720" cy="365760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n-21 „Masterplan Digitalisierung“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54 Projektschulen Mensch-Roboter-Kollaboration (Robonatives)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19 Projektschulen Additive Fertigung (3D-Druck)</a:t>
            </a:r>
            <a:endParaRPr lang="en-US" sz="2000" dirty="0"/>
          </a:p>
        </p:txBody>
      </p:sp>
      <p:sp>
        <p:nvSpPr>
          <p:cNvPr id="4" name="tile-192"/>
          <p:cNvSpPr txBox="1"/>
          <p:nvPr/>
        </p:nvSpPr>
        <p:spPr>
          <a:xfrm>
            <a:off x="4297680" y="1600200"/>
            <a:ext cx="3474720" cy="365760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3D-Druck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NLQ: Moodle-Selbstlernkurs „3D-Druck ohne Vorkenntnisse“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viele Fortbildungen, meist mit Tinkercad</a:t>
            </a:r>
            <a:endParaRPr lang="en-US" sz="2000" dirty="0"/>
          </a:p>
        </p:txBody>
      </p:sp>
      <p:sp>
        <p:nvSpPr>
          <p:cNvPr id="5" name="tile-193"/>
          <p:cNvSpPr txBox="1"/>
          <p:nvPr/>
        </p:nvSpPr>
        <p:spPr>
          <a:xfrm>
            <a:off x="8046720" y="1600200"/>
            <a:ext cx="3593592" cy="365760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Nachfrage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mehr Interesse an Digitalisierung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Fortbildungen zu Arduino und 3D-Druck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großes Interesse an Lasercuttern</a:t>
            </a:r>
            <a:endParaRPr lang="en-US" sz="2000" dirty="0"/>
          </a:p>
        </p:txBody>
      </p:sp>
      <p:sp>
        <p:nvSpPr>
          <p:cNvPr id="6" name="text-194"/>
          <p:cNvSpPr txBox="1"/>
          <p:nvPr/>
        </p:nvSpPr>
        <p:spPr>
          <a:xfrm>
            <a:off x="548640" y="548640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Zahlen der Projektschulen: Stand Januar 2024 (Seminarfolien WiSe 2023/24).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95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Lehrkräfteausbildung und Kerncurricula</a:t>
            </a:r>
            <a:endParaRPr lang="en-US" sz="2800" dirty="0"/>
          </a:p>
        </p:txBody>
      </p:sp>
      <p:sp>
        <p:nvSpPr>
          <p:cNvPr id="3" name="tile-196"/>
          <p:cNvSpPr txBox="1"/>
          <p:nvPr/>
        </p:nvSpPr>
        <p:spPr>
          <a:xfrm>
            <a:off x="548640" y="1600200"/>
            <a:ext cx="5440680" cy="347472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Lehrkräfteausbildung an der Universität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Digitalisierung im Fach Technik implementiert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keine steigenden Studierendenzahlen im Fach Technik</a:t>
            </a:r>
            <a:endParaRPr lang="en-US" sz="2200" dirty="0"/>
          </a:p>
        </p:txBody>
      </p:sp>
      <p:sp>
        <p:nvSpPr>
          <p:cNvPr id="4" name="tile-197"/>
          <p:cNvSpPr txBox="1"/>
          <p:nvPr/>
        </p:nvSpPr>
        <p:spPr>
          <a:xfrm>
            <a:off x="6199632" y="1600200"/>
            <a:ext cx="5440680" cy="347472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Kerncurricula und Erlasse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KC Technik (Realschule): keine Neuauflage geplant (Stand 01/2024)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IGS: KC Arbeit-Wirtschaft-Technik (MK 2023)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IGS-Erlass v. 01.08.2026: Projektunterricht in jedem Schuljahrgang (Nr. 4.3)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98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Fort- und Weiterbildung der Lehrkräfte</a:t>
            </a:r>
            <a:endParaRPr lang="en-US" sz="2800" dirty="0"/>
          </a:p>
        </p:txBody>
      </p:sp>
      <p:sp>
        <p:nvSpPr>
          <p:cNvPr id="3" name="tile-199"/>
          <p:cNvSpPr txBox="1"/>
          <p:nvPr/>
        </p:nvSpPr>
        <p:spPr>
          <a:xfrm>
            <a:off x="548640" y="1600200"/>
            <a:ext cx="5440680" cy="374904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Kompetenzzentren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Maschinenschein: Angebote immer noch nicht ausreichend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Maschinenschein nicht mehr obligatorisch – Schulen wissen das oft nicht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Probleme beim Akquirieren von Referent:innen</a:t>
            </a:r>
            <a:endParaRPr lang="en-US" sz="2200" dirty="0"/>
          </a:p>
        </p:txBody>
      </p:sp>
      <p:sp>
        <p:nvSpPr>
          <p:cNvPr id="4" name="tile-200"/>
          <p:cNvSpPr txBox="1"/>
          <p:nvPr/>
        </p:nvSpPr>
        <p:spPr>
          <a:xfrm>
            <a:off x="6199632" y="1600200"/>
            <a:ext cx="5440680" cy="374904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RLSB und NLQ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Fachmoderation und Fachberatung unterstützen die Kompetenzzentren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NLQ: Qualifizierung für fachfremd Unterrichtende im Fach Technik (3 Jahre, 20 Lehrkräfte)</a:t>
            </a:r>
            <a:endParaRPr lang="en-US" sz="2200" dirty="0"/>
          </a:p>
        </p:txBody>
      </p:sp>
      <p:sp>
        <p:nvSpPr>
          <p:cNvPr id="5" name="text-201"/>
          <p:cNvSpPr txBox="1"/>
          <p:nvPr/>
        </p:nvSpPr>
        <p:spPr>
          <a:xfrm>
            <a:off x="548640" y="557784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Stand 2024 (Seminarfolien WiSe 2023/24 und 2024/25).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02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MakerSpaces</a:t>
            </a:r>
            <a:endParaRPr lang="en-US" sz="2800" dirty="0"/>
          </a:p>
        </p:txBody>
      </p:sp>
      <p:sp>
        <p:nvSpPr>
          <p:cNvPr id="3" name="list-203"/>
          <p:cNvSpPr txBox="1"/>
          <p:nvPr/>
        </p:nvSpPr>
        <p:spPr>
          <a:xfrm>
            <a:off x="548640" y="1691640"/>
            <a:ext cx="11094415" cy="4389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4232F"/>
                </a:solidFill>
              </a:rPr>
              <a:t>Interesse an allgemein- und berufsbildenden Schulen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4232F"/>
                </a:solidFill>
              </a:rPr>
              <a:t>Innovative Schulen arbeiten viel in Projekten: Alemannenschule Wutöschingen, Lernbüros (z. B. Oskar-Schindler-Gesamtschule Hildesheim), Frei-Day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4232F"/>
                </a:solidFill>
              </a:rPr>
              <a:t>KGS Gronau: Der Maschinenraum wurde zum MakerSpace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4232F"/>
                </a:solidFill>
              </a:rPr>
              <a:t>Naive Umsetzung: erst teure Anschaffungen, dann der Versuch, damit zu arbeiten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4232F"/>
                </a:solidFill>
              </a:rPr>
              <a:t>Badges als Leistungsdokumentation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04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MakerSpace statt Robotik-Fachraum</a:t>
            </a:r>
            <a:endParaRPr lang="en-US" sz="2800" dirty="0"/>
          </a:p>
        </p:txBody>
      </p:sp>
      <p:graphicFrame>
        <p:nvGraphicFramePr>
          <p:cNvPr id="10" name="table-2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2544"/>
                <a:gridCol w="4361688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</a:rPr>
                        <a:t>Robotik-Fachraum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</a:rPr>
                        <a:t>Raum für Projektlernen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4232F"/>
                          </a:solidFill>
                        </a:rPr>
                        <a:t>Ausgangspunkt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Gerät, Technologie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Problem oder Idee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4232F"/>
                          </a:solidFill>
                        </a:rPr>
                        <a:t>Nutzung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Kurs zum Gerät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Projekte aller Fächer und Gruppen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4232F"/>
                          </a:solidFill>
                        </a:rPr>
                        <a:t>Ausstattung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Klassensätze Hightech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Technologiemix analog und digital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4232F"/>
                          </a:solidFill>
                        </a:rPr>
                        <a:t>Lehrkraft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Instruktion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Lernbegleitung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4232F"/>
                          </a:solidFill>
                        </a:rPr>
                        <a:t>Ergebnis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gleiche Produkte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individuelle Prototypen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4232F"/>
                          </a:solidFill>
                        </a:rPr>
                        <a:t>Risiko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„Gerätefriedhof“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Überforderung ohne Rahmen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8"/>
                    </a:solidFill>
                  </a:tcPr>
                </a:tc>
              </a:tr>
            </a:tbl>
          </a:graphicData>
        </a:graphic>
      </p:graphicFrame>
      <p:sp>
        <p:nvSpPr>
          <p:cNvPr id="4" name="text-206"/>
          <p:cNvSpPr txBox="1"/>
          <p:nvPr/>
        </p:nvSpPr>
        <p:spPr>
          <a:xfrm>
            <a:off x="548640" y="580644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Aus dem MakerSpace-Kompass (eigene Darstellung). Hardware-Fokus verwässert das Bildungspotenzial (Liu 2018, zit. n. Maurer &amp; Ingold 2021).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07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Technik-Badges mit „Open Badges“</a:t>
            </a:r>
            <a:endParaRPr lang="en-US" sz="2800" dirty="0"/>
          </a:p>
        </p:txBody>
      </p:sp>
      <p:sp>
        <p:nvSpPr>
          <p:cNvPr id="3" name="tile-208"/>
          <p:cNvSpPr txBox="1"/>
          <p:nvPr/>
        </p:nvSpPr>
        <p:spPr>
          <a:xfrm>
            <a:off x="548640" y="1874520"/>
            <a:ext cx="3474720" cy="237744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35591"/>
                </a:solidFill>
              </a:rPr>
              <a:t>Dokumentation</a:t>
            </a:r>
            <a:endParaRPr lang="en-US" sz="2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von Kompetenzen</a:t>
            </a:r>
            <a:endParaRPr lang="en-US" sz="2600" dirty="0"/>
          </a:p>
        </p:txBody>
      </p:sp>
      <p:sp>
        <p:nvSpPr>
          <p:cNvPr id="4" name="tile-209"/>
          <p:cNvSpPr txBox="1"/>
          <p:nvPr/>
        </p:nvSpPr>
        <p:spPr>
          <a:xfrm>
            <a:off x="4297680" y="1874520"/>
            <a:ext cx="3474720" cy="237744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35591"/>
                </a:solidFill>
              </a:rPr>
              <a:t>übergreifend</a:t>
            </a:r>
            <a:endParaRPr lang="en-US" sz="2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institutionsübergreifend, nicht an eine Schule gebunden</a:t>
            </a:r>
            <a:endParaRPr lang="en-US" sz="2600" dirty="0"/>
          </a:p>
        </p:txBody>
      </p:sp>
      <p:sp>
        <p:nvSpPr>
          <p:cNvPr id="5" name="tile-210"/>
          <p:cNvSpPr txBox="1"/>
          <p:nvPr/>
        </p:nvSpPr>
        <p:spPr>
          <a:xfrm>
            <a:off x="8046720" y="1874520"/>
            <a:ext cx="3474720" cy="237744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35591"/>
                </a:solidFill>
              </a:rPr>
              <a:t>Nachweis</a:t>
            </a:r>
            <a:endParaRPr lang="en-US" sz="2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kann als Nachweis verwendet werden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11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Digitale Lernmaterialien selbst entwickeln</a:t>
            </a:r>
            <a:endParaRPr lang="en-US" sz="2800" dirty="0"/>
          </a:p>
        </p:txBody>
      </p:sp>
      <p:sp>
        <p:nvSpPr>
          <p:cNvPr id="3" name="text-212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Nicht „Kann ich das bauen?“, sondern „Ist das gut – und darf ich das teilen?“</a:t>
            </a:r>
            <a:endParaRPr lang="en-US" sz="2000" dirty="0"/>
          </a:p>
        </p:txBody>
      </p:sp>
      <p:sp>
        <p:nvSpPr>
          <p:cNvPr id="4" name="step-213"/>
          <p:cNvSpPr txBox="1"/>
          <p:nvPr/>
        </p:nvSpPr>
        <p:spPr>
          <a:xfrm>
            <a:off x="548640" y="2057400"/>
            <a:ext cx="1889699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35591"/>
                </a:solidFill>
              </a:rPr>
              <a:t>1 Material</a:t>
            </a:r>
            <a:endParaRPr lang="en-US" sz="1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Arbeitsblatt, KC</a:t>
            </a:r>
            <a:endParaRPr lang="en-US" sz="1900" dirty="0"/>
          </a:p>
        </p:txBody>
      </p:sp>
      <p:sp>
        <p:nvSpPr>
          <p:cNvPr id="5" name="arrow-214"/>
          <p:cNvSpPr/>
          <p:nvPr/>
        </p:nvSpPr>
        <p:spPr>
          <a:xfrm>
            <a:off x="2493203" y="269748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6" name="step-215"/>
          <p:cNvSpPr txBox="1"/>
          <p:nvPr/>
        </p:nvSpPr>
        <p:spPr>
          <a:xfrm>
            <a:off x="2849819" y="2057400"/>
            <a:ext cx="1889699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35591"/>
                </a:solidFill>
              </a:rPr>
              <a:t>2 Aufgaben</a:t>
            </a:r>
            <a:endParaRPr lang="en-US" sz="1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direkte Rückmeldung</a:t>
            </a:r>
            <a:endParaRPr lang="en-US" sz="1900" dirty="0"/>
          </a:p>
        </p:txBody>
      </p:sp>
      <p:sp>
        <p:nvSpPr>
          <p:cNvPr id="7" name="arrow-216"/>
          <p:cNvSpPr/>
          <p:nvPr/>
        </p:nvSpPr>
        <p:spPr>
          <a:xfrm>
            <a:off x="4794382" y="269748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8" name="step-217"/>
          <p:cNvSpPr txBox="1"/>
          <p:nvPr/>
        </p:nvSpPr>
        <p:spPr>
          <a:xfrm>
            <a:off x="5150998" y="2057400"/>
            <a:ext cx="1889699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35591"/>
                </a:solidFill>
              </a:rPr>
              <a:t>3 Test</a:t>
            </a:r>
            <a:endParaRPr lang="en-US" sz="1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Lernstand</a:t>
            </a:r>
            <a:endParaRPr lang="en-US" sz="1900" dirty="0"/>
          </a:p>
        </p:txBody>
      </p:sp>
      <p:sp>
        <p:nvSpPr>
          <p:cNvPr id="9" name="arrow-218"/>
          <p:cNvSpPr/>
          <p:nvPr/>
        </p:nvSpPr>
        <p:spPr>
          <a:xfrm>
            <a:off x="7095561" y="269748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10" name="step-219"/>
          <p:cNvSpPr txBox="1"/>
          <p:nvPr/>
        </p:nvSpPr>
        <p:spPr>
          <a:xfrm>
            <a:off x="7452177" y="2057400"/>
            <a:ext cx="1889699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35591"/>
                </a:solidFill>
              </a:rPr>
              <a:t>4 Sichern</a:t>
            </a:r>
            <a:endParaRPr lang="en-US" sz="1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Export, Notability</a:t>
            </a:r>
            <a:endParaRPr lang="en-US" sz="1900" dirty="0"/>
          </a:p>
        </p:txBody>
      </p:sp>
      <p:sp>
        <p:nvSpPr>
          <p:cNvPr id="11" name="arrow-220"/>
          <p:cNvSpPr/>
          <p:nvPr/>
        </p:nvSpPr>
        <p:spPr>
          <a:xfrm>
            <a:off x="9396740" y="269748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12" name="step-221"/>
          <p:cNvSpPr txBox="1"/>
          <p:nvPr/>
        </p:nvSpPr>
        <p:spPr>
          <a:xfrm>
            <a:off x="9753356" y="2057400"/>
            <a:ext cx="1889699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35591"/>
                </a:solidFill>
              </a:rPr>
              <a:t>5 Teilen</a:t>
            </a:r>
            <a:endParaRPr lang="en-US" sz="1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CC BY-NC-SA</a:t>
            </a:r>
            <a:endParaRPr lang="en-US" sz="1900" dirty="0"/>
          </a:p>
        </p:txBody>
      </p:sp>
      <p:sp>
        <p:nvSpPr>
          <p:cNvPr id="13" name="tile-222"/>
          <p:cNvSpPr txBox="1"/>
          <p:nvPr/>
        </p:nvSpPr>
        <p:spPr>
          <a:xfrm>
            <a:off x="548640" y="3749040"/>
            <a:ext cx="5440680" cy="1965960"/>
          </a:xfrm>
          <a:prstGeom prst="rect">
            <a:avLst/>
          </a:prstGeom>
          <a:solidFill>
            <a:srgbClr val="E2F4E8"/>
          </a:solidFill>
          <a:ln w="6350">
            <a:solidFill>
              <a:srgbClr val="E2F4E8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803F"/>
                </a:solidFill>
              </a:rPr>
              <a:t>Chancen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passgenau zu Unterricht und KC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direkte Rückmeldung, Differenzierung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teilbar als OER</a:t>
            </a:r>
            <a:endParaRPr lang="en-US" sz="2000" dirty="0"/>
          </a:p>
        </p:txBody>
      </p:sp>
      <p:sp>
        <p:nvSpPr>
          <p:cNvPr id="14" name="tile-223"/>
          <p:cNvSpPr txBox="1"/>
          <p:nvPr/>
        </p:nvSpPr>
        <p:spPr>
          <a:xfrm>
            <a:off x="6199632" y="3749040"/>
            <a:ext cx="5440680" cy="1965960"/>
          </a:xfrm>
          <a:prstGeom prst="rect">
            <a:avLst/>
          </a:prstGeom>
          <a:solidFill>
            <a:srgbClr val="FCE8E5"/>
          </a:solidFill>
          <a:ln w="6350">
            <a:solidFill>
              <a:srgbClr val="FCE8E5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23B2E"/>
                </a:solidFill>
              </a:rPr>
              <a:t>Grenzen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fachliche Prüfung bleibt bei der Lehrkraft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Datenschutz: keine Konten, keine Schülerdaten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Urheberrecht: nur klar lizenzierte Inhalte</a:t>
            </a:r>
            <a:endParaRPr lang="en-US" sz="2000" dirty="0"/>
          </a:p>
        </p:txBody>
      </p:sp>
      <p:sp>
        <p:nvSpPr>
          <p:cNvPr id="15" name="text-224"/>
          <p:cNvSpPr txBox="1"/>
          <p:nvPr/>
        </p:nvSpPr>
        <p:spPr>
          <a:xfrm>
            <a:off x="548640" y="585216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Arbeitsweise bei den Lernplattformen von deinTechniklehrer (z. B. Arduino, 3D-Druck, MakerSpace-Kompass, diese Plattform). Eigene Darstellung.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25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KI-Lernplattformen</a:t>
            </a:r>
            <a:endParaRPr lang="en-US" sz="2800" dirty="0"/>
          </a:p>
        </p:txBody>
      </p:sp>
      <p:sp>
        <p:nvSpPr>
          <p:cNvPr id="3" name="tile-226"/>
          <p:cNvSpPr txBox="1"/>
          <p:nvPr/>
        </p:nvSpPr>
        <p:spPr>
          <a:xfrm>
            <a:off x="548640" y="1874520"/>
            <a:ext cx="3474720" cy="29260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35591"/>
                </a:solidFill>
              </a:rPr>
              <a:t>KI-Kompetenz als Lernziel</a:t>
            </a:r>
            <a:endParaRPr lang="en-US" sz="2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z. B. AI Badge in drei Leveln für die Jahrgänge 7–9</a:t>
            </a:r>
            <a:endParaRPr lang="en-US" sz="2400" dirty="0"/>
          </a:p>
        </p:txBody>
      </p:sp>
      <p:sp>
        <p:nvSpPr>
          <p:cNvPr id="4" name="tile-227"/>
          <p:cNvSpPr txBox="1"/>
          <p:nvPr/>
        </p:nvSpPr>
        <p:spPr>
          <a:xfrm>
            <a:off x="4297680" y="1874520"/>
            <a:ext cx="3474720" cy="29260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35591"/>
                </a:solidFill>
              </a:rPr>
              <a:t>Schul-KI</a:t>
            </a:r>
            <a:endParaRPr lang="en-US" sz="2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Zugänge für Schüler:innen über die Lehrkräfte, z. B. fobizz</a:t>
            </a:r>
            <a:endParaRPr lang="en-US" sz="2400" dirty="0"/>
          </a:p>
        </p:txBody>
      </p:sp>
      <p:sp>
        <p:nvSpPr>
          <p:cNvPr id="5" name="tile-228"/>
          <p:cNvSpPr txBox="1"/>
          <p:nvPr/>
        </p:nvSpPr>
        <p:spPr>
          <a:xfrm>
            <a:off x="8046720" y="1874520"/>
            <a:ext cx="3474720" cy="292608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35591"/>
                </a:solidFill>
              </a:rPr>
              <a:t>Offene Fragen</a:t>
            </a:r>
            <a:endParaRPr lang="en-US" sz="2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Datenschutz, Prüfungskultur, Verlernen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29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Gespräch</a:t>
            </a:r>
            <a:endParaRPr lang="en-US" sz="2800" dirty="0"/>
          </a:p>
        </p:txBody>
      </p:sp>
      <p:sp>
        <p:nvSpPr>
          <p:cNvPr id="3" name="box-230"/>
          <p:cNvSpPr txBox="1"/>
          <p:nvPr/>
        </p:nvSpPr>
        <p:spPr>
          <a:xfrm>
            <a:off x="548640" y="1691640"/>
            <a:ext cx="822960" cy="109728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?</a:t>
            </a:r>
            <a:endParaRPr lang="en-US" sz="3200" dirty="0"/>
          </a:p>
        </p:txBody>
      </p:sp>
      <p:sp>
        <p:nvSpPr>
          <p:cNvPr id="4" name="box-231"/>
          <p:cNvSpPr txBox="1"/>
          <p:nvPr/>
        </p:nvSpPr>
        <p:spPr>
          <a:xfrm>
            <a:off x="1508760" y="1691640"/>
            <a:ext cx="10134295" cy="109728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4232F"/>
                </a:solidFill>
              </a:rPr>
              <a:t>Was davon hast du in Praktika oder in deiner eigenen Schulzeit erlebt?</a:t>
            </a:r>
            <a:endParaRPr lang="en-US" sz="2400" dirty="0"/>
          </a:p>
        </p:txBody>
      </p:sp>
      <p:sp>
        <p:nvSpPr>
          <p:cNvPr id="5" name="box-232"/>
          <p:cNvSpPr txBox="1"/>
          <p:nvPr/>
        </p:nvSpPr>
        <p:spPr>
          <a:xfrm>
            <a:off x="548640" y="3017520"/>
            <a:ext cx="822960" cy="109728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?</a:t>
            </a:r>
            <a:endParaRPr lang="en-US" sz="3200" dirty="0"/>
          </a:p>
        </p:txBody>
      </p:sp>
      <p:sp>
        <p:nvSpPr>
          <p:cNvPr id="6" name="box-233"/>
          <p:cNvSpPr txBox="1"/>
          <p:nvPr/>
        </p:nvSpPr>
        <p:spPr>
          <a:xfrm>
            <a:off x="1508760" y="3017520"/>
            <a:ext cx="10134295" cy="109728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4232F"/>
                </a:solidFill>
              </a:rPr>
              <a:t>Welche Entwicklung hältst du für die wichtigste?</a:t>
            </a:r>
            <a:endParaRPr lang="en-US" sz="2400" dirty="0"/>
          </a:p>
        </p:txBody>
      </p:sp>
      <p:sp>
        <p:nvSpPr>
          <p:cNvPr id="7" name="box-234"/>
          <p:cNvSpPr txBox="1"/>
          <p:nvPr/>
        </p:nvSpPr>
        <p:spPr>
          <a:xfrm>
            <a:off x="548640" y="4343400"/>
            <a:ext cx="822960" cy="109728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?</a:t>
            </a:r>
            <a:endParaRPr lang="en-US" sz="3200" dirty="0"/>
          </a:p>
        </p:txBody>
      </p:sp>
      <p:sp>
        <p:nvSpPr>
          <p:cNvPr id="8" name="box-235"/>
          <p:cNvSpPr txBox="1"/>
          <p:nvPr/>
        </p:nvSpPr>
        <p:spPr>
          <a:xfrm>
            <a:off x="1508760" y="4343400"/>
            <a:ext cx="10134295" cy="109728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4232F"/>
                </a:solidFill>
              </a:rPr>
              <a:t>Was bedeutet das für deinen späteren Technikunterricht?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36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Dein Referat in Termin 4</a:t>
            </a:r>
            <a:endParaRPr lang="en-US" sz="2800" dirty="0"/>
          </a:p>
        </p:txBody>
      </p:sp>
      <p:sp>
        <p:nvSpPr>
          <p:cNvPr id="3" name="step-237"/>
          <p:cNvSpPr txBox="1"/>
          <p:nvPr/>
        </p:nvSpPr>
        <p:spPr>
          <a:xfrm>
            <a:off x="548640" y="1691640"/>
            <a:ext cx="1889699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Einleitung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Fragestellung</a:t>
            </a:r>
            <a:endParaRPr lang="en-US" sz="2000" dirty="0"/>
          </a:p>
        </p:txBody>
      </p:sp>
      <p:sp>
        <p:nvSpPr>
          <p:cNvPr id="4" name="arrow-238"/>
          <p:cNvSpPr/>
          <p:nvPr/>
        </p:nvSpPr>
        <p:spPr>
          <a:xfrm>
            <a:off x="2493203" y="251460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5" name="step-239"/>
          <p:cNvSpPr txBox="1"/>
          <p:nvPr/>
        </p:nvSpPr>
        <p:spPr>
          <a:xfrm>
            <a:off x="2849819" y="1691640"/>
            <a:ext cx="1889699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Klärung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Begriffe, Positionen</a:t>
            </a:r>
            <a:endParaRPr lang="en-US" sz="2000" dirty="0"/>
          </a:p>
        </p:txBody>
      </p:sp>
      <p:sp>
        <p:nvSpPr>
          <p:cNvPr id="6" name="arrow-240"/>
          <p:cNvSpPr/>
          <p:nvPr/>
        </p:nvSpPr>
        <p:spPr>
          <a:xfrm>
            <a:off x="4794382" y="251460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7" name="step-241"/>
          <p:cNvSpPr txBox="1"/>
          <p:nvPr/>
        </p:nvSpPr>
        <p:spPr>
          <a:xfrm>
            <a:off x="5150998" y="1691640"/>
            <a:ext cx="1889699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Hauptteil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Quellen, Praxis, Kritik</a:t>
            </a:r>
            <a:endParaRPr lang="en-US" sz="2000" dirty="0"/>
          </a:p>
        </p:txBody>
      </p:sp>
      <p:sp>
        <p:nvSpPr>
          <p:cNvPr id="8" name="arrow-242"/>
          <p:cNvSpPr/>
          <p:nvPr/>
        </p:nvSpPr>
        <p:spPr>
          <a:xfrm>
            <a:off x="7095561" y="251460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9" name="step-243"/>
          <p:cNvSpPr txBox="1"/>
          <p:nvPr/>
        </p:nvSpPr>
        <p:spPr>
          <a:xfrm>
            <a:off x="7452177" y="1691640"/>
            <a:ext cx="1889699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Fazit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Ansätze für die Diskussion</a:t>
            </a:r>
            <a:endParaRPr lang="en-US" sz="2000" dirty="0"/>
          </a:p>
        </p:txBody>
      </p:sp>
      <p:sp>
        <p:nvSpPr>
          <p:cNvPr id="10" name="arrow-244"/>
          <p:cNvSpPr/>
          <p:nvPr/>
        </p:nvSpPr>
        <p:spPr>
          <a:xfrm>
            <a:off x="9396740" y="251460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11" name="step-245"/>
          <p:cNvSpPr txBox="1"/>
          <p:nvPr/>
        </p:nvSpPr>
        <p:spPr>
          <a:xfrm>
            <a:off x="9753356" y="1691640"/>
            <a:ext cx="1889699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Diskussion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Fragen mit Impulsen</a:t>
            </a:r>
            <a:endParaRPr lang="en-US" sz="2000" dirty="0"/>
          </a:p>
        </p:txBody>
      </p:sp>
      <p:sp>
        <p:nvSpPr>
          <p:cNvPr id="12" name="aufgabe-246"/>
          <p:cNvSpPr txBox="1"/>
          <p:nvPr/>
        </p:nvSpPr>
        <p:spPr>
          <a:xfrm>
            <a:off x="548640" y="3703320"/>
            <a:ext cx="11094415" cy="1280160"/>
          </a:xfrm>
          <a:prstGeom prst="rect">
            <a:avLst/>
          </a:prstGeom>
          <a:solidFill>
            <a:srgbClr val="FFF3C9"/>
          </a:solidFill>
          <a:ln w="25400">
            <a:solidFill>
              <a:srgbClr val="F5B700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Aufgabe 3.2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Plane deinen Beitrag: Fragestellung, Quellen, Gliederung, Diskussionsfragen mit Impulsen.</a:t>
            </a:r>
            <a:endParaRPr lang="en-US" sz="2000" dirty="0"/>
          </a:p>
        </p:txBody>
      </p:sp>
      <p:sp>
        <p:nvSpPr>
          <p:cNvPr id="13" name="text-247"/>
          <p:cNvSpPr txBox="1"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56687A"/>
                </a:solidFill>
              </a:rPr>
              <a:t>Präsentation als PDF vor Beginn von Termin 4 einreichen.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48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Bis Termin 4: Aufgabenpaket 3</a:t>
            </a:r>
            <a:endParaRPr lang="en-US" sz="2800" dirty="0"/>
          </a:p>
        </p:txBody>
      </p:sp>
      <p:sp>
        <p:nvSpPr>
          <p:cNvPr id="3" name="tile-249"/>
          <p:cNvSpPr txBox="1"/>
          <p:nvPr/>
        </p:nvSpPr>
        <p:spPr>
          <a:xfrm>
            <a:off x="548640" y="1600200"/>
            <a:ext cx="5440680" cy="192024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Gespräch · 3.1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Dein Fazit zu den aktuellen Entwicklungen</a:t>
            </a:r>
            <a:endParaRPr lang="en-US" sz="2200" dirty="0"/>
          </a:p>
        </p:txBody>
      </p:sp>
      <p:sp>
        <p:nvSpPr>
          <p:cNvPr id="4" name="tile-250"/>
          <p:cNvSpPr txBox="1"/>
          <p:nvPr/>
        </p:nvSpPr>
        <p:spPr>
          <a:xfrm>
            <a:off x="6199632" y="1600200"/>
            <a:ext cx="5440680" cy="192024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Referat · 3.2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Beitrag planen, Präsentation erstellen</a:t>
            </a:r>
            <a:endParaRPr lang="en-US" sz="2200" dirty="0"/>
          </a:p>
        </p:txBody>
      </p:sp>
      <p:sp>
        <p:nvSpPr>
          <p:cNvPr id="5" name="link-251"/>
          <p:cNvSpPr txBox="1"/>
          <p:nvPr/>
        </p:nvSpPr>
        <p:spPr>
          <a:xfrm>
            <a:off x="548640" y="3931920"/>
            <a:ext cx="71323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32F"/>
                </a:solidFill>
              </a:rPr>
              <a:t>Kursseite: </a:t>
            </a:r>
            <a:pPr indent="0" marL="0">
              <a:buNone/>
            </a:pPr>
            <a:r>
              <a:rPr lang="en-US" sz="3000" b="1" u="sng" dirty="0">
                <a:solidFill>
                  <a:srgbClr val="03559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https://t1p.de/tdk-26</a:t>
            </a:r>
            <a:endParaRPr lang="en-US" sz="3000" dirty="0"/>
          </a:p>
        </p:txBody>
      </p:sp>
      <p:sp>
        <p:nvSpPr>
          <p:cNvPr id="6" name="text-252"/>
          <p:cNvSpPr txBox="1"/>
          <p:nvPr/>
        </p:nvSpPr>
        <p:spPr>
          <a:xfrm>
            <a:off x="548640" y="4663440"/>
            <a:ext cx="713232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32F"/>
                </a:solidFill>
              </a:rPr>
              <a:t>Vor Termin 4: Export „Nur Aufgabenpaket 3“ und Präsentation als PDF schicken</a:t>
            </a:r>
            <a:endParaRPr lang="en-US" sz="2000" dirty="0"/>
          </a:p>
        </p:txBody>
      </p:sp>
      <p:pic>
        <p:nvPicPr>
          <p:cNvPr id="7" name="qr-253" descr="QR-Code zur Kursseite: https://t1p.de/tdk-2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3703320"/>
            <a:ext cx="2103120" cy="2103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inTechniklehrer">
  <a:themeElements>
    <a:clrScheme name="deinTechniklehrer">
      <a:dk1>
        <a:srgbClr val="14232F"/>
      </a:dk1>
      <a:lt1>
        <a:srgbClr val="FFFFFF"/>
      </a:lt1>
      <a:dk2>
        <a:srgbClr val="023A63"/>
      </a:dk2>
      <a:lt2>
        <a:srgbClr val="EEF3F7"/>
      </a:lt2>
      <a:accent1>
        <a:srgbClr val="035591"/>
      </a:accent1>
      <a:accent2>
        <a:srgbClr val="F5B700"/>
      </a:accent2>
      <a:accent3>
        <a:srgbClr val="C2255C"/>
      </a:accent3>
      <a:accent4>
        <a:srgbClr val="D9480F"/>
      </a:accent4>
      <a:accent5>
        <a:srgbClr val="3B6E8F"/>
      </a:accent5>
      <a:accent6>
        <a:srgbClr val="17803F"/>
      </a:accent6>
      <a:hlink>
        <a:srgbClr val="035591"/>
      </a:hlink>
      <a:folHlink>
        <a:srgbClr val="56687A"/>
      </a:folHlink>
    </a:clrScheme>
    <a:fontScheme name="deinTechniklehr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Technikdidaktisches Kolloquium – Termin 3: Aktuelle Entwicklungen im Technikunterricht</dc:title>
  <dc:subject>Universität Hildesheim, WiSe 2026/27</dc:subject>
  <dc:creator>Daniel Beyrodt</dc:creator>
  <cp:lastModifiedBy>Daniel Beyrodt</cp:lastModifiedBy>
  <cp:revision>1</cp:revision>
  <dcterms:created xsi:type="dcterms:W3CDTF">2026-10-28T10:47:19Z</dcterms:created>
  <dcterms:modified xsi:type="dcterms:W3CDTF">2026-10-28T10:47:19Z</dcterms:modified>
</cp:coreProperties>
</file>