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Aufbau nach den Hinweisen für Studierende (Vortrag/Referat).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26080" y="20116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3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N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920240" cy="603504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29184"/>
            <a:ext cx="1737360" cy="4937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30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231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3 · Aktuelle Entwicklungen im Technikunterricht</a:t>
            </a:r>
            <a:endParaRPr lang="en-US" sz="2600" dirty="0"/>
          </a:p>
        </p:txBody>
      </p:sp>
      <p:sp>
        <p:nvSpPr>
          <p:cNvPr id="4" name="box-232"/>
          <p:cNvSpPr txBox="1"/>
          <p:nvPr/>
        </p:nvSpPr>
        <p:spPr>
          <a:xfrm>
            <a:off x="548640" y="356616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233"/>
          <p:cNvSpPr txBox="1"/>
          <p:nvPr/>
        </p:nvSpPr>
        <p:spPr>
          <a:xfrm>
            <a:off x="2560320" y="356616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Einführung · Technikbegriff · Technik im Fächerkanon</a:t>
            </a:r>
            <a:endParaRPr lang="en-US" sz="2200" dirty="0"/>
          </a:p>
        </p:txBody>
      </p:sp>
      <p:sp>
        <p:nvSpPr>
          <p:cNvPr id="6" name="box-234"/>
          <p:cNvSpPr txBox="1"/>
          <p:nvPr/>
        </p:nvSpPr>
        <p:spPr>
          <a:xfrm>
            <a:off x="548640" y="420624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235"/>
          <p:cNvSpPr txBox="1"/>
          <p:nvPr/>
        </p:nvSpPr>
        <p:spPr>
          <a:xfrm>
            <a:off x="2560320" y="420624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Besprechung Paket 1 · Der mehrperspektivische Technikunterricht</a:t>
            </a:r>
            <a:endParaRPr lang="en-US" sz="2200" dirty="0"/>
          </a:p>
        </p:txBody>
      </p:sp>
      <p:sp>
        <p:nvSpPr>
          <p:cNvPr id="8" name="box-236"/>
          <p:cNvSpPr txBox="1"/>
          <p:nvPr/>
        </p:nvSpPr>
        <p:spPr>
          <a:xfrm>
            <a:off x="548640" y="4846320"/>
            <a:ext cx="1828800" cy="530352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237"/>
          <p:cNvSpPr txBox="1"/>
          <p:nvPr/>
        </p:nvSpPr>
        <p:spPr>
          <a:xfrm>
            <a:off x="2560320" y="484632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Besprechung Paket 2 · Aktuelle Entwicklungen im Technikunterricht</a:t>
            </a:r>
            <a:endParaRPr lang="en-US" sz="2200" dirty="0"/>
          </a:p>
        </p:txBody>
      </p:sp>
      <p:sp>
        <p:nvSpPr>
          <p:cNvPr id="10" name="box-238"/>
          <p:cNvSpPr txBox="1"/>
          <p:nvPr/>
        </p:nvSpPr>
        <p:spPr>
          <a:xfrm>
            <a:off x="548640" y="548640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4</a:t>
            </a:r>
            <a:endParaRPr lang="en-US" sz="2000" dirty="0"/>
          </a:p>
        </p:txBody>
      </p:sp>
      <p:sp>
        <p:nvSpPr>
          <p:cNvPr id="11" name="text-239"/>
          <p:cNvSpPr txBox="1"/>
          <p:nvPr/>
        </p:nvSpPr>
        <p:spPr>
          <a:xfrm>
            <a:off x="2560320" y="548640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Referat oder Vortrag und Diskussion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Ablauf heute</a:t>
            </a:r>
            <a:endParaRPr lang="en-US" sz="2800" dirty="0"/>
          </a:p>
        </p:txBody>
      </p:sp>
      <p:sp>
        <p:nvSpPr>
          <p:cNvPr id="3" name="phase-241"/>
          <p:cNvSpPr txBox="1"/>
          <p:nvPr/>
        </p:nvSpPr>
        <p:spPr>
          <a:xfrm>
            <a:off x="548640" y="1783080"/>
            <a:ext cx="3423818" cy="2651760"/>
          </a:xfrm>
          <a:prstGeom prst="rect">
            <a:avLst/>
          </a:prstGeom>
          <a:solidFill>
            <a:srgbClr val="E2F4E8"/>
          </a:solidFill>
          <a:ln w="31750">
            <a:solidFill>
              <a:srgbClr val="17803F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803F"/>
                </a:solidFill>
              </a:rPr>
              <a:t>Besprechung</a:t>
            </a:r>
            <a:endParaRPr lang="en-US" sz="2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Aufgabenpaket 2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800" b="1" dirty="0">
                <a:solidFill>
                  <a:srgbClr val="14232F"/>
                </a:solidFill>
              </a:rPr>
              <a:t>Folien 3–4</a:t>
            </a:r>
            <a:endParaRPr lang="en-US" sz="2200" dirty="0"/>
          </a:p>
        </p:txBody>
      </p:sp>
      <p:sp>
        <p:nvSpPr>
          <p:cNvPr id="4" name="arrow-242"/>
          <p:cNvSpPr/>
          <p:nvPr/>
        </p:nvSpPr>
        <p:spPr>
          <a:xfrm>
            <a:off x="4027322" y="3108960"/>
            <a:ext cx="301752" cy="91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5" name="phase-243"/>
          <p:cNvSpPr txBox="1"/>
          <p:nvPr/>
        </p:nvSpPr>
        <p:spPr>
          <a:xfrm>
            <a:off x="4383938" y="1783080"/>
            <a:ext cx="3423818" cy="2651760"/>
          </a:xfrm>
          <a:prstGeom prst="rect">
            <a:avLst/>
          </a:prstGeom>
          <a:solidFill>
            <a:srgbClr val="DDE9F1"/>
          </a:solidFill>
          <a:ln w="31750">
            <a:solidFill>
              <a:srgbClr val="035591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Impuls</a:t>
            </a:r>
            <a:endParaRPr lang="en-US" sz="2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Impuls und Gespräch: aktuelle Entwicklungen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800" b="1" dirty="0">
                <a:solidFill>
                  <a:srgbClr val="14232F"/>
                </a:solidFill>
              </a:rPr>
              <a:t>Folien 5–16</a:t>
            </a:r>
            <a:endParaRPr lang="en-US" sz="2200" dirty="0"/>
          </a:p>
        </p:txBody>
      </p:sp>
      <p:sp>
        <p:nvSpPr>
          <p:cNvPr id="6" name="arrow-244"/>
          <p:cNvSpPr/>
          <p:nvPr/>
        </p:nvSpPr>
        <p:spPr>
          <a:xfrm>
            <a:off x="7862621" y="3108960"/>
            <a:ext cx="301752" cy="91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7" name="phase-245"/>
          <p:cNvSpPr txBox="1"/>
          <p:nvPr/>
        </p:nvSpPr>
        <p:spPr>
          <a:xfrm>
            <a:off x="8219237" y="1783080"/>
            <a:ext cx="3423818" cy="2651760"/>
          </a:xfrm>
          <a:prstGeom prst="rect">
            <a:avLst/>
          </a:prstGeom>
          <a:solidFill>
            <a:srgbClr val="FFF3C9"/>
          </a:solidFill>
          <a:ln w="317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</a:rPr>
              <a:t>Aufgaben für zu Hause</a:t>
            </a:r>
            <a:endParaRPr lang="en-US" sz="2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Aufgabenpaket 3: Fazit und Referat vorbereiten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800" b="1" dirty="0">
                <a:solidFill>
                  <a:srgbClr val="14232F"/>
                </a:solidFill>
              </a:rPr>
              <a:t>Folien 17–19</a:t>
            </a:r>
            <a:endParaRPr lang="en-US" sz="2200" dirty="0"/>
          </a:p>
        </p:txBody>
      </p:sp>
      <p:sp>
        <p:nvSpPr>
          <p:cNvPr id="8" name="text-246"/>
          <p:cNvSpPr txBox="1"/>
          <p:nvPr/>
        </p:nvSpPr>
        <p:spPr>
          <a:xfrm>
            <a:off x="548640" y="4754880"/>
            <a:ext cx="11094415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56687A"/>
                </a:solidFill>
              </a:rPr>
              <a:t>Ab „Aufgaben für zu Hause“: die Aufgaben bis zum nächsten Termin – bearbeiten auf der Lernplattform unter „Zu Hause“.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247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7803F"/>
          </a:solidFill>
          <a:ln/>
        </p:spPr>
      </p:sp>
      <p:sp>
        <p:nvSpPr>
          <p:cNvPr id="3" name="box-248"/>
          <p:cNvSpPr txBox="1"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solidFill>
            <a:srgbClr val="17803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BESPRECHUNG</a:t>
            </a:r>
            <a:endParaRPr lang="en-US" sz="2400" dirty="0"/>
          </a:p>
        </p:txBody>
      </p:sp>
      <p:sp>
        <p:nvSpPr>
          <p:cNvPr id="4" name="titel-249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32F"/>
                </a:solidFill>
              </a:rPr>
              <a:t>Besprechung: Aufgabenpaket 2</a:t>
            </a:r>
            <a:endParaRPr lang="en-US" sz="4000" dirty="0"/>
          </a:p>
        </p:txBody>
      </p:sp>
      <p:sp>
        <p:nvSpPr>
          <p:cNvPr id="5" name="text-250"/>
          <p:cNvSpPr txBox="1"/>
          <p:nvPr/>
        </p:nvSpPr>
        <p:spPr>
          <a:xfrm>
            <a:off x="822960" y="4480560"/>
            <a:ext cx="106070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56687A"/>
                </a:solidFill>
              </a:rPr>
              <a:t>Im Termin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51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17803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Besprechung</a:t>
            </a:r>
            <a:endParaRPr lang="en-US" sz="1400" dirty="0"/>
          </a:p>
        </p:txBody>
      </p:sp>
      <p:sp>
        <p:nvSpPr>
          <p:cNvPr id="3" name="titel-25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Besprechung: mehrperspektivischer Technikunterricht</a:t>
            </a:r>
            <a:endParaRPr lang="en-US" sz="2800" dirty="0"/>
          </a:p>
        </p:txBody>
      </p:sp>
      <p:sp>
        <p:nvSpPr>
          <p:cNvPr id="4" name="ntile-253"/>
          <p:cNvSpPr txBox="1"/>
          <p:nvPr/>
        </p:nvSpPr>
        <p:spPr>
          <a:xfrm>
            <a:off x="548640" y="1783080"/>
            <a:ext cx="3515258" cy="329184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2.1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Erkenntnis- und Zielperspektiven in eigenen Worten</a:t>
            </a:r>
            <a:endParaRPr lang="en-US" sz="3400" dirty="0"/>
          </a:p>
        </p:txBody>
      </p:sp>
      <p:sp>
        <p:nvSpPr>
          <p:cNvPr id="5" name="ntile-254"/>
          <p:cNvSpPr txBox="1"/>
          <p:nvPr/>
        </p:nvSpPr>
        <p:spPr>
          <a:xfrm>
            <a:off x="4338218" y="1783080"/>
            <a:ext cx="3515258" cy="329184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2.2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Wie mehrperspektivisch ist das KC?</a:t>
            </a:r>
            <a:endParaRPr lang="en-US" sz="3400" dirty="0"/>
          </a:p>
        </p:txBody>
      </p:sp>
      <p:sp>
        <p:nvSpPr>
          <p:cNvPr id="6" name="ntile-255"/>
          <p:cNvSpPr txBox="1"/>
          <p:nvPr/>
        </p:nvSpPr>
        <p:spPr>
          <a:xfrm>
            <a:off x="8127797" y="1783080"/>
            <a:ext cx="3515258" cy="3291840"/>
          </a:xfrm>
          <a:prstGeom prst="rect">
            <a:avLst/>
          </a:prstGeom>
          <a:solidFill>
            <a:srgbClr val="FFF3C9"/>
          </a:solidFill>
          <a:ln w="190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2.3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Welche Inhaltsfelder fehlen im KC – und warum?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E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256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35591"/>
          </a:solidFill>
          <a:ln/>
        </p:spPr>
      </p:sp>
      <p:sp>
        <p:nvSpPr>
          <p:cNvPr id="3" name="box-257"/>
          <p:cNvSpPr txBox="1"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IMPULS</a:t>
            </a:r>
            <a:endParaRPr lang="en-US" sz="2400" dirty="0"/>
          </a:p>
        </p:txBody>
      </p:sp>
      <p:sp>
        <p:nvSpPr>
          <p:cNvPr id="4" name="titel-258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32F"/>
                </a:solidFill>
              </a:rPr>
              <a:t>Impuls und Gespräch: Aktuelle Entwicklungen im Technikunterricht</a:t>
            </a:r>
            <a:endParaRPr lang="en-US" sz="4000" dirty="0"/>
          </a:p>
        </p:txBody>
      </p:sp>
      <p:sp>
        <p:nvSpPr>
          <p:cNvPr id="5" name="text-259"/>
          <p:cNvSpPr txBox="1"/>
          <p:nvPr/>
        </p:nvSpPr>
        <p:spPr>
          <a:xfrm>
            <a:off x="822960" y="4480560"/>
            <a:ext cx="106070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56687A"/>
                </a:solidFill>
              </a:rPr>
              <a:t>Im Termin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60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6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Aktuelle Entwicklungen im Technikunterricht</a:t>
            </a:r>
            <a:endParaRPr lang="en-US" sz="2800" dirty="0"/>
          </a:p>
        </p:txBody>
      </p:sp>
      <p:sp>
        <p:nvSpPr>
          <p:cNvPr id="4" name="text-26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Woher kommt das Lagebild?</a:t>
            </a:r>
            <a:endParaRPr lang="en-US" sz="2200" dirty="0"/>
          </a:p>
        </p:txBody>
      </p:sp>
      <p:sp>
        <p:nvSpPr>
          <p:cNvPr id="5" name="tile-263"/>
          <p:cNvSpPr txBox="1"/>
          <p:nvPr/>
        </p:nvSpPr>
        <p:spPr>
          <a:xfrm>
            <a:off x="548640" y="2148840"/>
            <a:ext cx="347472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Fachberatung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Austausch landesweit</a:t>
            </a:r>
            <a:endParaRPr lang="en-US" sz="2200" dirty="0"/>
          </a:p>
        </p:txBody>
      </p:sp>
      <p:sp>
        <p:nvSpPr>
          <p:cNvPr id="6" name="tile-264"/>
          <p:cNvSpPr txBox="1"/>
          <p:nvPr/>
        </p:nvSpPr>
        <p:spPr>
          <a:xfrm>
            <a:off x="4297680" y="2148840"/>
            <a:ext cx="347472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Fachmoderation AWT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Dienstbesprechungen der Fachbereichsleitungen</a:t>
            </a:r>
            <a:endParaRPr lang="en-US" sz="2200" dirty="0"/>
          </a:p>
        </p:txBody>
      </p:sp>
      <p:sp>
        <p:nvSpPr>
          <p:cNvPr id="7" name="tile-265"/>
          <p:cNvSpPr txBox="1"/>
          <p:nvPr/>
        </p:nvSpPr>
        <p:spPr>
          <a:xfrm>
            <a:off x="8046720" y="2148840"/>
            <a:ext cx="3474720" cy="178308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Tagungen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Netzwerktagung AWT, Jahrestagung der didaktischen Leitungen</a:t>
            </a:r>
            <a:endParaRPr lang="en-US" sz="2200" dirty="0"/>
          </a:p>
        </p:txBody>
      </p:sp>
      <p:sp>
        <p:nvSpPr>
          <p:cNvPr id="8" name="tile-266"/>
          <p:cNvSpPr txBox="1"/>
          <p:nvPr/>
        </p:nvSpPr>
        <p:spPr>
          <a:xfrm>
            <a:off x="548640" y="4114800"/>
            <a:ext cx="347472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Fortbildungen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Kompetenzzentren, NLQ</a:t>
            </a:r>
            <a:endParaRPr lang="en-US" sz="2200" dirty="0"/>
          </a:p>
        </p:txBody>
      </p:sp>
      <p:sp>
        <p:nvSpPr>
          <p:cNvPr id="9" name="tile-267"/>
          <p:cNvSpPr txBox="1"/>
          <p:nvPr/>
        </p:nvSpPr>
        <p:spPr>
          <a:xfrm>
            <a:off x="4297680" y="4114800"/>
            <a:ext cx="347472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DGTB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Deutsche Gesellschaft für Technische Bildung</a:t>
            </a:r>
            <a:endParaRPr lang="en-US" sz="2200" dirty="0"/>
          </a:p>
        </p:txBody>
      </p:sp>
      <p:sp>
        <p:nvSpPr>
          <p:cNvPr id="10" name="tile-268"/>
          <p:cNvSpPr txBox="1"/>
          <p:nvPr/>
        </p:nvSpPr>
        <p:spPr>
          <a:xfrm>
            <a:off x="8046720" y="4114800"/>
            <a:ext cx="3474720" cy="1783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Netzwerke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Netzwerk Techniklehrkräfte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69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7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Probleme in Schulen</a:t>
            </a:r>
            <a:endParaRPr lang="en-US" sz="2800" dirty="0"/>
          </a:p>
        </p:txBody>
      </p:sp>
      <p:sp>
        <p:nvSpPr>
          <p:cNvPr id="4" name="list-271"/>
          <p:cNvSpPr txBox="1"/>
          <p:nvPr/>
        </p:nvSpPr>
        <p:spPr>
          <a:xfrm>
            <a:off x="548640" y="1691640"/>
            <a:ext cx="11094415" cy="4023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32F"/>
                </a:solidFill>
              </a:rPr>
              <a:t>Lehrkräftemangel: Kürzungen im WPK-Bereich in praktischen Fächern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32F"/>
                </a:solidFill>
              </a:rPr>
              <a:t>Schwierigkeiten mit BBS-Kooperationen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32F"/>
                </a:solidFill>
              </a:rPr>
              <a:t>Anzahl ausgebildeter Lehrkräfte im Fach Technik nimmt ab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32F"/>
                </a:solidFill>
              </a:rPr>
              <a:t>Fachraumausstattung verschlechtert sich an vielen Schulen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4232F"/>
                </a:solidFill>
              </a:rPr>
              <a:t>Werkräume werden teilweise zu Klassenräumen</a:t>
            </a:r>
            <a:endParaRPr lang="en-US" sz="2400" dirty="0"/>
          </a:p>
        </p:txBody>
      </p:sp>
      <p:sp>
        <p:nvSpPr>
          <p:cNvPr id="5" name="text-272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Beobachtungen aus Fachberatung und Fachmoderation, Stand 2024.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73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7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Digitalisierung im Fach Technik</a:t>
            </a:r>
            <a:endParaRPr lang="en-US" sz="2800" dirty="0"/>
          </a:p>
        </p:txBody>
      </p:sp>
      <p:sp>
        <p:nvSpPr>
          <p:cNvPr id="4" name="tile-275"/>
          <p:cNvSpPr txBox="1"/>
          <p:nvPr/>
        </p:nvSpPr>
        <p:spPr>
          <a:xfrm>
            <a:off x="548640" y="1600200"/>
            <a:ext cx="3474720" cy="365760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n-21 „Masterplan Digitalisierung“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54 Projektschulen Mensch-Roboter-Kollaboration (Robonatives)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19 Projektschulen Additive Fertigung (3D-Druck)</a:t>
            </a:r>
            <a:endParaRPr lang="en-US" sz="2000" dirty="0"/>
          </a:p>
        </p:txBody>
      </p:sp>
      <p:sp>
        <p:nvSpPr>
          <p:cNvPr id="5" name="tile-276"/>
          <p:cNvSpPr txBox="1"/>
          <p:nvPr/>
        </p:nvSpPr>
        <p:spPr>
          <a:xfrm>
            <a:off x="4297680" y="1600200"/>
            <a:ext cx="3474720" cy="365760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3D-Druck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NLQ: Moodle-Selbstlernkurs „3D-Druck ohne Vorkenntnisse“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viele Fortbildungen, meist mit Tinkercad</a:t>
            </a:r>
            <a:endParaRPr lang="en-US" sz="2000" dirty="0"/>
          </a:p>
        </p:txBody>
      </p:sp>
      <p:sp>
        <p:nvSpPr>
          <p:cNvPr id="6" name="tile-277"/>
          <p:cNvSpPr txBox="1"/>
          <p:nvPr/>
        </p:nvSpPr>
        <p:spPr>
          <a:xfrm>
            <a:off x="8046720" y="1600200"/>
            <a:ext cx="3593592" cy="365760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Nachfrage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mehr Interesse an Digitalisierung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Fortbildungen zu Arduino und 3D-Druck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großes Interesse an Lasercuttern</a:t>
            </a:r>
            <a:endParaRPr lang="en-US" sz="2000" dirty="0"/>
          </a:p>
        </p:txBody>
      </p:sp>
      <p:sp>
        <p:nvSpPr>
          <p:cNvPr id="7" name="text-278"/>
          <p:cNvSpPr txBox="1"/>
          <p:nvPr/>
        </p:nvSpPr>
        <p:spPr>
          <a:xfrm>
            <a:off x="548640" y="54864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Zahlen der Projektschulen: Stand Januar 2024 (Seminarfolien WiSe 2023/24).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79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8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Lehrkräfteausbildung und Kerncurricula</a:t>
            </a:r>
            <a:endParaRPr lang="en-US" sz="2800" dirty="0"/>
          </a:p>
        </p:txBody>
      </p:sp>
      <p:sp>
        <p:nvSpPr>
          <p:cNvPr id="4" name="tile-281"/>
          <p:cNvSpPr txBox="1"/>
          <p:nvPr/>
        </p:nvSpPr>
        <p:spPr>
          <a:xfrm>
            <a:off x="548640" y="1600200"/>
            <a:ext cx="5440680" cy="34747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Lehrkräfteausbildung an der Universität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Digitalisierung im Fach Technik implementiert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keine steigenden Studierendenzahlen im Fach Technik</a:t>
            </a:r>
            <a:endParaRPr lang="en-US" sz="2200" dirty="0"/>
          </a:p>
        </p:txBody>
      </p:sp>
      <p:sp>
        <p:nvSpPr>
          <p:cNvPr id="5" name="tile-282"/>
          <p:cNvSpPr txBox="1"/>
          <p:nvPr/>
        </p:nvSpPr>
        <p:spPr>
          <a:xfrm>
            <a:off x="6199632" y="1600200"/>
            <a:ext cx="5440680" cy="34747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Kerncurricula und Erlasse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KC Technik (Realschule): keine Neuauflage geplant (Stand 01/2024)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IGS: KC Arbeit-Wirtschaft-Technik (MK 2023)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IGS-Erlass v. 01.08.2026: Projektunterricht in jedem Schuljahrgang (Nr. 4.3)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83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8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Fort- und Weiterbildung der Lehrkräfte</a:t>
            </a:r>
            <a:endParaRPr lang="en-US" sz="2800" dirty="0"/>
          </a:p>
        </p:txBody>
      </p:sp>
      <p:sp>
        <p:nvSpPr>
          <p:cNvPr id="4" name="tile-285"/>
          <p:cNvSpPr txBox="1"/>
          <p:nvPr/>
        </p:nvSpPr>
        <p:spPr>
          <a:xfrm>
            <a:off x="548640" y="1600200"/>
            <a:ext cx="5440680" cy="37490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Kompetenzzentren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Maschinenschein: Angebote immer noch nicht ausreichend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Maschinenschein nicht mehr obligatorisch – Schulen wissen das oft nicht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Probleme beim Akquirieren von Referent:innen</a:t>
            </a:r>
            <a:endParaRPr lang="en-US" sz="2200" dirty="0"/>
          </a:p>
        </p:txBody>
      </p:sp>
      <p:sp>
        <p:nvSpPr>
          <p:cNvPr id="5" name="tile-286"/>
          <p:cNvSpPr txBox="1"/>
          <p:nvPr/>
        </p:nvSpPr>
        <p:spPr>
          <a:xfrm>
            <a:off x="6199632" y="1600200"/>
            <a:ext cx="5440680" cy="37490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RLSB und NLQ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Fachmoderation und Fachberatung unterstützen die Kompetenzzentren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NLQ: Qualifizierung für fachfremd Unterrichtende im Fach Technik (3 Jahre, 20 Lehrkräfte)</a:t>
            </a:r>
            <a:endParaRPr lang="en-US" sz="2200" dirty="0"/>
          </a:p>
        </p:txBody>
      </p:sp>
      <p:sp>
        <p:nvSpPr>
          <p:cNvPr id="6" name="text-287"/>
          <p:cNvSpPr txBox="1"/>
          <p:nvPr/>
        </p:nvSpPr>
        <p:spPr>
          <a:xfrm>
            <a:off x="548640" y="55778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Stand 2024 (Seminarfolien WiSe 2023/24 und 2024/25).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88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8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MakerSpaces</a:t>
            </a:r>
            <a:endParaRPr lang="en-US" sz="2800" dirty="0"/>
          </a:p>
        </p:txBody>
      </p:sp>
      <p:sp>
        <p:nvSpPr>
          <p:cNvPr id="4" name="list-290"/>
          <p:cNvSpPr txBox="1"/>
          <p:nvPr/>
        </p:nvSpPr>
        <p:spPr>
          <a:xfrm>
            <a:off x="548640" y="1691640"/>
            <a:ext cx="11094415" cy="4389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Interesse an allgemein- und berufsbildenden Schulen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Innovative Schulen arbeiten viel in Projekten: Alemannenschule Wutöschingen, Lernbüros (z. B. Oskar-Schindler-Gesamtschule Hildesheim), Frei-Day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KGS Gronau: Der Maschinenraum wurde zum MakerSpace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Naive Umsetzung: erst teure Anschaffungen, dann der Versuch, damit zu arbeiten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4232F"/>
                </a:solidFill>
              </a:rPr>
              <a:t>Badges als Leistungsdokumentation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91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9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MakerSpace statt Robotik-Fachraum</a:t>
            </a:r>
            <a:endParaRPr lang="en-US" sz="2800" dirty="0"/>
          </a:p>
        </p:txBody>
      </p:sp>
      <p:graphicFrame>
        <p:nvGraphicFramePr>
          <p:cNvPr id="13" name="table-2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2544"/>
                <a:gridCol w="4361688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</a:rPr>
                        <a:t>Robotik-Fachraum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</a:rPr>
                        <a:t>Raum für Projektlernen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Ausgangspunkt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Gerät, Technologie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Problem oder Idee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Nutzung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Kurs zum Gerät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Projekte aller Fächer und Gruppen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Ausstattung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Klassensätze Hightech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Technologiemix analog und digital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Lehrkraft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Instruktion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Lernbegleitung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Ergebnis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gleiche Produkte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individuelle Prototypen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4232F"/>
                          </a:solidFill>
                        </a:rPr>
                        <a:t>Risiko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„Gerätefriedhof“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4232F"/>
                          </a:solidFill>
                        </a:rPr>
                        <a:t>Überforderung ohne Rahmen</a:t>
                      </a:r>
                      <a:endParaRPr lang="en-US" sz="19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4E8"/>
                    </a:solidFill>
                  </a:tcPr>
                </a:tc>
              </a:tr>
            </a:tbl>
          </a:graphicData>
        </a:graphic>
      </p:graphicFrame>
      <p:sp>
        <p:nvSpPr>
          <p:cNvPr id="5" name="text-294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Aus dem MakerSpace-Kompass (eigene Darstellung). Hardware-Fokus verwässert das Bildungspotenzial (Liu 2018, zit. n. Maurer &amp; Ingold 2021).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95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29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Technik-Badges mit „Open Badges“</a:t>
            </a:r>
            <a:endParaRPr lang="en-US" sz="2800" dirty="0"/>
          </a:p>
        </p:txBody>
      </p:sp>
      <p:sp>
        <p:nvSpPr>
          <p:cNvPr id="4" name="tile-297"/>
          <p:cNvSpPr txBox="1"/>
          <p:nvPr/>
        </p:nvSpPr>
        <p:spPr>
          <a:xfrm>
            <a:off x="548640" y="18745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Dokumentation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von Kompetenzen</a:t>
            </a:r>
            <a:endParaRPr lang="en-US" sz="2600" dirty="0"/>
          </a:p>
        </p:txBody>
      </p:sp>
      <p:sp>
        <p:nvSpPr>
          <p:cNvPr id="5" name="tile-298"/>
          <p:cNvSpPr txBox="1"/>
          <p:nvPr/>
        </p:nvSpPr>
        <p:spPr>
          <a:xfrm>
            <a:off x="4297680" y="18745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übergreifend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institutionsübergreifend, nicht an eine Schule gebunden</a:t>
            </a:r>
            <a:endParaRPr lang="en-US" sz="2600" dirty="0"/>
          </a:p>
        </p:txBody>
      </p:sp>
      <p:sp>
        <p:nvSpPr>
          <p:cNvPr id="6" name="tile-299"/>
          <p:cNvSpPr txBox="1"/>
          <p:nvPr/>
        </p:nvSpPr>
        <p:spPr>
          <a:xfrm>
            <a:off x="8046720" y="1874520"/>
            <a:ext cx="3474720" cy="23774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Nachweis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kann als Nachweis verwendet werden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300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30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Digitale Lernmaterialien selbst entwickeln</a:t>
            </a:r>
            <a:endParaRPr lang="en-US" sz="2800" dirty="0"/>
          </a:p>
        </p:txBody>
      </p:sp>
      <p:sp>
        <p:nvSpPr>
          <p:cNvPr id="4" name="text-302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Nicht „Kann ich das bauen?“, sondern „Ist das gut – und darf ich das teilen?“</a:t>
            </a:r>
            <a:endParaRPr lang="en-US" sz="2000" dirty="0"/>
          </a:p>
        </p:txBody>
      </p:sp>
      <p:sp>
        <p:nvSpPr>
          <p:cNvPr id="5" name="step-303"/>
          <p:cNvSpPr txBox="1"/>
          <p:nvPr/>
        </p:nvSpPr>
        <p:spPr>
          <a:xfrm>
            <a:off x="548640" y="2057400"/>
            <a:ext cx="1889699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35591"/>
                </a:solidFill>
              </a:rPr>
              <a:t>1 Material</a:t>
            </a:r>
            <a:endParaRPr lang="en-US" sz="1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Arbeitsblatt, KC</a:t>
            </a:r>
            <a:endParaRPr lang="en-US" sz="1900" dirty="0"/>
          </a:p>
        </p:txBody>
      </p:sp>
      <p:sp>
        <p:nvSpPr>
          <p:cNvPr id="6" name="arrow-304"/>
          <p:cNvSpPr/>
          <p:nvPr/>
        </p:nvSpPr>
        <p:spPr>
          <a:xfrm>
            <a:off x="2493203" y="26974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305"/>
          <p:cNvSpPr txBox="1"/>
          <p:nvPr/>
        </p:nvSpPr>
        <p:spPr>
          <a:xfrm>
            <a:off x="2849819" y="2057400"/>
            <a:ext cx="1889699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35591"/>
                </a:solidFill>
              </a:rPr>
              <a:t>2 Aufgaben</a:t>
            </a:r>
            <a:endParaRPr lang="en-US" sz="1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direkte Rückmeldung</a:t>
            </a:r>
            <a:endParaRPr lang="en-US" sz="1900" dirty="0"/>
          </a:p>
        </p:txBody>
      </p:sp>
      <p:sp>
        <p:nvSpPr>
          <p:cNvPr id="8" name="arrow-306"/>
          <p:cNvSpPr/>
          <p:nvPr/>
        </p:nvSpPr>
        <p:spPr>
          <a:xfrm>
            <a:off x="4794382" y="26974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9" name="step-307"/>
          <p:cNvSpPr txBox="1"/>
          <p:nvPr/>
        </p:nvSpPr>
        <p:spPr>
          <a:xfrm>
            <a:off x="5150998" y="2057400"/>
            <a:ext cx="1889699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35591"/>
                </a:solidFill>
              </a:rPr>
              <a:t>3 Test</a:t>
            </a:r>
            <a:endParaRPr lang="en-US" sz="1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Lernstand</a:t>
            </a:r>
            <a:endParaRPr lang="en-US" sz="1900" dirty="0"/>
          </a:p>
        </p:txBody>
      </p:sp>
      <p:sp>
        <p:nvSpPr>
          <p:cNvPr id="10" name="arrow-308"/>
          <p:cNvSpPr/>
          <p:nvPr/>
        </p:nvSpPr>
        <p:spPr>
          <a:xfrm>
            <a:off x="7095561" y="26974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1" name="step-309"/>
          <p:cNvSpPr txBox="1"/>
          <p:nvPr/>
        </p:nvSpPr>
        <p:spPr>
          <a:xfrm>
            <a:off x="7452177" y="2057400"/>
            <a:ext cx="1889699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35591"/>
                </a:solidFill>
              </a:rPr>
              <a:t>4 Sichern</a:t>
            </a:r>
            <a:endParaRPr lang="en-US" sz="1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Export, Notability</a:t>
            </a:r>
            <a:endParaRPr lang="en-US" sz="1900" dirty="0"/>
          </a:p>
        </p:txBody>
      </p:sp>
      <p:sp>
        <p:nvSpPr>
          <p:cNvPr id="12" name="arrow-310"/>
          <p:cNvSpPr/>
          <p:nvPr/>
        </p:nvSpPr>
        <p:spPr>
          <a:xfrm>
            <a:off x="9396740" y="269748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3" name="step-311"/>
          <p:cNvSpPr txBox="1"/>
          <p:nvPr/>
        </p:nvSpPr>
        <p:spPr>
          <a:xfrm>
            <a:off x="9753356" y="2057400"/>
            <a:ext cx="1889699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35591"/>
                </a:solidFill>
              </a:rPr>
              <a:t>5 Teilen</a:t>
            </a:r>
            <a:endParaRPr lang="en-US" sz="1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CC BY-NC-SA</a:t>
            </a:r>
            <a:endParaRPr lang="en-US" sz="1900" dirty="0"/>
          </a:p>
        </p:txBody>
      </p:sp>
      <p:sp>
        <p:nvSpPr>
          <p:cNvPr id="14" name="tile-312"/>
          <p:cNvSpPr txBox="1"/>
          <p:nvPr/>
        </p:nvSpPr>
        <p:spPr>
          <a:xfrm>
            <a:off x="548640" y="3749040"/>
            <a:ext cx="5440680" cy="196596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803F"/>
                </a:solidFill>
              </a:rPr>
              <a:t>Chancen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passgenau zu Unterricht und KC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direkte Rückmeldung, Differenzierung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teilbar als OER</a:t>
            </a:r>
            <a:endParaRPr lang="en-US" sz="2000" dirty="0"/>
          </a:p>
        </p:txBody>
      </p:sp>
      <p:sp>
        <p:nvSpPr>
          <p:cNvPr id="15" name="tile-313"/>
          <p:cNvSpPr txBox="1"/>
          <p:nvPr/>
        </p:nvSpPr>
        <p:spPr>
          <a:xfrm>
            <a:off x="6199632" y="3749040"/>
            <a:ext cx="5440680" cy="196596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23B2E"/>
                </a:solidFill>
              </a:rPr>
              <a:t>Grenzen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fachliche Prüfung bleibt bei der Lehrkraft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Datenschutz: keine Konten, keine Schülerdaten</a:t>
            </a:r>
            <a:endParaRPr lang="en-US" sz="20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Urheberrecht: nur klar lizenzierte Inhalte</a:t>
            </a:r>
            <a:endParaRPr lang="en-US" sz="2000" dirty="0"/>
          </a:p>
        </p:txBody>
      </p:sp>
      <p:sp>
        <p:nvSpPr>
          <p:cNvPr id="16" name="text-314"/>
          <p:cNvSpPr txBox="1"/>
          <p:nvPr/>
        </p:nvSpPr>
        <p:spPr>
          <a:xfrm>
            <a:off x="548640" y="58521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Arbeitsweise bei den Lernplattformen von deinTechniklehrer (z. B. Arduino, 3D-Druck, MakerSpace-Kompass, diese Plattform). Eigene Darstellung.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315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31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KI-Lernplattformen</a:t>
            </a:r>
            <a:endParaRPr lang="en-US" sz="2800" dirty="0"/>
          </a:p>
        </p:txBody>
      </p:sp>
      <p:sp>
        <p:nvSpPr>
          <p:cNvPr id="4" name="tile-317"/>
          <p:cNvSpPr txBox="1"/>
          <p:nvPr/>
        </p:nvSpPr>
        <p:spPr>
          <a:xfrm>
            <a:off x="548640" y="1874520"/>
            <a:ext cx="3474720" cy="2926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KI-Kompetenz als Lernziel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z. B. AI Badge in drei Leveln für die Jahrgänge 7–9</a:t>
            </a:r>
            <a:endParaRPr lang="en-US" sz="2400" dirty="0"/>
          </a:p>
        </p:txBody>
      </p:sp>
      <p:sp>
        <p:nvSpPr>
          <p:cNvPr id="5" name="tile-318"/>
          <p:cNvSpPr txBox="1"/>
          <p:nvPr/>
        </p:nvSpPr>
        <p:spPr>
          <a:xfrm>
            <a:off x="4297680" y="1874520"/>
            <a:ext cx="3474720" cy="2926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Schul-KI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Zugänge für Schüler:innen über die Lehrkräfte, z. B. fobizz</a:t>
            </a:r>
            <a:endParaRPr lang="en-US" sz="2400" dirty="0"/>
          </a:p>
        </p:txBody>
      </p:sp>
      <p:sp>
        <p:nvSpPr>
          <p:cNvPr id="6" name="tile-319"/>
          <p:cNvSpPr txBox="1"/>
          <p:nvPr/>
        </p:nvSpPr>
        <p:spPr>
          <a:xfrm>
            <a:off x="8046720" y="1874520"/>
            <a:ext cx="3474720" cy="292608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Offene Fragen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Datenschutz, Prüfungskultur, Verlernen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320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32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Gespräch</a:t>
            </a:r>
            <a:endParaRPr lang="en-US" sz="2800" dirty="0"/>
          </a:p>
        </p:txBody>
      </p:sp>
      <p:sp>
        <p:nvSpPr>
          <p:cNvPr id="4" name="box-322"/>
          <p:cNvSpPr txBox="1"/>
          <p:nvPr/>
        </p:nvSpPr>
        <p:spPr>
          <a:xfrm>
            <a:off x="548640" y="1691640"/>
            <a:ext cx="82296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?</a:t>
            </a:r>
            <a:endParaRPr lang="en-US" sz="3200" dirty="0"/>
          </a:p>
        </p:txBody>
      </p:sp>
      <p:sp>
        <p:nvSpPr>
          <p:cNvPr id="5" name="box-323"/>
          <p:cNvSpPr txBox="1"/>
          <p:nvPr/>
        </p:nvSpPr>
        <p:spPr>
          <a:xfrm>
            <a:off x="1508760" y="1691640"/>
            <a:ext cx="10134295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4232F"/>
                </a:solidFill>
              </a:rPr>
              <a:t>Was davon hast du in Praktika oder in deiner eigenen Schulzeit erlebt?</a:t>
            </a:r>
            <a:endParaRPr lang="en-US" sz="2400" dirty="0"/>
          </a:p>
        </p:txBody>
      </p:sp>
      <p:sp>
        <p:nvSpPr>
          <p:cNvPr id="6" name="box-324"/>
          <p:cNvSpPr txBox="1"/>
          <p:nvPr/>
        </p:nvSpPr>
        <p:spPr>
          <a:xfrm>
            <a:off x="548640" y="3017520"/>
            <a:ext cx="82296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?</a:t>
            </a:r>
            <a:endParaRPr lang="en-US" sz="3200" dirty="0"/>
          </a:p>
        </p:txBody>
      </p:sp>
      <p:sp>
        <p:nvSpPr>
          <p:cNvPr id="7" name="box-325"/>
          <p:cNvSpPr txBox="1"/>
          <p:nvPr/>
        </p:nvSpPr>
        <p:spPr>
          <a:xfrm>
            <a:off x="1508760" y="3017520"/>
            <a:ext cx="10134295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4232F"/>
                </a:solidFill>
              </a:rPr>
              <a:t>Welche Entwicklung hältst du für die wichtigste?</a:t>
            </a:r>
            <a:endParaRPr lang="en-US" sz="2400" dirty="0"/>
          </a:p>
        </p:txBody>
      </p:sp>
      <p:sp>
        <p:nvSpPr>
          <p:cNvPr id="8" name="box-326"/>
          <p:cNvSpPr txBox="1"/>
          <p:nvPr/>
        </p:nvSpPr>
        <p:spPr>
          <a:xfrm>
            <a:off x="548640" y="4343400"/>
            <a:ext cx="822960" cy="10972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?</a:t>
            </a:r>
            <a:endParaRPr lang="en-US" sz="3200" dirty="0"/>
          </a:p>
        </p:txBody>
      </p:sp>
      <p:sp>
        <p:nvSpPr>
          <p:cNvPr id="9" name="box-327"/>
          <p:cNvSpPr txBox="1"/>
          <p:nvPr/>
        </p:nvSpPr>
        <p:spPr>
          <a:xfrm>
            <a:off x="1508760" y="4343400"/>
            <a:ext cx="10134295" cy="109728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4232F"/>
                </a:solidFill>
              </a:rPr>
              <a:t>Was bedeutet das für deinen späteren Technikunterricht?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328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B700"/>
          </a:solidFill>
          <a:ln/>
        </p:spPr>
      </p:sp>
      <p:sp>
        <p:nvSpPr>
          <p:cNvPr id="3" name="box-329"/>
          <p:cNvSpPr txBox="1"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2F"/>
                </a:solidFill>
              </a:rPr>
              <a:t>AUFGABEN FÜR ZU HAUSE</a:t>
            </a:r>
            <a:endParaRPr lang="en-US" sz="2400" dirty="0"/>
          </a:p>
        </p:txBody>
      </p:sp>
      <p:sp>
        <p:nvSpPr>
          <p:cNvPr id="4" name="titel-330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32F"/>
                </a:solidFill>
              </a:rPr>
              <a:t>Aufgabenpaket 3: Fazit und Referat vorbereiten</a:t>
            </a:r>
            <a:endParaRPr lang="en-US" sz="4000" dirty="0"/>
          </a:p>
        </p:txBody>
      </p:sp>
      <p:sp>
        <p:nvSpPr>
          <p:cNvPr id="5" name="text-331"/>
          <p:cNvSpPr txBox="1"/>
          <p:nvPr/>
        </p:nvSpPr>
        <p:spPr>
          <a:xfrm>
            <a:off x="822960" y="4480560"/>
            <a:ext cx="106070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56687A"/>
                </a:solidFill>
              </a:rPr>
              <a:t>Zu Hause bearbeiten · fertig bis Termin 4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332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33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Dein Referat in Termin 4</a:t>
            </a:r>
            <a:endParaRPr lang="en-US" sz="2800" dirty="0"/>
          </a:p>
        </p:txBody>
      </p:sp>
      <p:sp>
        <p:nvSpPr>
          <p:cNvPr id="4" name="step-334"/>
          <p:cNvSpPr txBox="1"/>
          <p:nvPr/>
        </p:nvSpPr>
        <p:spPr>
          <a:xfrm>
            <a:off x="548640" y="1691640"/>
            <a:ext cx="1889699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Einleitung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Fragestellung</a:t>
            </a:r>
            <a:endParaRPr lang="en-US" sz="2000" dirty="0"/>
          </a:p>
        </p:txBody>
      </p:sp>
      <p:sp>
        <p:nvSpPr>
          <p:cNvPr id="5" name="arrow-335"/>
          <p:cNvSpPr/>
          <p:nvPr/>
        </p:nvSpPr>
        <p:spPr>
          <a:xfrm>
            <a:off x="2493203" y="25146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step-336"/>
          <p:cNvSpPr txBox="1"/>
          <p:nvPr/>
        </p:nvSpPr>
        <p:spPr>
          <a:xfrm>
            <a:off x="2849819" y="1691640"/>
            <a:ext cx="1889699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Klärung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Begriffe, Positionen</a:t>
            </a:r>
            <a:endParaRPr lang="en-US" sz="2000" dirty="0"/>
          </a:p>
        </p:txBody>
      </p:sp>
      <p:sp>
        <p:nvSpPr>
          <p:cNvPr id="7" name="arrow-337"/>
          <p:cNvSpPr/>
          <p:nvPr/>
        </p:nvSpPr>
        <p:spPr>
          <a:xfrm>
            <a:off x="4794382" y="25146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8" name="step-338"/>
          <p:cNvSpPr txBox="1"/>
          <p:nvPr/>
        </p:nvSpPr>
        <p:spPr>
          <a:xfrm>
            <a:off x="5150998" y="1691640"/>
            <a:ext cx="1889699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Hauptteil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Quellen, Praxis, Kritik</a:t>
            </a:r>
            <a:endParaRPr lang="en-US" sz="2000" dirty="0"/>
          </a:p>
        </p:txBody>
      </p:sp>
      <p:sp>
        <p:nvSpPr>
          <p:cNvPr id="9" name="arrow-339"/>
          <p:cNvSpPr/>
          <p:nvPr/>
        </p:nvSpPr>
        <p:spPr>
          <a:xfrm>
            <a:off x="7095561" y="25146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0" name="step-340"/>
          <p:cNvSpPr txBox="1"/>
          <p:nvPr/>
        </p:nvSpPr>
        <p:spPr>
          <a:xfrm>
            <a:off x="7452177" y="1691640"/>
            <a:ext cx="1889699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Fazit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Ansätze für die Diskussion</a:t>
            </a:r>
            <a:endParaRPr lang="en-US" sz="2000" dirty="0"/>
          </a:p>
        </p:txBody>
      </p:sp>
      <p:sp>
        <p:nvSpPr>
          <p:cNvPr id="11" name="arrow-341"/>
          <p:cNvSpPr/>
          <p:nvPr/>
        </p:nvSpPr>
        <p:spPr>
          <a:xfrm>
            <a:off x="9396740" y="25146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12" name="step-342"/>
          <p:cNvSpPr txBox="1"/>
          <p:nvPr/>
        </p:nvSpPr>
        <p:spPr>
          <a:xfrm>
            <a:off x="9753356" y="1691640"/>
            <a:ext cx="1889699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Diskussion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600" dirty="0">
                <a:solidFill>
                  <a:srgbClr val="14232F"/>
                </a:solidFill>
              </a:rPr>
              <a:t>Fragen mit Impulsen</a:t>
            </a:r>
            <a:endParaRPr lang="en-US" sz="2000" dirty="0"/>
          </a:p>
        </p:txBody>
      </p:sp>
      <p:sp>
        <p:nvSpPr>
          <p:cNvPr id="13" name="aufgabe-343"/>
          <p:cNvSpPr txBox="1"/>
          <p:nvPr/>
        </p:nvSpPr>
        <p:spPr>
          <a:xfrm>
            <a:off x="548640" y="3703320"/>
            <a:ext cx="11094415" cy="128016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Aufgabe 3.2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Plane deinen Beitrag: Fragestellung, Quellen, Gliederung, Diskussionsfragen mit Impulsen.</a:t>
            </a:r>
            <a:endParaRPr lang="en-US" sz="2000" dirty="0"/>
          </a:p>
        </p:txBody>
      </p:sp>
      <p:sp>
        <p:nvSpPr>
          <p:cNvPr id="14" name="text-344"/>
          <p:cNvSpPr txBox="1"/>
          <p:nvPr/>
        </p:nvSpPr>
        <p:spPr>
          <a:xfrm>
            <a:off x="548640" y="5212080"/>
            <a:ext cx="11094415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56687A"/>
                </a:solidFill>
              </a:rPr>
              <a:t>Präsentation als PDF vor Beginn von Termin 4 einreichen.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345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34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4: Aufgabenpaket 3</a:t>
            </a:r>
            <a:endParaRPr lang="en-US" sz="2800" dirty="0"/>
          </a:p>
        </p:txBody>
      </p:sp>
      <p:sp>
        <p:nvSpPr>
          <p:cNvPr id="4" name="tile-347"/>
          <p:cNvSpPr txBox="1"/>
          <p:nvPr/>
        </p:nvSpPr>
        <p:spPr>
          <a:xfrm>
            <a:off x="548640" y="1600200"/>
            <a:ext cx="5440680" cy="19202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Gespräch · 3.1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Dein Fazit zu den aktuellen Entwicklungen</a:t>
            </a:r>
            <a:endParaRPr lang="en-US" sz="2200" dirty="0"/>
          </a:p>
        </p:txBody>
      </p:sp>
      <p:sp>
        <p:nvSpPr>
          <p:cNvPr id="5" name="tile-348"/>
          <p:cNvSpPr txBox="1"/>
          <p:nvPr/>
        </p:nvSpPr>
        <p:spPr>
          <a:xfrm>
            <a:off x="6199632" y="1600200"/>
            <a:ext cx="544068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Referat · 3.2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Beitrag planen, Präsentation erstellen</a:t>
            </a:r>
            <a:endParaRPr lang="en-US" sz="2200" dirty="0"/>
          </a:p>
        </p:txBody>
      </p:sp>
      <p:sp>
        <p:nvSpPr>
          <p:cNvPr id="6" name="link-349"/>
          <p:cNvSpPr txBox="1"/>
          <p:nvPr/>
        </p:nvSpPr>
        <p:spPr>
          <a:xfrm>
            <a:off x="5486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7" name="text-350"/>
          <p:cNvSpPr txBox="1"/>
          <p:nvPr/>
        </p:nvSpPr>
        <p:spPr>
          <a:xfrm>
            <a:off x="548640" y="4663440"/>
            <a:ext cx="713232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Vor Termin 4: Export „Nur Aufgabenpaket 3“ und Präsentation als PDF schicken</a:t>
            </a:r>
            <a:endParaRPr lang="en-US" sz="2000" dirty="0"/>
          </a:p>
        </p:txBody>
      </p:sp>
      <p:pic>
        <p:nvPicPr>
          <p:cNvPr id="8" name="qr-351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03320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3: Aktuelle Entwicklungen im Technikunterricht</dc:title>
  <dc:subject>Universität Hildesheim, WiSe 2026/27</dc:subject>
  <dc:creator>Daniel Beyrodt</dc:creator>
  <cp:lastModifiedBy>Daniel Beyrodt</cp:lastModifiedBy>
  <cp:revision>1</cp:revision>
  <dcterms:created xsi:type="dcterms:W3CDTF">2026-10-28T11:06:13Z</dcterms:created>
  <dcterms:modified xsi:type="dcterms:W3CDTF">2026-10-28T11:06:13Z</dcterms:modified>
</cp:coreProperties>
</file>