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Ablauf: drei Termine mit Input und Gespräch, dazwischen Aufgabenpakete auf der Lernplattform.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 fragen, dann auflösen: ein wissenschaftliches Gespräch.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Zwei Wege zu den LP: Referat 20 Min. plus Diskussion plus Ausarbeitung über 10 Seiten, oder Vortrag 40 Min. plus Diskussion ohne Ausarbeitung. In beiden Fällen PDF der Präsentation vorher einreichen.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Gesprächseinstieg. Begriffe als Impuls: Was davon ist Technik? Warum?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Arbeitsauftrag für Paket 1 ankündigen: KC und Ropohl vergleichen.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Länderübersicht ist veraltet – das ist Teil der Aufgabe im Paket: aktuellen Stand in Primärquellen prüfen.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und QR-Code zur Kursseite (TaskCard): https://t1p.de/tdk-26. Dort in der Spalte Aufgaben der Link zur Lernplattform.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f0df0622-abb2-5c0a-a841-b1a0cebc56b9/scratchpad/ppt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1168"/>
            <a:ext cx="1609344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201168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6687A"/>
                </a:solidFill>
              </a:rPr>
              <a:t>Technikdidaktisches Kolloquium · Termin 1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2700">
            <a:solidFill>
              <a:srgbClr val="C9D4D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87A"/>
                </a:solidFill>
              </a:rPr>
              <a:t>Daniel Beyrodt · Universität Hildesheim · WiSe 2026/27 · CC BY-NC-SA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2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926080" cy="9601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tmp/claude-0/-home-claude/f0df0622-abb2-5c0a-a841-b1a0cebc56b9/scratchpad/ppt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6517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6"/>
                </a:solidFill>
              </a:rPr>
              <a:t>Daniel Beyrodt · Universität Hildesheim · WiSe 2026/27 · CC BY-NC-SA 4.0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Wj-KTcxjLqs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t1p.de/tdk-26" TargetMode="External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t1p.de/tdk-26" TargetMode="External"/><Relationship Id="rId2" Type="http://schemas.openxmlformats.org/officeDocument/2006/relationships/image" Target="../media/image-1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Technikdidaktisches Kolloquium</a:t>
            </a:r>
            <a:endParaRPr lang="en-US" sz="4400" dirty="0"/>
          </a:p>
        </p:txBody>
      </p:sp>
      <p:sp>
        <p:nvSpPr>
          <p:cNvPr id="3" name="text-2"/>
          <p:cNvSpPr txBox="1"/>
          <p:nvPr/>
        </p:nvSpPr>
        <p:spPr>
          <a:xfrm>
            <a:off x="548640" y="2880360"/>
            <a:ext cx="10972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B700"/>
                </a:solidFill>
              </a:rPr>
              <a:t>Termin 1 · Technik und Technikunterricht</a:t>
            </a:r>
            <a:endParaRPr lang="en-US" sz="2600" dirty="0"/>
          </a:p>
        </p:txBody>
      </p:sp>
      <p:sp>
        <p:nvSpPr>
          <p:cNvPr id="4" name="box-3"/>
          <p:cNvSpPr txBox="1"/>
          <p:nvPr/>
        </p:nvSpPr>
        <p:spPr>
          <a:xfrm>
            <a:off x="548640" y="3611880"/>
            <a:ext cx="1828800" cy="566928"/>
          </a:xfrm>
          <a:prstGeom prst="rect">
            <a:avLst/>
          </a:prstGeom>
          <a:solidFill>
            <a:srgbClr val="F5B7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2F"/>
                </a:solidFill>
              </a:rPr>
              <a:t>Termin 1</a:t>
            </a:r>
            <a:endParaRPr lang="en-US" sz="2000" dirty="0"/>
          </a:p>
        </p:txBody>
      </p:sp>
      <p:sp>
        <p:nvSpPr>
          <p:cNvPr id="5" name="text-4"/>
          <p:cNvSpPr txBox="1"/>
          <p:nvPr/>
        </p:nvSpPr>
        <p:spPr>
          <a:xfrm>
            <a:off x="2560320" y="3611880"/>
            <a:ext cx="89611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Technikbegriff · Technik im Fächerkanon</a:t>
            </a:r>
            <a:endParaRPr lang="en-US" sz="2200" dirty="0"/>
          </a:p>
        </p:txBody>
      </p:sp>
      <p:sp>
        <p:nvSpPr>
          <p:cNvPr id="6" name="box-5"/>
          <p:cNvSpPr txBox="1"/>
          <p:nvPr/>
        </p:nvSpPr>
        <p:spPr>
          <a:xfrm>
            <a:off x="548640" y="4325112"/>
            <a:ext cx="1828800" cy="566928"/>
          </a:xfrm>
          <a:prstGeom prst="rect">
            <a:avLst/>
          </a:prstGeom>
          <a:solidFill>
            <a:srgbClr val="0F4F7E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Termin 2</a:t>
            </a:r>
            <a:endParaRPr lang="en-US" sz="2000" dirty="0"/>
          </a:p>
        </p:txBody>
      </p:sp>
      <p:sp>
        <p:nvSpPr>
          <p:cNvPr id="7" name="text-6"/>
          <p:cNvSpPr txBox="1"/>
          <p:nvPr/>
        </p:nvSpPr>
        <p:spPr>
          <a:xfrm>
            <a:off x="2560320" y="4325112"/>
            <a:ext cx="89611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8E6"/>
                </a:solidFill>
              </a:rPr>
              <a:t>Mehrperspektivischer Technikunterricht · Methoden und Modelle</a:t>
            </a:r>
            <a:endParaRPr lang="en-US" sz="2200" dirty="0"/>
          </a:p>
        </p:txBody>
      </p:sp>
      <p:sp>
        <p:nvSpPr>
          <p:cNvPr id="8" name="box-7"/>
          <p:cNvSpPr txBox="1"/>
          <p:nvPr/>
        </p:nvSpPr>
        <p:spPr>
          <a:xfrm>
            <a:off x="548640" y="5038344"/>
            <a:ext cx="1828800" cy="566928"/>
          </a:xfrm>
          <a:prstGeom prst="rect">
            <a:avLst/>
          </a:prstGeom>
          <a:solidFill>
            <a:srgbClr val="0F4F7E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Termin 3</a:t>
            </a:r>
            <a:endParaRPr lang="en-US" sz="2000" dirty="0"/>
          </a:p>
        </p:txBody>
      </p:sp>
      <p:sp>
        <p:nvSpPr>
          <p:cNvPr id="9" name="text-8"/>
          <p:cNvSpPr txBox="1"/>
          <p:nvPr/>
        </p:nvSpPr>
        <p:spPr>
          <a:xfrm>
            <a:off x="2560320" y="5038344"/>
            <a:ext cx="89611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8E6"/>
                </a:solidFill>
              </a:rPr>
              <a:t>Aktuelle Entwicklungen · Leistungsbewertung · Impulsreferat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9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Was ist ein Kolloquium?</a:t>
            </a:r>
            <a:endParaRPr lang="en-US" sz="2800" dirty="0"/>
          </a:p>
        </p:txBody>
      </p:sp>
      <p:sp>
        <p:nvSpPr>
          <p:cNvPr id="3" name="text-10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C9D4DE"/>
                </a:solidFill>
              </a:rPr>
              <a:t>?</a:t>
            </a:r>
            <a:endParaRPr lang="en-US" sz="12000" dirty="0"/>
          </a:p>
        </p:txBody>
      </p:sp>
      <p:sp>
        <p:nvSpPr>
          <p:cNvPr id="4" name="box-11"/>
          <p:cNvSpPr txBox="1"/>
          <p:nvPr/>
        </p:nvSpPr>
        <p:spPr>
          <a:xfrm>
            <a:off x="2468880" y="4206240"/>
            <a:ext cx="7315200" cy="1097280"/>
          </a:xfrm>
          <a:prstGeom prst="rect">
            <a:avLst/>
          </a:prstGeom>
          <a:solidFill>
            <a:srgbClr val="FFF3C9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35591"/>
                </a:solidFill>
              </a:rPr>
              <a:t>ein wissenschaftliches Gespräch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2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So läuft das Kolloquium</a:t>
            </a:r>
            <a:endParaRPr lang="en-US" sz="2800" dirty="0"/>
          </a:p>
        </p:txBody>
      </p:sp>
      <p:sp>
        <p:nvSpPr>
          <p:cNvPr id="3" name="step-13"/>
          <p:cNvSpPr txBox="1"/>
          <p:nvPr/>
        </p:nvSpPr>
        <p:spPr>
          <a:xfrm>
            <a:off x="548640" y="1691640"/>
            <a:ext cx="2464994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Termin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700" dirty="0">
                <a:solidFill>
                  <a:srgbClr val="14232F"/>
                </a:solidFill>
              </a:rPr>
              <a:t>Input und Gespräch</a:t>
            </a:r>
            <a:endParaRPr lang="en-US" sz="2200" dirty="0"/>
          </a:p>
        </p:txBody>
      </p:sp>
      <p:sp>
        <p:nvSpPr>
          <p:cNvPr id="4" name="arrow-14"/>
          <p:cNvSpPr/>
          <p:nvPr/>
        </p:nvSpPr>
        <p:spPr>
          <a:xfrm>
            <a:off x="3068498" y="240030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5" name="step-15"/>
          <p:cNvSpPr txBox="1"/>
          <p:nvPr/>
        </p:nvSpPr>
        <p:spPr>
          <a:xfrm>
            <a:off x="3425114" y="1691640"/>
            <a:ext cx="2464994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Aufgabenpaket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700" dirty="0">
                <a:solidFill>
                  <a:srgbClr val="14232F"/>
                </a:solidFill>
              </a:rPr>
              <a:t>auf der Lernplattform, bis zum nächsten Termin</a:t>
            </a:r>
            <a:endParaRPr lang="en-US" sz="2200" dirty="0"/>
          </a:p>
        </p:txBody>
      </p:sp>
      <p:sp>
        <p:nvSpPr>
          <p:cNvPr id="6" name="arrow-16"/>
          <p:cNvSpPr/>
          <p:nvPr/>
        </p:nvSpPr>
        <p:spPr>
          <a:xfrm>
            <a:off x="5944972" y="240030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7" name="step-17"/>
          <p:cNvSpPr txBox="1"/>
          <p:nvPr/>
        </p:nvSpPr>
        <p:spPr>
          <a:xfrm>
            <a:off x="6301588" y="1691640"/>
            <a:ext cx="2464994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Export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700" dirty="0">
                <a:solidFill>
                  <a:srgbClr val="14232F"/>
                </a:solidFill>
              </a:rPr>
              <a:t>Ergebnisse als Word oder PDF vorher schicken</a:t>
            </a:r>
            <a:endParaRPr lang="en-US" sz="2200" dirty="0"/>
          </a:p>
        </p:txBody>
      </p:sp>
      <p:sp>
        <p:nvSpPr>
          <p:cNvPr id="8" name="arrow-18"/>
          <p:cNvSpPr/>
          <p:nvPr/>
        </p:nvSpPr>
        <p:spPr>
          <a:xfrm>
            <a:off x="8821445" y="240030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9" name="step-19"/>
          <p:cNvSpPr txBox="1"/>
          <p:nvPr/>
        </p:nvSpPr>
        <p:spPr>
          <a:xfrm>
            <a:off x="9178061" y="1691640"/>
            <a:ext cx="2464994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Nächster Termin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700" dirty="0">
                <a:solidFill>
                  <a:srgbClr val="14232F"/>
                </a:solidFill>
              </a:rPr>
              <a:t>Besprechung und neuer Input</a:t>
            </a:r>
            <a:endParaRPr lang="en-US" sz="2200" dirty="0"/>
          </a:p>
        </p:txBody>
      </p:sp>
      <p:sp>
        <p:nvSpPr>
          <p:cNvPr id="10" name="text-20"/>
          <p:cNvSpPr txBox="1"/>
          <p:nvPr/>
        </p:nvSpPr>
        <p:spPr>
          <a:xfrm>
            <a:off x="548640" y="3429000"/>
            <a:ext cx="329184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b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35591"/>
                </a:solidFill>
              </a:rPr>
              <a:t>3 LP</a:t>
            </a:r>
            <a:endParaRPr lang="en-US" sz="6600" dirty="0"/>
          </a:p>
        </p:txBody>
      </p:sp>
      <p:sp>
        <p:nvSpPr>
          <p:cNvPr id="11" name="text-21"/>
          <p:cNvSpPr txBox="1"/>
          <p:nvPr/>
        </p:nvSpPr>
        <p:spPr>
          <a:xfrm>
            <a:off x="548640" y="4572000"/>
            <a:ext cx="32918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32F"/>
                </a:solidFill>
              </a:rPr>
              <a:t>= 90 Std. bei 2 SWS, davon 30 Std. Präsenz</a:t>
            </a:r>
            <a:endParaRPr lang="en-US" sz="2000" dirty="0"/>
          </a:p>
        </p:txBody>
      </p:sp>
      <p:sp>
        <p:nvSpPr>
          <p:cNvPr id="12" name="tile-22"/>
          <p:cNvSpPr txBox="1"/>
          <p:nvPr/>
        </p:nvSpPr>
        <p:spPr>
          <a:xfrm>
            <a:off x="4206240" y="3474720"/>
            <a:ext cx="7434072" cy="237744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Zwei Wege zu den Leistungspunkten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Referat (20 Min.) + Diskussion + Ausarbeitung (über 10 Seiten)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oder: Vortrag (40 Min.) + Diskussion – ohne Ausarbeitung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800" dirty="0">
                <a:solidFill>
                  <a:srgbClr val="14232F"/>
                </a:solidFill>
              </a:rPr>
              <a:t>Präsentation als PDF vor Beginn einreichen</a:t>
            </a:r>
            <a:endParaRPr lang="en-US" sz="2200" dirty="0"/>
          </a:p>
        </p:txBody>
      </p:sp>
      <p:sp>
        <p:nvSpPr>
          <p:cNvPr id="13" name="text-23"/>
          <p:cNvSpPr txBox="1"/>
          <p:nvPr/>
        </p:nvSpPr>
        <p:spPr>
          <a:xfrm>
            <a:off x="548640" y="594360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Bei Krankheit: Abmeldung bis 7:00 Uhr am selben Tag per Mail. Hinweise zu Vortrag/Referat und Ausarbeitung: TaskCard und Lernplattform.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4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Was ist Technik – für dich?</a:t>
            </a:r>
            <a:endParaRPr lang="en-US" sz="2800" dirty="0"/>
          </a:p>
        </p:txBody>
      </p:sp>
      <p:sp>
        <p:nvSpPr>
          <p:cNvPr id="3" name="box-25"/>
          <p:cNvSpPr txBox="1"/>
          <p:nvPr/>
        </p:nvSpPr>
        <p:spPr>
          <a:xfrm>
            <a:off x="548640" y="1965960"/>
            <a:ext cx="11094415" cy="146304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35591"/>
                </a:solidFill>
              </a:rPr>
              <a:t>Spontan, in zwei Sätzen.</a:t>
            </a:r>
            <a:endParaRPr lang="en-US" sz="3000" dirty="0"/>
          </a:p>
        </p:txBody>
      </p:sp>
      <p:sp>
        <p:nvSpPr>
          <p:cNvPr id="4" name="box-26"/>
          <p:cNvSpPr txBox="1"/>
          <p:nvPr/>
        </p:nvSpPr>
        <p:spPr>
          <a:xfrm>
            <a:off x="548640" y="3931920"/>
            <a:ext cx="34747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DE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32F"/>
                </a:solidFill>
              </a:rPr>
              <a:t>Smartphone?</a:t>
            </a:r>
            <a:endParaRPr lang="en-US" sz="2200" dirty="0"/>
          </a:p>
        </p:txBody>
      </p:sp>
      <p:sp>
        <p:nvSpPr>
          <p:cNvPr id="5" name="box-27"/>
          <p:cNvSpPr txBox="1"/>
          <p:nvPr/>
        </p:nvSpPr>
        <p:spPr>
          <a:xfrm>
            <a:off x="4297680" y="3931920"/>
            <a:ext cx="34747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DE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32F"/>
                </a:solidFill>
              </a:rPr>
              <a:t>Holzlöffel?</a:t>
            </a:r>
            <a:endParaRPr lang="en-US" sz="2200" dirty="0"/>
          </a:p>
        </p:txBody>
      </p:sp>
      <p:sp>
        <p:nvSpPr>
          <p:cNvPr id="6" name="box-28"/>
          <p:cNvSpPr txBox="1"/>
          <p:nvPr/>
        </p:nvSpPr>
        <p:spPr>
          <a:xfrm>
            <a:off x="8046720" y="3931920"/>
            <a:ext cx="34747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DE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32F"/>
                </a:solidFill>
              </a:rPr>
              <a:t>Kläranlage?</a:t>
            </a:r>
            <a:endParaRPr lang="en-US" sz="2200" dirty="0"/>
          </a:p>
        </p:txBody>
      </p:sp>
      <p:sp>
        <p:nvSpPr>
          <p:cNvPr id="7" name="box-29"/>
          <p:cNvSpPr txBox="1"/>
          <p:nvPr/>
        </p:nvSpPr>
        <p:spPr>
          <a:xfrm>
            <a:off x="548640" y="4892040"/>
            <a:ext cx="34747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DE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32F"/>
                </a:solidFill>
              </a:rPr>
              <a:t>Programmieren?</a:t>
            </a:r>
            <a:endParaRPr lang="en-US" sz="2200" dirty="0"/>
          </a:p>
        </p:txBody>
      </p:sp>
      <p:sp>
        <p:nvSpPr>
          <p:cNvPr id="8" name="box-30"/>
          <p:cNvSpPr txBox="1"/>
          <p:nvPr/>
        </p:nvSpPr>
        <p:spPr>
          <a:xfrm>
            <a:off x="4297680" y="4892040"/>
            <a:ext cx="34747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DE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32F"/>
                </a:solidFill>
              </a:rPr>
              <a:t>Stricken?</a:t>
            </a:r>
            <a:endParaRPr lang="en-US" sz="2200" dirty="0"/>
          </a:p>
        </p:txBody>
      </p:sp>
      <p:sp>
        <p:nvSpPr>
          <p:cNvPr id="9" name="box-31"/>
          <p:cNvSpPr txBox="1"/>
          <p:nvPr/>
        </p:nvSpPr>
        <p:spPr>
          <a:xfrm>
            <a:off x="8046720" y="4892040"/>
            <a:ext cx="34747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4DE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32F"/>
                </a:solidFill>
              </a:rPr>
              <a:t>Ampelschaltung?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32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Ein Computer …</a:t>
            </a:r>
            <a:endParaRPr lang="en-US" sz="2800" dirty="0"/>
          </a:p>
        </p:txBody>
      </p:sp>
      <p:sp>
        <p:nvSpPr>
          <p:cNvPr id="3" name="quote-33"/>
          <p:cNvSpPr txBox="1"/>
          <p:nvPr/>
        </p:nvSpPr>
        <p:spPr>
          <a:xfrm>
            <a:off x="548640" y="1874520"/>
            <a:ext cx="11094415" cy="347472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228600" tIns="355600" rIns="355600" bIns="22860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32F"/>
                </a:solidFill>
              </a:rPr>
              <a:t>„Ein Computer wird erst wirklicher Computer, wenn er zum Teil einer Mensch-Maschine-Einheit geworden ist. […] erst die Arbeitseinheit von Mensch und Computer bringt die Textverarbeitung zuwege. […] bezeichne ich sie als soziotechnisches System.“</a:t>
            </a:r>
            <a:endParaRPr lang="en-US" sz="24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400" dirty="0">
                <a:solidFill>
                  <a:srgbClr val="56687A"/>
                </a:solidFill>
              </a:rPr>
              <a:t>Ropohl (2009): Allgemeine Technologie, S. 58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34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Ropohls Technikbegriff</a:t>
            </a:r>
            <a:endParaRPr lang="en-US" sz="2800" dirty="0"/>
          </a:p>
        </p:txBody>
      </p:sp>
      <p:sp>
        <p:nvSpPr>
          <p:cNvPr id="3" name="box-35"/>
          <p:cNvSpPr txBox="1"/>
          <p:nvPr/>
        </p:nvSpPr>
        <p:spPr>
          <a:xfrm>
            <a:off x="548640" y="17830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5B7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32F"/>
                </a:solidFill>
              </a:rPr>
              <a:t>a</a:t>
            </a:r>
            <a:endParaRPr lang="en-US" sz="2600" dirty="0"/>
          </a:p>
        </p:txBody>
      </p:sp>
      <p:sp>
        <p:nvSpPr>
          <p:cNvPr id="4" name="tile-36"/>
          <p:cNvSpPr txBox="1"/>
          <p:nvPr/>
        </p:nvSpPr>
        <p:spPr>
          <a:xfrm>
            <a:off x="548640" y="2560320"/>
            <a:ext cx="3474720" cy="237744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35591"/>
                </a:solidFill>
              </a:rPr>
              <a:t>Sachsysteme</a:t>
            </a:r>
            <a:endParaRPr lang="en-US" sz="2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nutzenorientierte, künstliche, gegenständliche Gebilde (Artefakte)</a:t>
            </a:r>
            <a:endParaRPr lang="en-US" sz="2600" dirty="0"/>
          </a:p>
        </p:txBody>
      </p:sp>
      <p:sp>
        <p:nvSpPr>
          <p:cNvPr id="5" name="box-37"/>
          <p:cNvSpPr txBox="1"/>
          <p:nvPr/>
        </p:nvSpPr>
        <p:spPr>
          <a:xfrm>
            <a:off x="4297680" y="17830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5B7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32F"/>
                </a:solidFill>
              </a:rPr>
              <a:t>b</a:t>
            </a:r>
            <a:endParaRPr lang="en-US" sz="2600" dirty="0"/>
          </a:p>
        </p:txBody>
      </p:sp>
      <p:sp>
        <p:nvSpPr>
          <p:cNvPr id="6" name="tile-38"/>
          <p:cNvSpPr txBox="1"/>
          <p:nvPr/>
        </p:nvSpPr>
        <p:spPr>
          <a:xfrm>
            <a:off x="4297680" y="2560320"/>
            <a:ext cx="3474720" cy="237744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35591"/>
                </a:solidFill>
              </a:rPr>
              <a:t>Entstehung</a:t>
            </a:r>
            <a:endParaRPr lang="en-US" sz="2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menschliche Handlungen und Einrichtungen, in denen Sachsysteme entstehen</a:t>
            </a:r>
            <a:endParaRPr lang="en-US" sz="2600" dirty="0"/>
          </a:p>
        </p:txBody>
      </p:sp>
      <p:sp>
        <p:nvSpPr>
          <p:cNvPr id="7" name="box-39"/>
          <p:cNvSpPr txBox="1"/>
          <p:nvPr/>
        </p:nvSpPr>
        <p:spPr>
          <a:xfrm>
            <a:off x="8046720" y="17830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5B7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32F"/>
                </a:solidFill>
              </a:rPr>
              <a:t>c</a:t>
            </a:r>
            <a:endParaRPr lang="en-US" sz="2600" dirty="0"/>
          </a:p>
        </p:txBody>
      </p:sp>
      <p:sp>
        <p:nvSpPr>
          <p:cNvPr id="8" name="tile-40"/>
          <p:cNvSpPr txBox="1"/>
          <p:nvPr/>
        </p:nvSpPr>
        <p:spPr>
          <a:xfrm>
            <a:off x="8046720" y="2560320"/>
            <a:ext cx="3474720" cy="237744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35591"/>
                </a:solidFill>
              </a:rPr>
              <a:t>Verwendung</a:t>
            </a:r>
            <a:endParaRPr lang="en-US" sz="2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menschliche Handlungen, in denen Sachsysteme verwendet werden</a:t>
            </a:r>
            <a:endParaRPr lang="en-US" sz="2600" dirty="0"/>
          </a:p>
        </p:txBody>
      </p:sp>
      <p:sp>
        <p:nvSpPr>
          <p:cNvPr id="9" name="text-41"/>
          <p:cNvSpPr txBox="1"/>
          <p:nvPr/>
        </p:nvSpPr>
        <p:spPr>
          <a:xfrm>
            <a:off x="548640" y="525780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„Technik umfasst (a) die Menge der nutzenorientierten, künstlichen, gegenständlichen Gebilde […], (b) die Menge menschlicher Handlungen und Einrichtungen, in denen Sachsysteme entstehen und (c) die Menge menschlicher Handlungen, in denen Sachsysteme verwendet werden.“ (Ropohl 2009, S. 31)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42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Wie weit ist der Begriff?</a:t>
            </a:r>
            <a:endParaRPr lang="en-US" sz="2800" dirty="0"/>
          </a:p>
        </p:txBody>
      </p:sp>
      <p:sp>
        <p:nvSpPr>
          <p:cNvPr id="3" name="ell-43"/>
          <p:cNvSpPr/>
          <p:nvPr/>
        </p:nvSpPr>
        <p:spPr>
          <a:xfrm>
            <a:off x="548640" y="1600200"/>
            <a:ext cx="5852160" cy="4206240"/>
          </a:xfrm>
          <a:prstGeom prst="ellipse">
            <a:avLst/>
          </a:prstGeom>
          <a:solidFill>
            <a:srgbClr val="EEF3F7"/>
          </a:solidFill>
          <a:ln w="19050">
            <a:solidFill>
              <a:srgbClr val="56687A"/>
            </a:solidFill>
            <a:prstDash val="solid"/>
          </a:ln>
        </p:spPr>
      </p:sp>
      <p:sp>
        <p:nvSpPr>
          <p:cNvPr id="4" name="ell-44"/>
          <p:cNvSpPr/>
          <p:nvPr/>
        </p:nvSpPr>
        <p:spPr>
          <a:xfrm>
            <a:off x="1463040" y="2423160"/>
            <a:ext cx="4023360" cy="3017520"/>
          </a:xfrm>
          <a:prstGeom prst="ellipse">
            <a:avLst/>
          </a:prstGeom>
          <a:solidFill>
            <a:srgbClr val="DDE9F1"/>
          </a:solidFill>
          <a:ln w="25400">
            <a:solidFill>
              <a:srgbClr val="035591"/>
            </a:solidFill>
            <a:prstDash val="solid"/>
          </a:ln>
        </p:spPr>
      </p:sp>
      <p:sp>
        <p:nvSpPr>
          <p:cNvPr id="5" name="ell-45"/>
          <p:cNvSpPr/>
          <p:nvPr/>
        </p:nvSpPr>
        <p:spPr>
          <a:xfrm>
            <a:off x="2377440" y="3429000"/>
            <a:ext cx="2194560" cy="1737360"/>
          </a:xfrm>
          <a:prstGeom prst="ellipse">
            <a:avLst/>
          </a:prstGeom>
          <a:solidFill>
            <a:srgbClr val="FFF3C9"/>
          </a:solidFill>
          <a:ln w="31750">
            <a:solidFill>
              <a:srgbClr val="F5B700"/>
            </a:solidFill>
            <a:prstDash val="solid"/>
          </a:ln>
        </p:spPr>
      </p:sp>
      <p:sp>
        <p:nvSpPr>
          <p:cNvPr id="6" name="text-46"/>
          <p:cNvSpPr txBox="1"/>
          <p:nvPr/>
        </p:nvSpPr>
        <p:spPr>
          <a:xfrm>
            <a:off x="548640" y="1828800"/>
            <a:ext cx="58521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32F"/>
                </a:solidFill>
              </a:rPr>
              <a:t>weit</a:t>
            </a:r>
            <a:endParaRPr lang="en-US" sz="2200" dirty="0"/>
          </a:p>
        </p:txBody>
      </p:sp>
      <p:sp>
        <p:nvSpPr>
          <p:cNvPr id="7" name="text-47"/>
          <p:cNvSpPr txBox="1"/>
          <p:nvPr/>
        </p:nvSpPr>
        <p:spPr>
          <a:xfrm>
            <a:off x="1463040" y="2651760"/>
            <a:ext cx="40233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32F"/>
                </a:solidFill>
              </a:rPr>
              <a:t>mittelweit</a:t>
            </a:r>
            <a:endParaRPr lang="en-US" sz="2200" dirty="0"/>
          </a:p>
        </p:txBody>
      </p:sp>
      <p:sp>
        <p:nvSpPr>
          <p:cNvPr id="8" name="text-48"/>
          <p:cNvSpPr txBox="1"/>
          <p:nvPr/>
        </p:nvSpPr>
        <p:spPr>
          <a:xfrm>
            <a:off x="237744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32F"/>
                </a:solidFill>
              </a:rPr>
              <a:t>eng</a:t>
            </a:r>
            <a:endParaRPr lang="en-US" sz="2200" dirty="0"/>
          </a:p>
        </p:txBody>
      </p:sp>
      <p:graphicFrame>
        <p:nvGraphicFramePr>
          <p:cNvPr id="8" name="table-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965960"/>
          <a:ext cx="48737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192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Verwendung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Technik ist …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4232F"/>
                          </a:solidFill>
                        </a:rPr>
                        <a:t>weit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alles kunstfertige, zweckorientierte Handeln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4232F"/>
                          </a:solidFill>
                        </a:rPr>
                        <a:t>mittelweit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Artefakte + alle Handlungen mit ihnen (Ropohl)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4232F"/>
                          </a:solidFill>
                        </a:rPr>
                        <a:t>eng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alle künstlich hergestellten Dinge (Sachtechnik)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-50"/>
          <p:cNvSpPr txBox="1"/>
          <p:nvPr/>
        </p:nvSpPr>
        <p:spPr>
          <a:xfrm>
            <a:off x="548640" y="594360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Nach Binder (2014): Theorien und Modelle der Technikdidaktik, S.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51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Dimensionen der Technik</a:t>
            </a:r>
            <a:endParaRPr lang="en-US" sz="2800" dirty="0"/>
          </a:p>
        </p:txBody>
      </p:sp>
      <p:sp>
        <p:nvSpPr>
          <p:cNvPr id="3" name="box-52"/>
          <p:cNvSpPr txBox="1"/>
          <p:nvPr/>
        </p:nvSpPr>
        <p:spPr>
          <a:xfrm>
            <a:off x="3813048" y="1600200"/>
            <a:ext cx="4572000" cy="86868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600" b="1" spc="600" kern="0" dirty="0">
                <a:solidFill>
                  <a:srgbClr val="FFFFFF"/>
                </a:solidFill>
              </a:rPr>
              <a:t>TECHNIK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Entstehung · Sachsysteme · Verwendung</a:t>
            </a:r>
            <a:endParaRPr lang="en-US" sz="2000" dirty="0"/>
          </a:p>
        </p:txBody>
      </p:sp>
      <p:sp>
        <p:nvSpPr>
          <p:cNvPr id="4" name="box-53"/>
          <p:cNvSpPr txBox="1"/>
          <p:nvPr/>
        </p:nvSpPr>
        <p:spPr>
          <a:xfrm>
            <a:off x="548640" y="269748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C2255C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Soziale Dimension</a:t>
            </a:r>
            <a:endParaRPr lang="en-US" sz="2000" dirty="0"/>
          </a:p>
        </p:txBody>
      </p:sp>
      <p:sp>
        <p:nvSpPr>
          <p:cNvPr id="5" name="box-54"/>
          <p:cNvSpPr txBox="1"/>
          <p:nvPr/>
        </p:nvSpPr>
        <p:spPr>
          <a:xfrm>
            <a:off x="731520" y="3383280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FBE3E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32F"/>
                </a:solidFill>
              </a:rPr>
              <a:t>politologisch</a:t>
            </a:r>
            <a:endParaRPr lang="en-US" sz="1700" dirty="0"/>
          </a:p>
        </p:txBody>
      </p:sp>
      <p:sp>
        <p:nvSpPr>
          <p:cNvPr id="6" name="box-55"/>
          <p:cNvSpPr txBox="1"/>
          <p:nvPr/>
        </p:nvSpPr>
        <p:spPr>
          <a:xfrm>
            <a:off x="731520" y="3895344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FBE3E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32F"/>
                </a:solidFill>
              </a:rPr>
              <a:t>soziologisch</a:t>
            </a:r>
            <a:endParaRPr lang="en-US" sz="1700" dirty="0"/>
          </a:p>
        </p:txBody>
      </p:sp>
      <p:sp>
        <p:nvSpPr>
          <p:cNvPr id="7" name="box-56"/>
          <p:cNvSpPr txBox="1"/>
          <p:nvPr/>
        </p:nvSpPr>
        <p:spPr>
          <a:xfrm>
            <a:off x="731520" y="4407408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FBE3E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32F"/>
                </a:solidFill>
              </a:rPr>
              <a:t>ökonomisch</a:t>
            </a:r>
            <a:endParaRPr lang="en-US" sz="1700" dirty="0"/>
          </a:p>
        </p:txBody>
      </p:sp>
      <p:sp>
        <p:nvSpPr>
          <p:cNvPr id="8" name="box-57"/>
          <p:cNvSpPr txBox="1"/>
          <p:nvPr/>
        </p:nvSpPr>
        <p:spPr>
          <a:xfrm>
            <a:off x="731520" y="4919472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FBE3E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32F"/>
                </a:solidFill>
              </a:rPr>
              <a:t>juridisch</a:t>
            </a:r>
            <a:endParaRPr lang="en-US" sz="1700" dirty="0"/>
          </a:p>
        </p:txBody>
      </p:sp>
      <p:sp>
        <p:nvSpPr>
          <p:cNvPr id="9" name="box-58"/>
          <p:cNvSpPr txBox="1"/>
          <p:nvPr/>
        </p:nvSpPr>
        <p:spPr>
          <a:xfrm>
            <a:off x="4297680" y="269748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D9480F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Humane Dimension</a:t>
            </a:r>
            <a:endParaRPr lang="en-US" sz="2000" dirty="0"/>
          </a:p>
        </p:txBody>
      </p:sp>
      <p:sp>
        <p:nvSpPr>
          <p:cNvPr id="10" name="box-59"/>
          <p:cNvSpPr txBox="1"/>
          <p:nvPr/>
        </p:nvSpPr>
        <p:spPr>
          <a:xfrm>
            <a:off x="4480560" y="3383280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FDE6D7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32F"/>
                </a:solidFill>
              </a:rPr>
              <a:t>anthropologisch</a:t>
            </a:r>
            <a:endParaRPr lang="en-US" sz="1700" dirty="0"/>
          </a:p>
        </p:txBody>
      </p:sp>
      <p:sp>
        <p:nvSpPr>
          <p:cNvPr id="11" name="box-60"/>
          <p:cNvSpPr txBox="1"/>
          <p:nvPr/>
        </p:nvSpPr>
        <p:spPr>
          <a:xfrm>
            <a:off x="4480560" y="3895344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FDE6D7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32F"/>
                </a:solidFill>
              </a:rPr>
              <a:t>psychologisch</a:t>
            </a:r>
            <a:endParaRPr lang="en-US" sz="1700" dirty="0"/>
          </a:p>
        </p:txBody>
      </p:sp>
      <p:sp>
        <p:nvSpPr>
          <p:cNvPr id="12" name="box-61"/>
          <p:cNvSpPr txBox="1"/>
          <p:nvPr/>
        </p:nvSpPr>
        <p:spPr>
          <a:xfrm>
            <a:off x="4480560" y="4407408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FDE6D7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32F"/>
                </a:solidFill>
              </a:rPr>
              <a:t>physiologisch</a:t>
            </a:r>
            <a:endParaRPr lang="en-US" sz="1700" dirty="0"/>
          </a:p>
        </p:txBody>
      </p:sp>
      <p:sp>
        <p:nvSpPr>
          <p:cNvPr id="13" name="box-62"/>
          <p:cNvSpPr txBox="1"/>
          <p:nvPr/>
        </p:nvSpPr>
        <p:spPr>
          <a:xfrm>
            <a:off x="4480560" y="4919472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FDE6D7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32F"/>
                </a:solidFill>
              </a:rPr>
              <a:t>ethisch</a:t>
            </a:r>
            <a:endParaRPr lang="en-US" sz="1700" dirty="0"/>
          </a:p>
        </p:txBody>
      </p:sp>
      <p:sp>
        <p:nvSpPr>
          <p:cNvPr id="14" name="box-63"/>
          <p:cNvSpPr txBox="1"/>
          <p:nvPr/>
        </p:nvSpPr>
        <p:spPr>
          <a:xfrm>
            <a:off x="4480560" y="5431536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FDE6D7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32F"/>
                </a:solidFill>
              </a:rPr>
              <a:t>ästhetisch</a:t>
            </a:r>
            <a:endParaRPr lang="en-US" sz="1700" dirty="0"/>
          </a:p>
        </p:txBody>
      </p:sp>
      <p:sp>
        <p:nvSpPr>
          <p:cNvPr id="15" name="box-64"/>
          <p:cNvSpPr txBox="1"/>
          <p:nvPr/>
        </p:nvSpPr>
        <p:spPr>
          <a:xfrm>
            <a:off x="8046720" y="269748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3B6E8F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Naturale Dimension</a:t>
            </a:r>
            <a:endParaRPr lang="en-US" sz="2000" dirty="0"/>
          </a:p>
        </p:txBody>
      </p:sp>
      <p:sp>
        <p:nvSpPr>
          <p:cNvPr id="16" name="box-65"/>
          <p:cNvSpPr txBox="1"/>
          <p:nvPr/>
        </p:nvSpPr>
        <p:spPr>
          <a:xfrm>
            <a:off x="8229600" y="3383280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DDE9F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32F"/>
                </a:solidFill>
              </a:rPr>
              <a:t>ökologisch</a:t>
            </a:r>
            <a:endParaRPr lang="en-US" sz="1700" dirty="0"/>
          </a:p>
        </p:txBody>
      </p:sp>
      <p:sp>
        <p:nvSpPr>
          <p:cNvPr id="17" name="box-66"/>
          <p:cNvSpPr txBox="1"/>
          <p:nvPr/>
        </p:nvSpPr>
        <p:spPr>
          <a:xfrm>
            <a:off x="8229600" y="3895344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DDE9F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32F"/>
                </a:solidFill>
              </a:rPr>
              <a:t>ingenieurwissenschaftlich</a:t>
            </a:r>
            <a:endParaRPr lang="en-US" sz="1700" dirty="0"/>
          </a:p>
        </p:txBody>
      </p:sp>
      <p:sp>
        <p:nvSpPr>
          <p:cNvPr id="18" name="box-67"/>
          <p:cNvSpPr txBox="1"/>
          <p:nvPr/>
        </p:nvSpPr>
        <p:spPr>
          <a:xfrm>
            <a:off x="8229600" y="4407408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DDE9F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32F"/>
                </a:solidFill>
              </a:rPr>
              <a:t>physikalisch</a:t>
            </a:r>
            <a:endParaRPr lang="en-US" sz="1700" dirty="0"/>
          </a:p>
        </p:txBody>
      </p:sp>
      <p:sp>
        <p:nvSpPr>
          <p:cNvPr id="19" name="box-68"/>
          <p:cNvSpPr txBox="1"/>
          <p:nvPr/>
        </p:nvSpPr>
        <p:spPr>
          <a:xfrm>
            <a:off x="8229600" y="4919472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DDE9F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32F"/>
                </a:solidFill>
              </a:rPr>
              <a:t>chemisch</a:t>
            </a:r>
            <a:endParaRPr lang="en-US" sz="1700" dirty="0"/>
          </a:p>
        </p:txBody>
      </p:sp>
      <p:sp>
        <p:nvSpPr>
          <p:cNvPr id="20" name="box-69"/>
          <p:cNvSpPr txBox="1"/>
          <p:nvPr/>
        </p:nvSpPr>
        <p:spPr>
          <a:xfrm>
            <a:off x="8229600" y="5431536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DDE9F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32F"/>
                </a:solidFill>
              </a:rPr>
              <a:t>biologisch</a:t>
            </a:r>
            <a:endParaRPr lang="en-US" sz="1700" dirty="0"/>
          </a:p>
        </p:txBody>
      </p:sp>
      <p:sp>
        <p:nvSpPr>
          <p:cNvPr id="21" name="text-70"/>
          <p:cNvSpPr txBox="1"/>
          <p:nvPr/>
        </p:nvSpPr>
        <p:spPr>
          <a:xfrm>
            <a:off x="548640" y="594360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Neu gezeichnet nach Ropohl (2009), Bild 1, S. 32 (Erstauflage 1979)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71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Der Technikbegriff im Kerncurriculum</a:t>
            </a:r>
            <a:endParaRPr lang="en-US" sz="2800" dirty="0"/>
          </a:p>
        </p:txBody>
      </p:sp>
      <p:sp>
        <p:nvSpPr>
          <p:cNvPr id="3" name="tile-72"/>
          <p:cNvSpPr txBox="1"/>
          <p:nvPr/>
        </p:nvSpPr>
        <p:spPr>
          <a:xfrm>
            <a:off x="548640" y="1691640"/>
            <a:ext cx="5440680" cy="164592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KC Technik Realschule (2010)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„Bildungsbeitrag des Faches Technik“, S. 7 f.</a:t>
            </a:r>
            <a:endParaRPr lang="en-US" sz="2200" dirty="0"/>
          </a:p>
        </p:txBody>
      </p:sp>
      <p:sp>
        <p:nvSpPr>
          <p:cNvPr id="4" name="tile-73"/>
          <p:cNvSpPr txBox="1"/>
          <p:nvPr/>
        </p:nvSpPr>
        <p:spPr>
          <a:xfrm>
            <a:off x="6199632" y="1691640"/>
            <a:ext cx="5440680" cy="164592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KC AWT IGS (MK 2023)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„Bildungsbeitrag“, S. 5 f.; „Technisches und textiltechnisches Themenfeld“, S. 11</a:t>
            </a:r>
            <a:endParaRPr lang="en-US" sz="2200" dirty="0"/>
          </a:p>
        </p:txBody>
      </p:sp>
      <p:sp>
        <p:nvSpPr>
          <p:cNvPr id="5" name="box-74"/>
          <p:cNvSpPr txBox="1"/>
          <p:nvPr/>
        </p:nvSpPr>
        <p:spPr>
          <a:xfrm>
            <a:off x="548640" y="3886200"/>
            <a:ext cx="11094415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35591"/>
                </a:solidFill>
              </a:rPr>
              <a:t>Wie beschreiben die Kerncurricula Technik – und was ist anders als bei Ropohl?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75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Technik im Fächerkanon</a:t>
            </a:r>
            <a:endParaRPr lang="en-US" sz="2800" dirty="0"/>
          </a:p>
        </p:txBody>
      </p:sp>
      <p:sp>
        <p:nvSpPr>
          <p:cNvPr id="3" name="quote-76"/>
          <p:cNvSpPr txBox="1"/>
          <p:nvPr/>
        </p:nvSpPr>
        <p:spPr>
          <a:xfrm>
            <a:off x="548640" y="1874520"/>
            <a:ext cx="11094415" cy="329184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228600" tIns="355600" rIns="355600" bIns="22860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32F"/>
                </a:solidFill>
              </a:rPr>
              <a:t>„Grundsätzlich muss jedes Schulfach im allgemeinbildenden Schulwesen seine Notwendigkeit darlegen können. Es muss Intentionen (Absichten, Zielrichtungen) beschreiben und sie den Lernenden und der Gesellschaft gegenüber begründen können.“</a:t>
            </a:r>
            <a:endParaRPr lang="en-US" sz="24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400" dirty="0">
                <a:solidFill>
                  <a:srgbClr val="56687A"/>
                </a:solidFill>
              </a:rPr>
              <a:t>Binder (2014): Theorien und Modelle der Technikdidaktik, S. 7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77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Leitziel technischer Bildung</a:t>
            </a:r>
            <a:endParaRPr lang="en-US" sz="2800" dirty="0"/>
          </a:p>
        </p:txBody>
      </p:sp>
      <p:sp>
        <p:nvSpPr>
          <p:cNvPr id="3" name="quote-78"/>
          <p:cNvSpPr txBox="1"/>
          <p:nvPr/>
        </p:nvSpPr>
        <p:spPr>
          <a:xfrm>
            <a:off x="548640" y="1691640"/>
            <a:ext cx="11094415" cy="274320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228600" tIns="355600" rIns="355600" bIns="22860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32F"/>
                </a:solidFill>
              </a:rPr>
              <a:t>„Technische Bildung steht unter der leitenden Zielsetzung des mündigen, selbstbestimmten Menschen, der fähig ist, in technisch geprägten Lebenssituationen sachkompetent zu handeln und sich verantwortungsbewusst zu entscheiden.“</a:t>
            </a:r>
            <a:endParaRPr lang="en-US" sz="24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400" dirty="0">
                <a:solidFill>
                  <a:srgbClr val="56687A"/>
                </a:solidFill>
              </a:rPr>
              <a:t>Wilkening et al. (1977), S. 12, zit. n. Binder (2014), S. 8</a:t>
            </a:r>
            <a:endParaRPr lang="en-US" sz="2400" dirty="0"/>
          </a:p>
        </p:txBody>
      </p:sp>
      <p:sp>
        <p:nvSpPr>
          <p:cNvPr id="4" name="link-79"/>
          <p:cNvSpPr txBox="1"/>
          <p:nvPr/>
        </p:nvSpPr>
        <p:spPr>
          <a:xfrm>
            <a:off x="548640" y="4800600"/>
            <a:ext cx="11094415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32F"/>
                </a:solidFill>
              </a:rPr>
              <a:t>Video: Harald Lesch zum Fächerkanon – </a:t>
            </a:r>
            <a:pPr indent="0" marL="0">
              <a:buNone/>
            </a:pPr>
            <a:r>
              <a:rPr lang="en-US" sz="2200" u="sng" dirty="0">
                <a:solidFill>
                  <a:srgbClr val="03559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youtu.be/Wj-KTcxjLqs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80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Ist Technik angewandte Naturwissenschaft?</a:t>
            </a:r>
            <a:endParaRPr lang="en-US" sz="2800" dirty="0"/>
          </a:p>
        </p:txBody>
      </p:sp>
      <p:graphicFrame>
        <p:nvGraphicFramePr>
          <p:cNvPr id="13" name="table-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43984"/>
                <a:gridCol w="4453128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Naturwissenschaft</a:t>
                      </a:r>
                      <a:endParaRPr lang="en-US" sz="2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Technik</a:t>
                      </a:r>
                      <a:endParaRPr lang="en-US" sz="2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4232F"/>
                          </a:solidFill>
                        </a:rPr>
                        <a:t>Gegenstand</a:t>
                      </a:r>
                      <a:endParaRPr lang="en-US" sz="2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4232F"/>
                          </a:solidFill>
                        </a:rPr>
                        <a:t>was von Natur aus da ist</a:t>
                      </a:r>
                      <a:endParaRPr lang="en-US" sz="2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4232F"/>
                          </a:solidFill>
                        </a:rPr>
                        <a:t>was der Mensch künstlich schafft – was sein soll</a:t>
                      </a:r>
                      <a:endParaRPr lang="en-US" sz="2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4232F"/>
                          </a:solidFill>
                        </a:rPr>
                        <a:t>Fragerichtung</a:t>
                      </a:r>
                      <a:endParaRPr lang="en-US" sz="2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4232F"/>
                          </a:solidFill>
                        </a:rPr>
                        <a:t>kausal: Ursache → Wirkung</a:t>
                      </a:r>
                      <a:endParaRPr lang="en-US" sz="2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4232F"/>
                          </a:solidFill>
                        </a:rPr>
                        <a:t>final: Sinn und Zweck</a:t>
                      </a:r>
                      <a:endParaRPr lang="en-US" sz="2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4232F"/>
                          </a:solidFill>
                        </a:rPr>
                        <a:t>Methoden</a:t>
                      </a:r>
                      <a:endParaRPr lang="en-US" sz="2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4232F"/>
                          </a:solidFill>
                        </a:rPr>
                        <a:t>analytisch, erklärend</a:t>
                      </a:r>
                      <a:endParaRPr lang="en-US" sz="2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4232F"/>
                          </a:solidFill>
                        </a:rPr>
                        <a:t>synthetisch, problemlösend</a:t>
                      </a:r>
                      <a:endParaRPr lang="en-US" sz="2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4232F"/>
                          </a:solidFill>
                        </a:rPr>
                        <a:t>Bewertung</a:t>
                      </a:r>
                      <a:endParaRPr lang="en-US" sz="2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4232F"/>
                          </a:solidFill>
                        </a:rPr>
                        <a:t>richtig oder falsch</a:t>
                      </a:r>
                      <a:endParaRPr lang="en-US" sz="2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4232F"/>
                          </a:solidFill>
                        </a:rPr>
                        <a:t>gut oder schlecht</a:t>
                      </a:r>
                      <a:endParaRPr lang="en-US" sz="2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82"/>
          <p:cNvSpPr txBox="1"/>
          <p:nvPr/>
        </p:nvSpPr>
        <p:spPr>
          <a:xfrm>
            <a:off x="548640" y="562356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Nach Brandt (2011): Technikunterricht versus Naturwissenschaftlicher Unterricht, VDI Berlin-Brandenburg, S. 4. Binder (2014, S. 3): „angewandte Naturwissenschaften“ ist eine Verkürzung.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83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Ein Fall aus Hildesheim</a:t>
            </a:r>
            <a:endParaRPr lang="en-US" sz="2800" dirty="0"/>
          </a:p>
        </p:txBody>
      </p:sp>
      <p:sp>
        <p:nvSpPr>
          <p:cNvPr id="3" name="text-84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232F"/>
                </a:solidFill>
              </a:rPr>
              <a:t>Schulversuch der Robert-Bosch-Gesamtschule (ab 2009)</a:t>
            </a:r>
            <a:endParaRPr lang="en-US" sz="2200" dirty="0"/>
          </a:p>
        </p:txBody>
      </p:sp>
      <p:sp>
        <p:nvSpPr>
          <p:cNvPr id="4" name="box-85"/>
          <p:cNvSpPr txBox="1"/>
          <p:nvPr/>
        </p:nvSpPr>
        <p:spPr>
          <a:xfrm>
            <a:off x="548640" y="2286000"/>
            <a:ext cx="4206240" cy="1005840"/>
          </a:xfrm>
          <a:prstGeom prst="rect">
            <a:avLst/>
          </a:prstGeom>
          <a:solidFill>
            <a:srgbClr val="EEF3F7"/>
          </a:solidFill>
          <a:ln w="19050">
            <a:solidFill>
              <a:srgbClr val="C9D4DE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32F"/>
                </a:solidFill>
              </a:rPr>
              <a:t>AWT + Naturwissenschaften</a:t>
            </a:r>
            <a:endParaRPr lang="en-US" sz="2200" dirty="0"/>
          </a:p>
        </p:txBody>
      </p:sp>
      <p:sp>
        <p:nvSpPr>
          <p:cNvPr id="5" name="arrow-86"/>
          <p:cNvSpPr/>
          <p:nvPr/>
        </p:nvSpPr>
        <p:spPr>
          <a:xfrm>
            <a:off x="4892040" y="2788920"/>
            <a:ext cx="914400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6" name="box-87"/>
          <p:cNvSpPr txBox="1"/>
          <p:nvPr/>
        </p:nvSpPr>
        <p:spPr>
          <a:xfrm>
            <a:off x="5943600" y="2286000"/>
            <a:ext cx="5696712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35591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32F"/>
                </a:solidFill>
              </a:rPr>
              <a:t>AW · Physik/Technik · Naturwissenschaften</a:t>
            </a:r>
            <a:endParaRPr lang="en-US" sz="2200" dirty="0"/>
          </a:p>
        </p:txBody>
      </p:sp>
      <p:sp>
        <p:nvSpPr>
          <p:cNvPr id="7" name="list-88"/>
          <p:cNvSpPr txBox="1"/>
          <p:nvPr/>
        </p:nvSpPr>
        <p:spPr>
          <a:xfrm>
            <a:off x="548640" y="3566160"/>
            <a:ext cx="11094415" cy="12801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ab Jg. 8 für alle: Fischertechnik-Modelle, eigener Elektromotor, Hausinstallation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Partner: Robert Bosch GmbH, Handwerkskammer, Uni Hildesheim</a:t>
            </a:r>
            <a:endParaRPr lang="en-US" sz="2000" dirty="0"/>
          </a:p>
        </p:txBody>
      </p:sp>
      <p:sp>
        <p:nvSpPr>
          <p:cNvPr id="8" name="box-89"/>
          <p:cNvSpPr txBox="1"/>
          <p:nvPr/>
        </p:nvSpPr>
        <p:spPr>
          <a:xfrm>
            <a:off x="548640" y="4754880"/>
            <a:ext cx="11094415" cy="822960"/>
          </a:xfrm>
          <a:prstGeom prst="rect">
            <a:avLst/>
          </a:prstGeom>
          <a:solidFill>
            <a:srgbClr val="FFF3C9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Würdest du Physik und Technik zusammenlegen?</a:t>
            </a:r>
            <a:endParaRPr lang="en-US" sz="2400" dirty="0"/>
          </a:p>
        </p:txBody>
      </p:sp>
      <p:sp>
        <p:nvSpPr>
          <p:cNvPr id="9" name="text-90"/>
          <p:cNvSpPr txBox="1"/>
          <p:nvPr/>
        </p:nvSpPr>
        <p:spPr>
          <a:xfrm>
            <a:off x="548640" y="594360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Müller, S.: Die Einrichtung des neuen Unterrichtsfachs „Physik/Technik“. Projekttagebuch, Website der RBG, abgerufen 28.10.2016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91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Technik in den Bundesländern (Stand ca. 2016)</a:t>
            </a:r>
            <a:endParaRPr lang="en-US" sz="2800" dirty="0"/>
          </a:p>
        </p:txBody>
      </p:sp>
      <p:graphicFrame>
        <p:nvGraphicFramePr>
          <p:cNvPr id="15" name="table-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468112" cy="914400"/>
        </p:xfrm>
        <a:graphic>
          <a:graphicData uri="http://schemas.openxmlformats.org/drawingml/2006/table">
            <a:tbl>
              <a:tblPr/>
              <a:tblGrid>
                <a:gridCol w="1993392"/>
                <a:gridCol w="566928"/>
                <a:gridCol w="566928"/>
                <a:gridCol w="603504"/>
                <a:gridCol w="603504"/>
                <a:gridCol w="566928"/>
                <a:gridCol w="566928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Land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 I F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 I V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Inf I F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Inf I V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 II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Inf II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F"/>
                          </a:solidFill>
                        </a:rPr>
                        <a:t>Baden-Württemberg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FA7C9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FA7C9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F"/>
                          </a:solidFill>
                        </a:rPr>
                        <a:t>Bayern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FA7C9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FA7C9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F"/>
                          </a:solidFill>
                        </a:rPr>
                        <a:t>Berlin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FA7C9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F"/>
                          </a:solidFill>
                        </a:rPr>
                        <a:t>Brandenburg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FA7C9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F"/>
                          </a:solidFill>
                        </a:rPr>
                        <a:t>Bremen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FA7C9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F"/>
                          </a:solidFill>
                        </a:rPr>
                        <a:t>Hamburg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FA7C9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F"/>
                          </a:solidFill>
                        </a:rPr>
                        <a:t>Hessen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F"/>
                          </a:solidFill>
                        </a:rPr>
                        <a:t>Mecklenburg-Vorp.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FA7C9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-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600200"/>
          <a:ext cx="5468112" cy="914400"/>
        </p:xfrm>
        <a:graphic>
          <a:graphicData uri="http://schemas.openxmlformats.org/drawingml/2006/table">
            <a:tbl>
              <a:tblPr/>
              <a:tblGrid>
                <a:gridCol w="1993392"/>
                <a:gridCol w="566928"/>
                <a:gridCol w="566928"/>
                <a:gridCol w="603504"/>
                <a:gridCol w="603504"/>
                <a:gridCol w="566928"/>
                <a:gridCol w="566928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Land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 I F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 I V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Inf I F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Inf I V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 II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Inf II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F"/>
                          </a:solidFill>
                        </a:rPr>
                        <a:t>Niedersachsen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FA7C9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F"/>
                          </a:solidFill>
                        </a:rPr>
                        <a:t>Nordrhein-Westfalen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○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○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F"/>
                          </a:solidFill>
                        </a:rPr>
                        <a:t>Rheinland-Pfalz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FA7C9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F"/>
                          </a:solidFill>
                        </a:rPr>
                        <a:t>Saarland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FA7C9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FA7C9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F"/>
                          </a:solidFill>
                        </a:rPr>
                        <a:t>Sachsen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FA7C9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F"/>
                          </a:solidFill>
                        </a:rPr>
                        <a:t>Sachsen-Anhalt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FA7C9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F"/>
                          </a:solidFill>
                        </a:rPr>
                        <a:t>Schleswig-Holstein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32F"/>
                          </a:solidFill>
                        </a:rPr>
                        <a:t>Thüringen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FA7C9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3559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94"/>
          <p:cNvSpPr txBox="1"/>
          <p:nvPr/>
        </p:nvSpPr>
        <p:spPr>
          <a:xfrm>
            <a:off x="548640" y="576072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T = Technik, Inf = Informatik, I/II = Sek I/II, F = Fach, V = Fächerverbund; ● Fach, ○ Verbund (Sek II); helle Punkte = Verbund (Sek I). Nach Grafik im Seminarmaterial (Lehrpläne der Länder, Stand ca. 2016) – veraltet, z. B. Informatik in NDS seit 2023/24 Pflichtfach.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95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Du entscheidest: Wie soll Technik unterrichtet werden?</a:t>
            </a:r>
            <a:endParaRPr lang="en-US" sz="2800" dirty="0"/>
          </a:p>
        </p:txBody>
      </p:sp>
      <p:sp>
        <p:nvSpPr>
          <p:cNvPr id="3" name="box-96"/>
          <p:cNvSpPr txBox="1"/>
          <p:nvPr/>
        </p:nvSpPr>
        <p:spPr>
          <a:xfrm>
            <a:off x="548640" y="1691640"/>
            <a:ext cx="731520" cy="105156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</a:t>
            </a:r>
            <a:endParaRPr lang="en-US" sz="2800" dirty="0"/>
          </a:p>
        </p:txBody>
      </p:sp>
      <p:sp>
        <p:nvSpPr>
          <p:cNvPr id="4" name="box-97"/>
          <p:cNvSpPr txBox="1"/>
          <p:nvPr/>
        </p:nvSpPr>
        <p:spPr>
          <a:xfrm>
            <a:off x="1371600" y="1691640"/>
            <a:ext cx="4645152" cy="105156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32F"/>
                </a:solidFill>
              </a:rPr>
              <a:t>als eigenständiges Fach</a:t>
            </a:r>
            <a:endParaRPr lang="en-US" sz="2200" dirty="0"/>
          </a:p>
        </p:txBody>
      </p:sp>
      <p:sp>
        <p:nvSpPr>
          <p:cNvPr id="5" name="box-98"/>
          <p:cNvSpPr txBox="1"/>
          <p:nvPr/>
        </p:nvSpPr>
        <p:spPr>
          <a:xfrm>
            <a:off x="6172200" y="1691640"/>
            <a:ext cx="731520" cy="105156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</a:t>
            </a:r>
            <a:endParaRPr lang="en-US" sz="2800" dirty="0"/>
          </a:p>
        </p:txBody>
      </p:sp>
      <p:sp>
        <p:nvSpPr>
          <p:cNvPr id="6" name="box-99"/>
          <p:cNvSpPr txBox="1"/>
          <p:nvPr/>
        </p:nvSpPr>
        <p:spPr>
          <a:xfrm>
            <a:off x="6995160" y="1691640"/>
            <a:ext cx="4645152" cy="105156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32F"/>
                </a:solidFill>
              </a:rPr>
              <a:t>im Fächerverbund mit Wirtschaft</a:t>
            </a:r>
            <a:endParaRPr lang="en-US" sz="2200" dirty="0"/>
          </a:p>
        </p:txBody>
      </p:sp>
      <p:sp>
        <p:nvSpPr>
          <p:cNvPr id="7" name="box-100"/>
          <p:cNvSpPr txBox="1"/>
          <p:nvPr/>
        </p:nvSpPr>
        <p:spPr>
          <a:xfrm>
            <a:off x="548640" y="3017520"/>
            <a:ext cx="731520" cy="105156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</a:t>
            </a:r>
            <a:endParaRPr lang="en-US" sz="2800" dirty="0"/>
          </a:p>
        </p:txBody>
      </p:sp>
      <p:sp>
        <p:nvSpPr>
          <p:cNvPr id="8" name="box-101"/>
          <p:cNvSpPr txBox="1"/>
          <p:nvPr/>
        </p:nvSpPr>
        <p:spPr>
          <a:xfrm>
            <a:off x="1371600" y="3017520"/>
            <a:ext cx="4645152" cy="105156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32F"/>
                </a:solidFill>
              </a:rPr>
              <a:t>im Fächerverbund mit Naturwissenschaften</a:t>
            </a:r>
            <a:endParaRPr lang="en-US" sz="2200" dirty="0"/>
          </a:p>
        </p:txBody>
      </p:sp>
      <p:sp>
        <p:nvSpPr>
          <p:cNvPr id="9" name="box-102"/>
          <p:cNvSpPr txBox="1"/>
          <p:nvPr/>
        </p:nvSpPr>
        <p:spPr>
          <a:xfrm>
            <a:off x="6172200" y="3017520"/>
            <a:ext cx="731520" cy="105156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</a:t>
            </a:r>
            <a:endParaRPr lang="en-US" sz="2800" dirty="0"/>
          </a:p>
        </p:txBody>
      </p:sp>
      <p:sp>
        <p:nvSpPr>
          <p:cNvPr id="10" name="box-103"/>
          <p:cNvSpPr txBox="1"/>
          <p:nvPr/>
        </p:nvSpPr>
        <p:spPr>
          <a:xfrm>
            <a:off x="6995160" y="3017520"/>
            <a:ext cx="4645152" cy="105156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32F"/>
                </a:solidFill>
              </a:rPr>
              <a:t>im Fächerverbund mit Informatik</a:t>
            </a:r>
            <a:endParaRPr lang="en-US" sz="2200" dirty="0"/>
          </a:p>
        </p:txBody>
      </p:sp>
      <p:sp>
        <p:nvSpPr>
          <p:cNvPr id="11" name="box-104"/>
          <p:cNvSpPr txBox="1"/>
          <p:nvPr/>
        </p:nvSpPr>
        <p:spPr>
          <a:xfrm>
            <a:off x="548640" y="4343400"/>
            <a:ext cx="731520" cy="105156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</a:t>
            </a:r>
            <a:endParaRPr lang="en-US" sz="2800" dirty="0"/>
          </a:p>
        </p:txBody>
      </p:sp>
      <p:sp>
        <p:nvSpPr>
          <p:cNvPr id="12" name="box-105"/>
          <p:cNvSpPr txBox="1"/>
          <p:nvPr/>
        </p:nvSpPr>
        <p:spPr>
          <a:xfrm>
            <a:off x="1371600" y="4343400"/>
            <a:ext cx="4645152" cy="105156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32F"/>
                </a:solidFill>
              </a:rPr>
              <a:t>nur integriert in Projekte</a:t>
            </a:r>
            <a:endParaRPr lang="en-US" sz="2200" dirty="0"/>
          </a:p>
        </p:txBody>
      </p:sp>
      <p:sp>
        <p:nvSpPr>
          <p:cNvPr id="13" name="box-106"/>
          <p:cNvSpPr txBox="1"/>
          <p:nvPr/>
        </p:nvSpPr>
        <p:spPr>
          <a:xfrm>
            <a:off x="6172200" y="4343400"/>
            <a:ext cx="731520" cy="105156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</a:t>
            </a:r>
            <a:endParaRPr lang="en-US" sz="2800" dirty="0"/>
          </a:p>
        </p:txBody>
      </p:sp>
      <p:sp>
        <p:nvSpPr>
          <p:cNvPr id="14" name="box-107"/>
          <p:cNvSpPr txBox="1"/>
          <p:nvPr/>
        </p:nvSpPr>
        <p:spPr>
          <a:xfrm>
            <a:off x="6995160" y="4343400"/>
            <a:ext cx="4645152" cy="105156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32F"/>
                </a:solidFill>
              </a:rPr>
              <a:t>gar nicht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08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Bis Termin 2: Aufgabenpaket 1</a:t>
            </a:r>
            <a:endParaRPr lang="en-US" sz="2800" dirty="0"/>
          </a:p>
        </p:txBody>
      </p:sp>
      <p:sp>
        <p:nvSpPr>
          <p:cNvPr id="3" name="tile-109"/>
          <p:cNvSpPr txBox="1"/>
          <p:nvPr/>
        </p:nvSpPr>
        <p:spPr>
          <a:xfrm>
            <a:off x="548640" y="1600200"/>
            <a:ext cx="5440680" cy="173736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Teil A · Technikbegriff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Ropohl für Klasse 6, Dimensionen zuordnen, KC und Ropohl vergleichen</a:t>
            </a:r>
            <a:endParaRPr lang="en-US" sz="2200" dirty="0"/>
          </a:p>
        </p:txBody>
      </p:sp>
      <p:sp>
        <p:nvSpPr>
          <p:cNvPr id="4" name="tile-110"/>
          <p:cNvSpPr txBox="1"/>
          <p:nvPr/>
        </p:nvSpPr>
        <p:spPr>
          <a:xfrm>
            <a:off x="6199632" y="1600200"/>
            <a:ext cx="5440680" cy="173736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Teil B · Fächerkanon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Intentionen im KC, Naturwissenschaft oder Technik, Schulversuch, deine Entscheidung, Länder-Check</a:t>
            </a:r>
            <a:endParaRPr lang="en-US" sz="2200" dirty="0"/>
          </a:p>
        </p:txBody>
      </p:sp>
      <p:sp>
        <p:nvSpPr>
          <p:cNvPr id="5" name="link-111"/>
          <p:cNvSpPr txBox="1"/>
          <p:nvPr/>
        </p:nvSpPr>
        <p:spPr>
          <a:xfrm>
            <a:off x="548640" y="3703320"/>
            <a:ext cx="71323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32F"/>
                </a:solidFill>
              </a:rPr>
              <a:t>Kursseite: </a:t>
            </a:r>
            <a:pPr indent="0" marL="0">
              <a:buNone/>
            </a:pPr>
            <a:r>
              <a:rPr lang="en-US" sz="3000" b="1" u="sng" dirty="0">
                <a:solidFill>
                  <a:srgbClr val="03559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https://t1p.de/tdk-26</a:t>
            </a:r>
            <a:endParaRPr lang="en-US" sz="3000" dirty="0"/>
          </a:p>
        </p:txBody>
      </p:sp>
      <p:sp>
        <p:nvSpPr>
          <p:cNvPr id="6" name="list-112"/>
          <p:cNvSpPr txBox="1"/>
          <p:nvPr/>
        </p:nvSpPr>
        <p:spPr>
          <a:xfrm>
            <a:off x="548640" y="4480560"/>
            <a:ext cx="7132320" cy="12801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Kursseite → Lernplattform → Termin 1 → „Nach dem Termin“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Vor Termin 2: Export „Nur Aufgabenpaket 1“ als Word oder PDF schicken</a:t>
            </a:r>
            <a:endParaRPr lang="en-US" sz="2000" dirty="0"/>
          </a:p>
        </p:txBody>
      </p:sp>
      <p:pic>
        <p:nvPicPr>
          <p:cNvPr id="7" name="qr-113" descr="QR-Code zur Kursseite: https://t1p.de/tdk-2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3611880"/>
            <a:ext cx="2194560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14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Kursseite und Lernplattform</a:t>
            </a:r>
            <a:endParaRPr lang="en-US" sz="2800" dirty="0"/>
          </a:p>
        </p:txBody>
      </p:sp>
      <p:sp>
        <p:nvSpPr>
          <p:cNvPr id="3" name="text-115"/>
          <p:cNvSpPr txBox="1"/>
          <p:nvPr/>
        </p:nvSpPr>
        <p:spPr>
          <a:xfrm>
            <a:off x="548640" y="1691640"/>
            <a:ext cx="694944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232F"/>
                </a:solidFill>
              </a:rPr>
              <a:t>Kursseite mit Präsentationen, Material und Link zur Lernplattform</a:t>
            </a:r>
            <a:endParaRPr lang="en-US" sz="2200" dirty="0"/>
          </a:p>
        </p:txBody>
      </p:sp>
      <p:sp>
        <p:nvSpPr>
          <p:cNvPr id="4" name="link-116"/>
          <p:cNvSpPr txBox="1"/>
          <p:nvPr/>
        </p:nvSpPr>
        <p:spPr>
          <a:xfrm>
            <a:off x="548640" y="2377440"/>
            <a:ext cx="694944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4000" b="1" u="sng" dirty="0">
                <a:solidFill>
                  <a:srgbClr val="03559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https://t1p.de/tdk-26</a:t>
            </a:r>
            <a:endParaRPr lang="en-US" sz="4000" dirty="0"/>
          </a:p>
        </p:txBody>
      </p:sp>
      <p:sp>
        <p:nvSpPr>
          <p:cNvPr id="5" name="list-117"/>
          <p:cNvSpPr txBox="1"/>
          <p:nvPr/>
        </p:nvSpPr>
        <p:spPr>
          <a:xfrm>
            <a:off x="548640" y="3429000"/>
            <a:ext cx="6949440" cy="2194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Spalte „Aufgaben“ → Lernplattform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Termin wählen → „Nach dem Termin“: Aufgabenpaket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Vor dem nächsten Termin: Export als Word oder PDF schicken</a:t>
            </a:r>
            <a:endParaRPr lang="en-US" sz="2000" dirty="0"/>
          </a:p>
        </p:txBody>
      </p:sp>
      <p:pic>
        <p:nvPicPr>
          <p:cNvPr id="6" name="qr-118" descr="QR-Code zur Kursseite: https://t1p.de/tdk-2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645920"/>
            <a:ext cx="3520440" cy="3520440"/>
          </a:xfrm>
          <a:prstGeom prst="rect">
            <a:avLst/>
          </a:prstGeom>
        </p:spPr>
      </p:pic>
      <p:sp>
        <p:nvSpPr>
          <p:cNvPr id="7" name="text-119"/>
          <p:cNvSpPr txBox="1"/>
          <p:nvPr/>
        </p:nvSpPr>
        <p:spPr>
          <a:xfrm>
            <a:off x="8138160" y="5212080"/>
            <a:ext cx="3520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87A"/>
                </a:solidFill>
              </a:rPr>
              <a:t>QR-Code: https://t1p.de/tdk-26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inTechniklehrer">
  <a:themeElements>
    <a:clrScheme name="deinTechniklehrer">
      <a:dk1>
        <a:srgbClr val="14232F"/>
      </a:dk1>
      <a:lt1>
        <a:srgbClr val="FFFFFF"/>
      </a:lt1>
      <a:dk2>
        <a:srgbClr val="023A63"/>
      </a:dk2>
      <a:lt2>
        <a:srgbClr val="EEF3F7"/>
      </a:lt2>
      <a:accent1>
        <a:srgbClr val="035591"/>
      </a:accent1>
      <a:accent2>
        <a:srgbClr val="F5B700"/>
      </a:accent2>
      <a:accent3>
        <a:srgbClr val="C2255C"/>
      </a:accent3>
      <a:accent4>
        <a:srgbClr val="D9480F"/>
      </a:accent4>
      <a:accent5>
        <a:srgbClr val="3B6E8F"/>
      </a:accent5>
      <a:accent6>
        <a:srgbClr val="17803F"/>
      </a:accent6>
      <a:hlink>
        <a:srgbClr val="035591"/>
      </a:hlink>
      <a:folHlink>
        <a:srgbClr val="56687A"/>
      </a:folHlink>
    </a:clrScheme>
    <a:fontScheme name="deinTechniklehr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Technikdidaktisches Kolloquium – Termin 1: Technik und Technikunterricht</dc:title>
  <dc:subject>Universität Hildesheim, WiSe 2026/27</dc:subject>
  <dc:creator>Daniel Beyrodt</dc:creator>
  <cp:lastModifiedBy>Daniel Beyrodt</cp:lastModifiedBy>
  <cp:revision>1</cp:revision>
  <dcterms:created xsi:type="dcterms:W3CDTF">2026-10-28T05:53:54Z</dcterms:created>
  <dcterms:modified xsi:type="dcterms:W3CDTF">2026-10-28T05:53:54Z</dcterms:modified>
</cp:coreProperties>
</file>