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Aufbau nach den Hinweisen für Studierende (Vortrag/Referat).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1609344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20116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Technikdidaktisches Kolloquium · Termin 3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9601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6517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6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59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Technikdidaktisches Kolloquium</a:t>
            </a:r>
            <a:endParaRPr lang="en-US" sz="4400" dirty="0"/>
          </a:p>
        </p:txBody>
      </p:sp>
      <p:sp>
        <p:nvSpPr>
          <p:cNvPr id="3" name="text-160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700"/>
                </a:solidFill>
              </a:rPr>
              <a:t>Termin 3 · Aktuelle Entwicklungen, Referat und Diskussion</a:t>
            </a:r>
            <a:endParaRPr lang="en-US" sz="2600" dirty="0"/>
          </a:p>
        </p:txBody>
      </p:sp>
      <p:sp>
        <p:nvSpPr>
          <p:cNvPr id="4" name="box-161"/>
          <p:cNvSpPr txBox="1"/>
          <p:nvPr/>
        </p:nvSpPr>
        <p:spPr>
          <a:xfrm>
            <a:off x="548640" y="3611880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1</a:t>
            </a:r>
            <a:endParaRPr lang="en-US" sz="2000" dirty="0"/>
          </a:p>
        </p:txBody>
      </p:sp>
      <p:sp>
        <p:nvSpPr>
          <p:cNvPr id="5" name="text-162"/>
          <p:cNvSpPr txBox="1"/>
          <p:nvPr/>
        </p:nvSpPr>
        <p:spPr>
          <a:xfrm>
            <a:off x="2560320" y="3611880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Einführung · Technikbegriff · Technik im Fächerkanon</a:t>
            </a:r>
            <a:endParaRPr lang="en-US" sz="2200" dirty="0"/>
          </a:p>
        </p:txBody>
      </p:sp>
      <p:sp>
        <p:nvSpPr>
          <p:cNvPr id="6" name="box-163"/>
          <p:cNvSpPr txBox="1"/>
          <p:nvPr/>
        </p:nvSpPr>
        <p:spPr>
          <a:xfrm>
            <a:off x="548640" y="4325112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2</a:t>
            </a:r>
            <a:endParaRPr lang="en-US" sz="2000" dirty="0"/>
          </a:p>
        </p:txBody>
      </p:sp>
      <p:sp>
        <p:nvSpPr>
          <p:cNvPr id="7" name="text-164"/>
          <p:cNvSpPr txBox="1"/>
          <p:nvPr/>
        </p:nvSpPr>
        <p:spPr>
          <a:xfrm>
            <a:off x="2560320" y="4325112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Besprechung Paket 1 · Der mehrperspektivische Technikunterricht</a:t>
            </a:r>
            <a:endParaRPr lang="en-US" sz="2200" dirty="0"/>
          </a:p>
        </p:txBody>
      </p:sp>
      <p:sp>
        <p:nvSpPr>
          <p:cNvPr id="8" name="box-165"/>
          <p:cNvSpPr txBox="1"/>
          <p:nvPr/>
        </p:nvSpPr>
        <p:spPr>
          <a:xfrm>
            <a:off x="548640" y="5038344"/>
            <a:ext cx="1828800" cy="566928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Termin 3</a:t>
            </a:r>
            <a:endParaRPr lang="en-US" sz="2000" dirty="0"/>
          </a:p>
        </p:txBody>
      </p:sp>
      <p:sp>
        <p:nvSpPr>
          <p:cNvPr id="9" name="text-166"/>
          <p:cNvSpPr txBox="1"/>
          <p:nvPr/>
        </p:nvSpPr>
        <p:spPr>
          <a:xfrm>
            <a:off x="2560320" y="5038344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Besprechung Paket 2 · Aktuelle Entwicklungen · Referat und Diskussion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6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Besprechung: Aufgabenpaket 2</a:t>
            </a:r>
            <a:endParaRPr lang="en-US" sz="2800" dirty="0"/>
          </a:p>
        </p:txBody>
      </p:sp>
      <p:sp>
        <p:nvSpPr>
          <p:cNvPr id="3" name="ntile-168"/>
          <p:cNvSpPr txBox="1"/>
          <p:nvPr/>
        </p:nvSpPr>
        <p:spPr>
          <a:xfrm>
            <a:off x="548640" y="1783080"/>
            <a:ext cx="3515258" cy="329184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2.1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Erkenntnis- und Zielperspektiven in eigenen Worten</a:t>
            </a:r>
            <a:endParaRPr lang="en-US" sz="3400" dirty="0"/>
          </a:p>
        </p:txBody>
      </p:sp>
      <p:sp>
        <p:nvSpPr>
          <p:cNvPr id="4" name="ntile-169"/>
          <p:cNvSpPr txBox="1"/>
          <p:nvPr/>
        </p:nvSpPr>
        <p:spPr>
          <a:xfrm>
            <a:off x="4338218" y="1783080"/>
            <a:ext cx="3515258" cy="3291840"/>
          </a:xfrm>
          <a:prstGeom prst="rect">
            <a:avLst/>
          </a:prstGeom>
          <a:solidFill>
            <a:srgbClr val="EEF3F7"/>
          </a:solidFill>
          <a:ln w="19050">
            <a:solidFill>
              <a:srgbClr val="EEF3F7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2.2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Wie mehrperspektivisch ist das KC?</a:t>
            </a:r>
            <a:endParaRPr lang="en-US" sz="3400" dirty="0"/>
          </a:p>
        </p:txBody>
      </p:sp>
      <p:sp>
        <p:nvSpPr>
          <p:cNvPr id="5" name="ntile-170"/>
          <p:cNvSpPr txBox="1"/>
          <p:nvPr/>
        </p:nvSpPr>
        <p:spPr>
          <a:xfrm>
            <a:off x="8127797" y="1783080"/>
            <a:ext cx="3515258" cy="3291840"/>
          </a:xfrm>
          <a:prstGeom prst="rect">
            <a:avLst/>
          </a:prstGeom>
          <a:solidFill>
            <a:srgbClr val="FFF3C9"/>
          </a:solidFill>
          <a:ln w="19050">
            <a:solidFill>
              <a:srgbClr val="F5B700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2.3</a:t>
            </a:r>
            <a:endParaRPr lang="en-US" sz="3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Welche Inhaltsfelder fehlen im KC – und warum?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7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Aktuelle Entwicklungen im Technikunterricht</a:t>
            </a:r>
            <a:endParaRPr lang="en-US" sz="2800" dirty="0"/>
          </a:p>
        </p:txBody>
      </p:sp>
      <p:sp>
        <p:nvSpPr>
          <p:cNvPr id="3" name="text-17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Woher kommt das Lagebild?</a:t>
            </a:r>
            <a:endParaRPr lang="en-US" sz="2200" dirty="0"/>
          </a:p>
        </p:txBody>
      </p:sp>
      <p:sp>
        <p:nvSpPr>
          <p:cNvPr id="4" name="tile-173"/>
          <p:cNvSpPr txBox="1"/>
          <p:nvPr/>
        </p:nvSpPr>
        <p:spPr>
          <a:xfrm>
            <a:off x="548640" y="214884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Fachberatung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Austausch landesweit</a:t>
            </a:r>
            <a:endParaRPr lang="en-US" sz="2200" dirty="0"/>
          </a:p>
        </p:txBody>
      </p:sp>
      <p:sp>
        <p:nvSpPr>
          <p:cNvPr id="5" name="tile-174"/>
          <p:cNvSpPr txBox="1"/>
          <p:nvPr/>
        </p:nvSpPr>
        <p:spPr>
          <a:xfrm>
            <a:off x="4297680" y="214884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Fachmoderation AWT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Dienstbesprechungen der Fachbereichsleitungen</a:t>
            </a:r>
            <a:endParaRPr lang="en-US" sz="2200" dirty="0"/>
          </a:p>
        </p:txBody>
      </p:sp>
      <p:sp>
        <p:nvSpPr>
          <p:cNvPr id="6" name="tile-175"/>
          <p:cNvSpPr txBox="1"/>
          <p:nvPr/>
        </p:nvSpPr>
        <p:spPr>
          <a:xfrm>
            <a:off x="8046720" y="2148840"/>
            <a:ext cx="3474720" cy="17830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Tagungen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Netzwerktagung AWT, Jahrestagung der didaktischen Leitungen</a:t>
            </a:r>
            <a:endParaRPr lang="en-US" sz="2200" dirty="0"/>
          </a:p>
        </p:txBody>
      </p:sp>
      <p:sp>
        <p:nvSpPr>
          <p:cNvPr id="7" name="tile-176"/>
          <p:cNvSpPr txBox="1"/>
          <p:nvPr/>
        </p:nvSpPr>
        <p:spPr>
          <a:xfrm>
            <a:off x="548640" y="411480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Fortbildungen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Kompetenzzentren, NLQ</a:t>
            </a:r>
            <a:endParaRPr lang="en-US" sz="2200" dirty="0"/>
          </a:p>
        </p:txBody>
      </p:sp>
      <p:sp>
        <p:nvSpPr>
          <p:cNvPr id="8" name="tile-177"/>
          <p:cNvSpPr txBox="1"/>
          <p:nvPr/>
        </p:nvSpPr>
        <p:spPr>
          <a:xfrm>
            <a:off x="4297680" y="411480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DGTB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Deutsche Gesellschaft für Technische Bildung</a:t>
            </a:r>
            <a:endParaRPr lang="en-US" sz="2200" dirty="0"/>
          </a:p>
        </p:txBody>
      </p:sp>
      <p:sp>
        <p:nvSpPr>
          <p:cNvPr id="9" name="tile-178"/>
          <p:cNvSpPr txBox="1"/>
          <p:nvPr/>
        </p:nvSpPr>
        <p:spPr>
          <a:xfrm>
            <a:off x="8046720" y="4114800"/>
            <a:ext cx="3474720" cy="1783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Netzwerke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Netzwerk Techniklehrkräfte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7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Probleme in Schulen</a:t>
            </a:r>
            <a:endParaRPr lang="en-US" sz="2800" dirty="0"/>
          </a:p>
        </p:txBody>
      </p:sp>
      <p:sp>
        <p:nvSpPr>
          <p:cNvPr id="3" name="list-180"/>
          <p:cNvSpPr txBox="1"/>
          <p:nvPr/>
        </p:nvSpPr>
        <p:spPr>
          <a:xfrm>
            <a:off x="548640" y="1691640"/>
            <a:ext cx="11094415" cy="4023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Lehrkräftemangel: Kürzungen im WPK-Bereich in praktischen Fächern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Schwierigkeiten mit BBS-Kooperationen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Anzahl ausgebildeter Lehrkräfte im Fach Technik nimmt ab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Fachraumausstattung verschlechtert sich an vielen Schulen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4232F"/>
                </a:solidFill>
              </a:rPr>
              <a:t>Werkräume werden teilweise zu Klassenräumen</a:t>
            </a:r>
            <a:endParaRPr lang="en-US" sz="2400" dirty="0"/>
          </a:p>
        </p:txBody>
      </p:sp>
      <p:sp>
        <p:nvSpPr>
          <p:cNvPr id="4" name="text-181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Beobachtungen aus Fachberatung und Fachmoderation, Stand 2024.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8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Digitalisierung im Fach Technik</a:t>
            </a:r>
            <a:endParaRPr lang="en-US" sz="2800" dirty="0"/>
          </a:p>
        </p:txBody>
      </p:sp>
      <p:sp>
        <p:nvSpPr>
          <p:cNvPr id="3" name="tile-183"/>
          <p:cNvSpPr txBox="1"/>
          <p:nvPr/>
        </p:nvSpPr>
        <p:spPr>
          <a:xfrm>
            <a:off x="548640" y="1600200"/>
            <a:ext cx="3474720" cy="365760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n-21 „Masterplan Digitalisierung“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54 Projektschulen Mensch-Roboter-Kollaboration (Robonatives)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19 Projektschulen Additive Fertigung (3D-Druck)</a:t>
            </a:r>
            <a:endParaRPr lang="en-US" sz="2000" dirty="0"/>
          </a:p>
        </p:txBody>
      </p:sp>
      <p:sp>
        <p:nvSpPr>
          <p:cNvPr id="4" name="tile-184"/>
          <p:cNvSpPr txBox="1"/>
          <p:nvPr/>
        </p:nvSpPr>
        <p:spPr>
          <a:xfrm>
            <a:off x="4297680" y="1600200"/>
            <a:ext cx="3474720" cy="365760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3D-Druck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NLQ: Moodle-Selbstlernkurs „3D-Druck ohne Vorkenntnisse“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viele Fortbildungen, meist mit Tinkercad</a:t>
            </a:r>
            <a:endParaRPr lang="en-US" sz="2000" dirty="0"/>
          </a:p>
        </p:txBody>
      </p:sp>
      <p:sp>
        <p:nvSpPr>
          <p:cNvPr id="5" name="tile-185"/>
          <p:cNvSpPr txBox="1"/>
          <p:nvPr/>
        </p:nvSpPr>
        <p:spPr>
          <a:xfrm>
            <a:off x="8046720" y="1600200"/>
            <a:ext cx="3593592" cy="365760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Nachfrage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mehr Interesse an Digitalisierung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Fortbildungen zu Arduino und 3D-Druck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großes Interesse an Lasercuttern</a:t>
            </a:r>
            <a:endParaRPr lang="en-US" sz="2000" dirty="0"/>
          </a:p>
        </p:txBody>
      </p:sp>
      <p:sp>
        <p:nvSpPr>
          <p:cNvPr id="6" name="text-186"/>
          <p:cNvSpPr txBox="1"/>
          <p:nvPr/>
        </p:nvSpPr>
        <p:spPr>
          <a:xfrm>
            <a:off x="548640" y="54864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Zahlen der Projektschulen: Stand Januar 2024 (Seminarfolien WiSe 2023/24).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8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Lehrkräfteausbildung und Kerncurricula</a:t>
            </a:r>
            <a:endParaRPr lang="en-US" sz="2800" dirty="0"/>
          </a:p>
        </p:txBody>
      </p:sp>
      <p:sp>
        <p:nvSpPr>
          <p:cNvPr id="3" name="tile-188"/>
          <p:cNvSpPr txBox="1"/>
          <p:nvPr/>
        </p:nvSpPr>
        <p:spPr>
          <a:xfrm>
            <a:off x="548640" y="1600200"/>
            <a:ext cx="5440680" cy="34747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Lehrkräfteausbildung an der Universität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Digitalisierung im Fach Technik implementiert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keine steigenden Studierendenzahlen im Fach Technik</a:t>
            </a:r>
            <a:endParaRPr lang="en-US" sz="2200" dirty="0"/>
          </a:p>
        </p:txBody>
      </p:sp>
      <p:sp>
        <p:nvSpPr>
          <p:cNvPr id="4" name="tile-189"/>
          <p:cNvSpPr txBox="1"/>
          <p:nvPr/>
        </p:nvSpPr>
        <p:spPr>
          <a:xfrm>
            <a:off x="6199632" y="1600200"/>
            <a:ext cx="5440680" cy="34747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Kerncurricula und Erlasse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KC Technik (Realschule): keine Neuauflage geplant (Stand 01/2024)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IGS: KC Arbeit-Wirtschaft-Technik (MK 2023)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IGS-Erlass v. 01.08.2026: Projektunterricht in jedem Schuljahrgang (Nr. 4.3)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Fort- und Weiterbildung der Lehrkräfte</a:t>
            </a:r>
            <a:endParaRPr lang="en-US" sz="2800" dirty="0"/>
          </a:p>
        </p:txBody>
      </p:sp>
      <p:sp>
        <p:nvSpPr>
          <p:cNvPr id="3" name="tile-191"/>
          <p:cNvSpPr txBox="1"/>
          <p:nvPr/>
        </p:nvSpPr>
        <p:spPr>
          <a:xfrm>
            <a:off x="548640" y="1600200"/>
            <a:ext cx="5440680" cy="37490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Kompetenzzentren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Maschinenschein: Angebote immer noch nicht ausreichend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Maschinenschein nicht mehr obligatorisch – Schulen wissen das oft nicht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Probleme beim Akquirieren von Referent:innen</a:t>
            </a:r>
            <a:endParaRPr lang="en-US" sz="2200" dirty="0"/>
          </a:p>
        </p:txBody>
      </p:sp>
      <p:sp>
        <p:nvSpPr>
          <p:cNvPr id="4" name="tile-192"/>
          <p:cNvSpPr txBox="1"/>
          <p:nvPr/>
        </p:nvSpPr>
        <p:spPr>
          <a:xfrm>
            <a:off x="6199632" y="1600200"/>
            <a:ext cx="5440680" cy="374904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RLSB und NLQ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Fachmoderation und Fachberatung unterstützen die Kompetenzzentren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NLQ: Qualifizierung für fachfremd Unterrichtende im Fach Technik (3 Jahre, 20 Lehrkräfte)</a:t>
            </a:r>
            <a:endParaRPr lang="en-US" sz="2200" dirty="0"/>
          </a:p>
        </p:txBody>
      </p:sp>
      <p:sp>
        <p:nvSpPr>
          <p:cNvPr id="5" name="text-193"/>
          <p:cNvSpPr txBox="1"/>
          <p:nvPr/>
        </p:nvSpPr>
        <p:spPr>
          <a:xfrm>
            <a:off x="548640" y="55778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Stand 2024 (Seminarfolien WiSe 2023/24 und 2024/25).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MakerSpaces</a:t>
            </a:r>
            <a:endParaRPr lang="en-US" sz="2800" dirty="0"/>
          </a:p>
        </p:txBody>
      </p:sp>
      <p:sp>
        <p:nvSpPr>
          <p:cNvPr id="3" name="list-195"/>
          <p:cNvSpPr txBox="1"/>
          <p:nvPr/>
        </p:nvSpPr>
        <p:spPr>
          <a:xfrm>
            <a:off x="548640" y="1691640"/>
            <a:ext cx="11094415" cy="43891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Interesse an allgemein- und berufsbildenden Schulen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Innovative Schulen arbeiten viel in Projekten: Alemannenschule Wutöschingen, Lernbüros (z. B. Oskar-Schindler-Gesamtschule Hildesheim), Frei-Day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KGS Gronau: Der Maschinenraum wurde zum MakerSpace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Naive Umsetzung: erst teure Anschaffungen, dann der Versuch, damit zu arbeiten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4232F"/>
                </a:solidFill>
              </a:rPr>
              <a:t>Badges als Leistungsdokumentation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6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MakerSpace statt Robotik-Fachraum</a:t>
            </a:r>
            <a:endParaRPr lang="en-US" sz="2800" dirty="0"/>
          </a:p>
        </p:txBody>
      </p:sp>
      <p:graphicFrame>
        <p:nvGraphicFramePr>
          <p:cNvPr id="10" name="table-1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2544"/>
                <a:gridCol w="436168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Robotik-Fachraum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Raum für Projektlernen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Ausgangspunkt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Gerät, Technologie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Problem oder Idee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Nutzung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Kurs zum Gerät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Projekte aller Fächer und Gruppen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Ausstattung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Klassensätze Hightech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Technologiemix analog und digital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Lehrkraft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Instruktion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Lernbegleitung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Ergebnis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gleiche Produkte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individuelle Prototypen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Risiko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„Gerätefriedhof“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Überforderung ohne Rahmen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</a:tbl>
          </a:graphicData>
        </a:graphic>
      </p:graphicFrame>
      <p:sp>
        <p:nvSpPr>
          <p:cNvPr id="4" name="text-198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Aus dem MakerSpace-Kompass (eigene Darstellung). Hardware-Fokus verwässert das Bildungspotenzial (Liu 2018, zit. n. Maurer &amp; Ingold 2021).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Technik-Badges mit „Open Badges“</a:t>
            </a:r>
            <a:endParaRPr lang="en-US" sz="2800" dirty="0"/>
          </a:p>
        </p:txBody>
      </p:sp>
      <p:sp>
        <p:nvSpPr>
          <p:cNvPr id="3" name="tile-200"/>
          <p:cNvSpPr txBox="1"/>
          <p:nvPr/>
        </p:nvSpPr>
        <p:spPr>
          <a:xfrm>
            <a:off x="548640" y="1874520"/>
            <a:ext cx="347472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Dokumentation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von Kompetenzen</a:t>
            </a:r>
            <a:endParaRPr lang="en-US" sz="2600" dirty="0"/>
          </a:p>
        </p:txBody>
      </p:sp>
      <p:sp>
        <p:nvSpPr>
          <p:cNvPr id="4" name="tile-201"/>
          <p:cNvSpPr txBox="1"/>
          <p:nvPr/>
        </p:nvSpPr>
        <p:spPr>
          <a:xfrm>
            <a:off x="4297680" y="1874520"/>
            <a:ext cx="347472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übergreifend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institutionsübergreifend, nicht an eine Schule gebunden</a:t>
            </a:r>
            <a:endParaRPr lang="en-US" sz="2600" dirty="0"/>
          </a:p>
        </p:txBody>
      </p:sp>
      <p:sp>
        <p:nvSpPr>
          <p:cNvPr id="5" name="tile-202"/>
          <p:cNvSpPr txBox="1"/>
          <p:nvPr/>
        </p:nvSpPr>
        <p:spPr>
          <a:xfrm>
            <a:off x="8046720" y="1874520"/>
            <a:ext cx="3474720" cy="237744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Nachweis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kann als Nachweis verwendet werden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03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Digitale Lernmaterialien selbst entwickeln</a:t>
            </a:r>
            <a:endParaRPr lang="en-US" sz="2800" dirty="0"/>
          </a:p>
        </p:txBody>
      </p:sp>
      <p:sp>
        <p:nvSpPr>
          <p:cNvPr id="3" name="text-204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Nicht „Kann ich das bauen?“, sondern „Ist das gut – und darf ich das teilen?“</a:t>
            </a:r>
            <a:endParaRPr lang="en-US" sz="2000" dirty="0"/>
          </a:p>
        </p:txBody>
      </p:sp>
      <p:sp>
        <p:nvSpPr>
          <p:cNvPr id="4" name="step-205"/>
          <p:cNvSpPr txBox="1"/>
          <p:nvPr/>
        </p:nvSpPr>
        <p:spPr>
          <a:xfrm>
            <a:off x="548640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1 Material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Arbeitsblatt, KC</a:t>
            </a:r>
            <a:endParaRPr lang="en-US" sz="1900" dirty="0"/>
          </a:p>
        </p:txBody>
      </p:sp>
      <p:sp>
        <p:nvSpPr>
          <p:cNvPr id="5" name="arrow-206"/>
          <p:cNvSpPr/>
          <p:nvPr/>
        </p:nvSpPr>
        <p:spPr>
          <a:xfrm>
            <a:off x="2493203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6" name="step-207"/>
          <p:cNvSpPr txBox="1"/>
          <p:nvPr/>
        </p:nvSpPr>
        <p:spPr>
          <a:xfrm>
            <a:off x="2849819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2 Aufgaben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direkte Rückmeldung</a:t>
            </a:r>
            <a:endParaRPr lang="en-US" sz="1900" dirty="0"/>
          </a:p>
        </p:txBody>
      </p:sp>
      <p:sp>
        <p:nvSpPr>
          <p:cNvPr id="7" name="arrow-208"/>
          <p:cNvSpPr/>
          <p:nvPr/>
        </p:nvSpPr>
        <p:spPr>
          <a:xfrm>
            <a:off x="4794382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8" name="step-209"/>
          <p:cNvSpPr txBox="1"/>
          <p:nvPr/>
        </p:nvSpPr>
        <p:spPr>
          <a:xfrm>
            <a:off x="5150998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3 Test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Lernstand</a:t>
            </a:r>
            <a:endParaRPr lang="en-US" sz="1900" dirty="0"/>
          </a:p>
        </p:txBody>
      </p:sp>
      <p:sp>
        <p:nvSpPr>
          <p:cNvPr id="9" name="arrow-210"/>
          <p:cNvSpPr/>
          <p:nvPr/>
        </p:nvSpPr>
        <p:spPr>
          <a:xfrm>
            <a:off x="7095561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0" name="step-211"/>
          <p:cNvSpPr txBox="1"/>
          <p:nvPr/>
        </p:nvSpPr>
        <p:spPr>
          <a:xfrm>
            <a:off x="7452177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4 Sichern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Export, Notability</a:t>
            </a:r>
            <a:endParaRPr lang="en-US" sz="1900" dirty="0"/>
          </a:p>
        </p:txBody>
      </p:sp>
      <p:sp>
        <p:nvSpPr>
          <p:cNvPr id="11" name="arrow-212"/>
          <p:cNvSpPr/>
          <p:nvPr/>
        </p:nvSpPr>
        <p:spPr>
          <a:xfrm>
            <a:off x="9396740" y="269748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2" name="step-213"/>
          <p:cNvSpPr txBox="1"/>
          <p:nvPr/>
        </p:nvSpPr>
        <p:spPr>
          <a:xfrm>
            <a:off x="9753356" y="2057400"/>
            <a:ext cx="1889699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35591"/>
                </a:solidFill>
              </a:rPr>
              <a:t>5 Teilen</a:t>
            </a:r>
            <a:endParaRPr lang="en-US" sz="1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CC BY-NC-SA</a:t>
            </a:r>
            <a:endParaRPr lang="en-US" sz="1900" dirty="0"/>
          </a:p>
        </p:txBody>
      </p:sp>
      <p:sp>
        <p:nvSpPr>
          <p:cNvPr id="13" name="tile-214"/>
          <p:cNvSpPr txBox="1"/>
          <p:nvPr/>
        </p:nvSpPr>
        <p:spPr>
          <a:xfrm>
            <a:off x="548640" y="3749040"/>
            <a:ext cx="5440680" cy="196596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803F"/>
                </a:solidFill>
              </a:rPr>
              <a:t>Chancen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passgenau zu Unterricht und KC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direkte Rückmeldung, Differenzierung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teilbar als OER</a:t>
            </a:r>
            <a:endParaRPr lang="en-US" sz="2000" dirty="0"/>
          </a:p>
        </p:txBody>
      </p:sp>
      <p:sp>
        <p:nvSpPr>
          <p:cNvPr id="14" name="tile-215"/>
          <p:cNvSpPr txBox="1"/>
          <p:nvPr/>
        </p:nvSpPr>
        <p:spPr>
          <a:xfrm>
            <a:off x="6199632" y="3749040"/>
            <a:ext cx="5440680" cy="1965960"/>
          </a:xfrm>
          <a:prstGeom prst="rect">
            <a:avLst/>
          </a:prstGeom>
          <a:solidFill>
            <a:srgbClr val="FCE8E5"/>
          </a:solidFill>
          <a:ln w="6350">
            <a:solidFill>
              <a:srgbClr val="FCE8E5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23B2E"/>
                </a:solidFill>
              </a:rPr>
              <a:t>Grenzen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fachliche Prüfung bleibt bei der Lehrkraft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Datenschutz: keine Konten, keine Schülerdaten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Urheberrecht: nur klar lizenzierte Inhalte</a:t>
            </a:r>
            <a:endParaRPr lang="en-US" sz="2000" dirty="0"/>
          </a:p>
        </p:txBody>
      </p:sp>
      <p:sp>
        <p:nvSpPr>
          <p:cNvPr id="15" name="text-216"/>
          <p:cNvSpPr txBox="1"/>
          <p:nvPr/>
        </p:nvSpPr>
        <p:spPr>
          <a:xfrm>
            <a:off x="548640" y="585216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Arbeitsweise bei den Lernplattformen von deinTechniklehrer (z. B. Arduino, 3D-Druck, MakerSpace-Kompass, diese Plattform). Eigene Darstellung.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1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KI-Lernplattformen</a:t>
            </a:r>
            <a:endParaRPr lang="en-US" sz="2800" dirty="0"/>
          </a:p>
        </p:txBody>
      </p:sp>
      <p:sp>
        <p:nvSpPr>
          <p:cNvPr id="3" name="tile-218"/>
          <p:cNvSpPr txBox="1"/>
          <p:nvPr/>
        </p:nvSpPr>
        <p:spPr>
          <a:xfrm>
            <a:off x="548640" y="1874520"/>
            <a:ext cx="3474720" cy="2926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KI-Kompetenz als Lernziel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z. B. AI Badge in drei Leveln für die Jahrgänge 7–9</a:t>
            </a:r>
            <a:endParaRPr lang="en-US" sz="2400" dirty="0"/>
          </a:p>
        </p:txBody>
      </p:sp>
      <p:sp>
        <p:nvSpPr>
          <p:cNvPr id="4" name="tile-219"/>
          <p:cNvSpPr txBox="1"/>
          <p:nvPr/>
        </p:nvSpPr>
        <p:spPr>
          <a:xfrm>
            <a:off x="4297680" y="1874520"/>
            <a:ext cx="3474720" cy="2926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Schul-KI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Zugänge für Schüler:innen über die Lehrkräfte, z. B. fobizz</a:t>
            </a:r>
            <a:endParaRPr lang="en-US" sz="2400" dirty="0"/>
          </a:p>
        </p:txBody>
      </p:sp>
      <p:sp>
        <p:nvSpPr>
          <p:cNvPr id="5" name="tile-220"/>
          <p:cNvSpPr txBox="1"/>
          <p:nvPr/>
        </p:nvSpPr>
        <p:spPr>
          <a:xfrm>
            <a:off x="8046720" y="1874520"/>
            <a:ext cx="3474720" cy="29260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Offene Fragen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dirty="0">
                <a:solidFill>
                  <a:srgbClr val="14232F"/>
                </a:solidFill>
              </a:rPr>
              <a:t>Datenschutz, Prüfungskultur, Verlernen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2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Gespräch</a:t>
            </a:r>
            <a:endParaRPr lang="en-US" sz="2800" dirty="0"/>
          </a:p>
        </p:txBody>
      </p:sp>
      <p:sp>
        <p:nvSpPr>
          <p:cNvPr id="3" name="box-222"/>
          <p:cNvSpPr txBox="1"/>
          <p:nvPr/>
        </p:nvSpPr>
        <p:spPr>
          <a:xfrm>
            <a:off x="548640" y="169164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4" name="box-223"/>
          <p:cNvSpPr txBox="1"/>
          <p:nvPr/>
        </p:nvSpPr>
        <p:spPr>
          <a:xfrm>
            <a:off x="1508760" y="169164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Was davon hast du in Praktika oder in deiner eigenen Schulzeit erlebt?</a:t>
            </a:r>
            <a:endParaRPr lang="en-US" sz="2400" dirty="0"/>
          </a:p>
        </p:txBody>
      </p:sp>
      <p:sp>
        <p:nvSpPr>
          <p:cNvPr id="5" name="box-224"/>
          <p:cNvSpPr txBox="1"/>
          <p:nvPr/>
        </p:nvSpPr>
        <p:spPr>
          <a:xfrm>
            <a:off x="548640" y="301752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6" name="box-225"/>
          <p:cNvSpPr txBox="1"/>
          <p:nvPr/>
        </p:nvSpPr>
        <p:spPr>
          <a:xfrm>
            <a:off x="1508760" y="301752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Welche Entwicklung hältst du für die wichtigste?</a:t>
            </a:r>
            <a:endParaRPr lang="en-US" sz="2400" dirty="0"/>
          </a:p>
        </p:txBody>
      </p:sp>
      <p:sp>
        <p:nvSpPr>
          <p:cNvPr id="7" name="box-226"/>
          <p:cNvSpPr txBox="1"/>
          <p:nvPr/>
        </p:nvSpPr>
        <p:spPr>
          <a:xfrm>
            <a:off x="548640" y="4343400"/>
            <a:ext cx="82296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box-227"/>
          <p:cNvSpPr txBox="1"/>
          <p:nvPr/>
        </p:nvSpPr>
        <p:spPr>
          <a:xfrm>
            <a:off x="1508760" y="4343400"/>
            <a:ext cx="10134295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232F"/>
                </a:solidFill>
              </a:rPr>
              <a:t>Was bedeutet das für deinen späteren Technikunterricht?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28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Referat und Diskussion</a:t>
            </a:r>
            <a:endParaRPr lang="en-US" sz="2800" dirty="0"/>
          </a:p>
        </p:txBody>
      </p:sp>
      <p:sp>
        <p:nvSpPr>
          <p:cNvPr id="3" name="step-229"/>
          <p:cNvSpPr txBox="1"/>
          <p:nvPr/>
        </p:nvSpPr>
        <p:spPr>
          <a:xfrm>
            <a:off x="548640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Einleitung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Fragestellung</a:t>
            </a:r>
            <a:endParaRPr lang="en-US" sz="2000" dirty="0"/>
          </a:p>
        </p:txBody>
      </p:sp>
      <p:sp>
        <p:nvSpPr>
          <p:cNvPr id="4" name="arrow-230"/>
          <p:cNvSpPr/>
          <p:nvPr/>
        </p:nvSpPr>
        <p:spPr>
          <a:xfrm>
            <a:off x="2493203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5" name="step-231"/>
          <p:cNvSpPr txBox="1"/>
          <p:nvPr/>
        </p:nvSpPr>
        <p:spPr>
          <a:xfrm>
            <a:off x="2849819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Klärung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Begriffe, Positionen</a:t>
            </a:r>
            <a:endParaRPr lang="en-US" sz="2000" dirty="0"/>
          </a:p>
        </p:txBody>
      </p:sp>
      <p:sp>
        <p:nvSpPr>
          <p:cNvPr id="6" name="arrow-232"/>
          <p:cNvSpPr/>
          <p:nvPr/>
        </p:nvSpPr>
        <p:spPr>
          <a:xfrm>
            <a:off x="4794382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7" name="step-233"/>
          <p:cNvSpPr txBox="1"/>
          <p:nvPr/>
        </p:nvSpPr>
        <p:spPr>
          <a:xfrm>
            <a:off x="5150998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Hauptteil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Quellen, Praxis, Kritik</a:t>
            </a:r>
            <a:endParaRPr lang="en-US" sz="2000" dirty="0"/>
          </a:p>
        </p:txBody>
      </p:sp>
      <p:sp>
        <p:nvSpPr>
          <p:cNvPr id="8" name="arrow-234"/>
          <p:cNvSpPr/>
          <p:nvPr/>
        </p:nvSpPr>
        <p:spPr>
          <a:xfrm>
            <a:off x="7095561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9" name="step-235"/>
          <p:cNvSpPr txBox="1"/>
          <p:nvPr/>
        </p:nvSpPr>
        <p:spPr>
          <a:xfrm>
            <a:off x="7452177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Fazit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Ansätze für die Diskussion</a:t>
            </a:r>
            <a:endParaRPr lang="en-US" sz="2000" dirty="0"/>
          </a:p>
        </p:txBody>
      </p:sp>
      <p:sp>
        <p:nvSpPr>
          <p:cNvPr id="10" name="arrow-236"/>
          <p:cNvSpPr/>
          <p:nvPr/>
        </p:nvSpPr>
        <p:spPr>
          <a:xfrm>
            <a:off x="9396740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1" name="step-237"/>
          <p:cNvSpPr txBox="1"/>
          <p:nvPr/>
        </p:nvSpPr>
        <p:spPr>
          <a:xfrm>
            <a:off x="9753356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Diskussion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Fragen mit Impulsen</a:t>
            </a:r>
            <a:endParaRPr lang="en-US" sz="2000" dirty="0"/>
          </a:p>
        </p:txBody>
      </p:sp>
      <p:graphicFrame>
        <p:nvGraphicFramePr>
          <p:cNvPr id="15" name="table-2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Weg A · Referat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Weg B · Vortrag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20 Min. + Diskussion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40 Min. + Diskussion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+ Ausarbeitung (über 10 Seiten)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keine Ausarbeitung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Präsentation als PDF vorher einreichen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Präsentation als PDF vorher einreichen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3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Nach Termin 3: Ausarbeitung</a:t>
            </a:r>
            <a:endParaRPr lang="en-US" sz="2800" dirty="0"/>
          </a:p>
        </p:txBody>
      </p:sp>
      <p:sp>
        <p:nvSpPr>
          <p:cNvPr id="3" name="tile-240"/>
          <p:cNvSpPr txBox="1"/>
          <p:nvPr/>
        </p:nvSpPr>
        <p:spPr>
          <a:xfrm>
            <a:off x="548640" y="1600200"/>
            <a:ext cx="5440680" cy="20116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Weg A · Referat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Ausarbeitung mit Diskussionsergebnissen und Ausblick (über 10 Seiten) – Abgabe zum Ende des Semesters</a:t>
            </a:r>
            <a:endParaRPr lang="en-US" sz="2200" dirty="0"/>
          </a:p>
        </p:txBody>
      </p:sp>
      <p:sp>
        <p:nvSpPr>
          <p:cNvPr id="4" name="tile-241"/>
          <p:cNvSpPr txBox="1"/>
          <p:nvPr/>
        </p:nvSpPr>
        <p:spPr>
          <a:xfrm>
            <a:off x="6199632" y="1600200"/>
            <a:ext cx="5440680" cy="201168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Weg B · Vortrag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keine Ausarbeitung – Diskussionsergebnisse kurz festhalten</a:t>
            </a:r>
            <a:endParaRPr lang="en-US" sz="2200" dirty="0"/>
          </a:p>
        </p:txBody>
      </p:sp>
      <p:sp>
        <p:nvSpPr>
          <p:cNvPr id="5" name="link-242"/>
          <p:cNvSpPr txBox="1"/>
          <p:nvPr/>
        </p:nvSpPr>
        <p:spPr>
          <a:xfrm>
            <a:off x="548640" y="3931920"/>
            <a:ext cx="7132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32F"/>
                </a:solidFill>
              </a:rPr>
              <a:t>Kursseite: </a:t>
            </a:r>
            <a:pPr indent="0" marL="0">
              <a:buNone/>
            </a:pPr>
            <a:r>
              <a:rPr lang="en-US" sz="3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3000" dirty="0"/>
          </a:p>
        </p:txBody>
      </p:sp>
      <p:sp>
        <p:nvSpPr>
          <p:cNvPr id="6" name="text-243"/>
          <p:cNvSpPr txBox="1"/>
          <p:nvPr/>
        </p:nvSpPr>
        <p:spPr>
          <a:xfrm>
            <a:off x="548640" y="4663440"/>
            <a:ext cx="713232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Aufgabenpaket 3: Fazit zum Gespräch, Gliederung der Ausarbeitung</a:t>
            </a:r>
            <a:endParaRPr lang="en-US" sz="2000" dirty="0"/>
          </a:p>
        </p:txBody>
      </p:sp>
      <p:pic>
        <p:nvPicPr>
          <p:cNvPr id="7" name="qr-244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70332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inTechniklehrer">
  <a:themeElements>
    <a:clrScheme name="deinTechniklehrer">
      <a:dk1>
        <a:srgbClr val="14232F"/>
      </a:dk1>
      <a:lt1>
        <a:srgbClr val="FFFFFF"/>
      </a:lt1>
      <a:dk2>
        <a:srgbClr val="023A63"/>
      </a:dk2>
      <a:lt2>
        <a:srgbClr val="EEF3F7"/>
      </a:lt2>
      <a:accent1>
        <a:srgbClr val="035591"/>
      </a:accent1>
      <a:accent2>
        <a:srgbClr val="F5B700"/>
      </a:accent2>
      <a:accent3>
        <a:srgbClr val="C2255C"/>
      </a:accent3>
      <a:accent4>
        <a:srgbClr val="D9480F"/>
      </a:accent4>
      <a:accent5>
        <a:srgbClr val="3B6E8F"/>
      </a:accent5>
      <a:accent6>
        <a:srgbClr val="17803F"/>
      </a:accent6>
      <a:hlink>
        <a:srgbClr val="035591"/>
      </a:hlink>
      <a:folHlink>
        <a:srgbClr val="56687A"/>
      </a:folHlink>
    </a:clrScheme>
    <a:fontScheme name="deinTechniklehr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Technikdidaktisches Kolloquium – Termin 3: Aktuelle Entwicklungen, Referat und Diskussion</dc:title>
  <dc:subject>Universität Hildesheim, WiSe 2026/27</dc:subject>
  <dc:creator>Daniel Beyrodt</dc:creator>
  <cp:lastModifiedBy>Daniel Beyrodt</cp:lastModifiedBy>
  <cp:revision>1</cp:revision>
  <dcterms:created xsi:type="dcterms:W3CDTF">2026-10-28T06:34:33Z</dcterms:created>
  <dcterms:modified xsi:type="dcterms:W3CDTF">2026-10-28T06:34:33Z</dcterms:modified>
</cp:coreProperties>
</file>