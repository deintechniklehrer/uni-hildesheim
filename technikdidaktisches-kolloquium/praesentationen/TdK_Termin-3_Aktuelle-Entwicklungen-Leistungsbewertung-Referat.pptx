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Aufbau nach den Hinweisen für Studierende (Vortrag/Referat).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1168"/>
            <a:ext cx="1609344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0" y="201168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Technikdidaktisches Kolloquium · Termin 3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11480" y="777240"/>
            <a:ext cx="11368735" cy="0"/>
          </a:xfrm>
          <a:prstGeom prst="line">
            <a:avLst/>
          </a:prstGeom>
          <a:noFill/>
          <a:ln w="12700">
            <a:solidFill>
              <a:srgbClr val="C9D4D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87A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2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926080" cy="96012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651760" cy="749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E6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t1p.de/tdk-26" TargetMode="Externa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36"/>
          <p:cNvSpPr txBox="1"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Technikdidaktisches Kolloquium</a:t>
            </a:r>
            <a:endParaRPr lang="en-US" sz="4400" dirty="0"/>
          </a:p>
        </p:txBody>
      </p:sp>
      <p:sp>
        <p:nvSpPr>
          <p:cNvPr id="3" name="text-237"/>
          <p:cNvSpPr txBox="1"/>
          <p:nvPr/>
        </p:nvSpPr>
        <p:spPr>
          <a:xfrm>
            <a:off x="54864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B700"/>
                </a:solidFill>
              </a:rPr>
              <a:t>Termin 3 · Aktuelle Entwicklungen, Leistungsbewertung, Referat</a:t>
            </a:r>
            <a:endParaRPr lang="en-US" sz="2600" dirty="0"/>
          </a:p>
        </p:txBody>
      </p:sp>
      <p:sp>
        <p:nvSpPr>
          <p:cNvPr id="4" name="box-238"/>
          <p:cNvSpPr txBox="1"/>
          <p:nvPr/>
        </p:nvSpPr>
        <p:spPr>
          <a:xfrm>
            <a:off x="548640" y="3611880"/>
            <a:ext cx="1828800" cy="566928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1</a:t>
            </a:r>
            <a:endParaRPr lang="en-US" sz="2000" dirty="0"/>
          </a:p>
        </p:txBody>
      </p:sp>
      <p:sp>
        <p:nvSpPr>
          <p:cNvPr id="5" name="text-239"/>
          <p:cNvSpPr txBox="1"/>
          <p:nvPr/>
        </p:nvSpPr>
        <p:spPr>
          <a:xfrm>
            <a:off x="2560320" y="3611880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Technikbegriff · Technik im Fächerkanon</a:t>
            </a:r>
            <a:endParaRPr lang="en-US" sz="2200" dirty="0"/>
          </a:p>
        </p:txBody>
      </p:sp>
      <p:sp>
        <p:nvSpPr>
          <p:cNvPr id="6" name="box-240"/>
          <p:cNvSpPr txBox="1"/>
          <p:nvPr/>
        </p:nvSpPr>
        <p:spPr>
          <a:xfrm>
            <a:off x="548640" y="4325112"/>
            <a:ext cx="1828800" cy="566928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2</a:t>
            </a:r>
            <a:endParaRPr lang="en-US" sz="2000" dirty="0"/>
          </a:p>
        </p:txBody>
      </p:sp>
      <p:sp>
        <p:nvSpPr>
          <p:cNvPr id="7" name="text-241"/>
          <p:cNvSpPr txBox="1"/>
          <p:nvPr/>
        </p:nvSpPr>
        <p:spPr>
          <a:xfrm>
            <a:off x="2560320" y="4325112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Mehrperspektivischer Technikunterricht · Methoden und Modelle</a:t>
            </a:r>
            <a:endParaRPr lang="en-US" sz="2200" dirty="0"/>
          </a:p>
        </p:txBody>
      </p:sp>
      <p:sp>
        <p:nvSpPr>
          <p:cNvPr id="8" name="box-242"/>
          <p:cNvSpPr txBox="1"/>
          <p:nvPr/>
        </p:nvSpPr>
        <p:spPr>
          <a:xfrm>
            <a:off x="548640" y="5038344"/>
            <a:ext cx="1828800" cy="56692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Termin 3</a:t>
            </a:r>
            <a:endParaRPr lang="en-US" sz="2000" dirty="0"/>
          </a:p>
        </p:txBody>
      </p:sp>
      <p:sp>
        <p:nvSpPr>
          <p:cNvPr id="9" name="text-243"/>
          <p:cNvSpPr txBox="1"/>
          <p:nvPr/>
        </p:nvSpPr>
        <p:spPr>
          <a:xfrm>
            <a:off x="2560320" y="5038344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Aktuelle Entwicklungen · Leistungsbewertung · Impulsreferat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4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Rückblick: Aufgabenpaket 2</a:t>
            </a:r>
            <a:endParaRPr lang="en-US" sz="2800" dirty="0"/>
          </a:p>
        </p:txBody>
      </p:sp>
      <p:sp>
        <p:nvSpPr>
          <p:cNvPr id="3" name="tile-245"/>
          <p:cNvSpPr txBox="1"/>
          <p:nvPr/>
        </p:nvSpPr>
        <p:spPr>
          <a:xfrm>
            <a:off x="548640" y="1600200"/>
            <a:ext cx="544068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Perspektiven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Erkenntnis- und Zielperspektiven in eigenen Worten</a:t>
            </a:r>
            <a:endParaRPr lang="en-US" sz="2200" dirty="0"/>
          </a:p>
        </p:txBody>
      </p:sp>
      <p:sp>
        <p:nvSpPr>
          <p:cNvPr id="4" name="tile-246"/>
          <p:cNvSpPr txBox="1"/>
          <p:nvPr/>
        </p:nvSpPr>
        <p:spPr>
          <a:xfrm>
            <a:off x="6199632" y="1600200"/>
            <a:ext cx="5440680" cy="173736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Projektmethode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Reicht sie – oder braucht es das Methodensystem?</a:t>
            </a:r>
            <a:endParaRPr lang="en-US" sz="2200" dirty="0"/>
          </a:p>
        </p:txBody>
      </p:sp>
      <p:sp>
        <p:nvSpPr>
          <p:cNvPr id="5" name="tile-247"/>
          <p:cNvSpPr txBox="1"/>
          <p:nvPr/>
        </p:nvSpPr>
        <p:spPr>
          <a:xfrm>
            <a:off x="548640" y="3566160"/>
            <a:ext cx="5440680" cy="173736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KC AWT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Welche Ansätze stecken darin?</a:t>
            </a:r>
            <a:endParaRPr lang="en-US" sz="2200" dirty="0"/>
          </a:p>
        </p:txBody>
      </p:sp>
      <p:sp>
        <p:nvSpPr>
          <p:cNvPr id="6" name="tile-248"/>
          <p:cNvSpPr txBox="1"/>
          <p:nvPr/>
        </p:nvSpPr>
        <p:spPr>
          <a:xfrm>
            <a:off x="6199632" y="3566160"/>
            <a:ext cx="544068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Interaktionsmodell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deine offene Frage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49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Woher kommt das Lagebild?</a:t>
            </a:r>
            <a:endParaRPr lang="en-US" sz="2800" dirty="0"/>
          </a:p>
        </p:txBody>
      </p:sp>
      <p:sp>
        <p:nvSpPr>
          <p:cNvPr id="3" name="tile-250"/>
          <p:cNvSpPr txBox="1"/>
          <p:nvPr/>
        </p:nvSpPr>
        <p:spPr>
          <a:xfrm>
            <a:off x="548640" y="1691640"/>
            <a:ext cx="347472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Fachberatung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landesweiter Austausch</a:t>
            </a:r>
            <a:endParaRPr lang="en-US" sz="2200" dirty="0"/>
          </a:p>
        </p:txBody>
      </p:sp>
      <p:sp>
        <p:nvSpPr>
          <p:cNvPr id="4" name="tile-251"/>
          <p:cNvSpPr txBox="1"/>
          <p:nvPr/>
        </p:nvSpPr>
        <p:spPr>
          <a:xfrm>
            <a:off x="4297680" y="1691640"/>
            <a:ext cx="347472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Fachmoderation AWT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Dienstbesprechungen der Fachbereichsleitungen</a:t>
            </a:r>
            <a:endParaRPr lang="en-US" sz="2200" dirty="0"/>
          </a:p>
        </p:txBody>
      </p:sp>
      <p:sp>
        <p:nvSpPr>
          <p:cNvPr id="5" name="tile-252"/>
          <p:cNvSpPr txBox="1"/>
          <p:nvPr/>
        </p:nvSpPr>
        <p:spPr>
          <a:xfrm>
            <a:off x="8046720" y="1691640"/>
            <a:ext cx="347472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Tagungen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Netzwerktagung AWT, DGTB</a:t>
            </a:r>
            <a:endParaRPr lang="en-US" sz="2200" dirty="0"/>
          </a:p>
        </p:txBody>
      </p:sp>
      <p:sp>
        <p:nvSpPr>
          <p:cNvPr id="6" name="tile-253"/>
          <p:cNvSpPr txBox="1"/>
          <p:nvPr/>
        </p:nvSpPr>
        <p:spPr>
          <a:xfrm>
            <a:off x="548640" y="3703320"/>
            <a:ext cx="347472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Fortbildungen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Kompetenzzentren, NLQ</a:t>
            </a:r>
            <a:endParaRPr lang="en-US" sz="2200" dirty="0"/>
          </a:p>
        </p:txBody>
      </p:sp>
      <p:sp>
        <p:nvSpPr>
          <p:cNvPr id="7" name="tile-254"/>
          <p:cNvSpPr txBox="1"/>
          <p:nvPr/>
        </p:nvSpPr>
        <p:spPr>
          <a:xfrm>
            <a:off x="4297680" y="3703320"/>
            <a:ext cx="347472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Netzwerke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Netzwerk Techniklehrkräfte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5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Lagebild Technikunterricht</a:t>
            </a:r>
            <a:endParaRPr lang="en-US" sz="2800" dirty="0"/>
          </a:p>
        </p:txBody>
      </p:sp>
      <p:sp>
        <p:nvSpPr>
          <p:cNvPr id="3" name="tile-256"/>
          <p:cNvSpPr txBox="1"/>
          <p:nvPr/>
        </p:nvSpPr>
        <p:spPr>
          <a:xfrm>
            <a:off x="548640" y="1600200"/>
            <a:ext cx="3474720" cy="1920240"/>
          </a:xfrm>
          <a:prstGeom prst="rect">
            <a:avLst/>
          </a:prstGeom>
          <a:solidFill>
            <a:srgbClr val="FCE8E5"/>
          </a:solidFill>
          <a:ln w="6350">
            <a:solidFill>
              <a:srgbClr val="FCE8E5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Personal &amp; Unterricht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WPK-Kürzungen durch Lehrkräftemangel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weniger ausgebildete Techniklehrkräfte</a:t>
            </a:r>
            <a:endParaRPr lang="en-US" sz="2000" dirty="0"/>
          </a:p>
        </p:txBody>
      </p:sp>
      <p:sp>
        <p:nvSpPr>
          <p:cNvPr id="4" name="tile-257"/>
          <p:cNvSpPr txBox="1"/>
          <p:nvPr/>
        </p:nvSpPr>
        <p:spPr>
          <a:xfrm>
            <a:off x="4297680" y="1600200"/>
            <a:ext cx="3474720" cy="1920240"/>
          </a:xfrm>
          <a:prstGeom prst="rect">
            <a:avLst/>
          </a:prstGeom>
          <a:solidFill>
            <a:srgbClr val="FCE8E5"/>
          </a:solidFill>
          <a:ln w="6350">
            <a:solidFill>
              <a:srgbClr val="FCE8E5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Fachräume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Ausstattung verschlechtert sich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Werkräume werden Klassenräume</a:t>
            </a:r>
            <a:endParaRPr lang="en-US" sz="2000" dirty="0"/>
          </a:p>
        </p:txBody>
      </p:sp>
      <p:sp>
        <p:nvSpPr>
          <p:cNvPr id="5" name="tile-258"/>
          <p:cNvSpPr txBox="1"/>
          <p:nvPr/>
        </p:nvSpPr>
        <p:spPr>
          <a:xfrm>
            <a:off x="8046720" y="1600200"/>
            <a:ext cx="3474720" cy="1920240"/>
          </a:xfrm>
          <a:prstGeom prst="rect">
            <a:avLst/>
          </a:prstGeom>
          <a:solidFill>
            <a:srgbClr val="E2F4E8"/>
          </a:solidFill>
          <a:ln w="6350">
            <a:solidFill>
              <a:srgbClr val="E2F4E8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Digitalisierung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Nachfrage: Arduino, 3D-Druck, Lasercutter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n-21-Projektschulen</a:t>
            </a:r>
            <a:endParaRPr lang="en-US" sz="2000" dirty="0"/>
          </a:p>
        </p:txBody>
      </p:sp>
      <p:sp>
        <p:nvSpPr>
          <p:cNvPr id="6" name="tile-259"/>
          <p:cNvSpPr txBox="1"/>
          <p:nvPr/>
        </p:nvSpPr>
        <p:spPr>
          <a:xfrm>
            <a:off x="548640" y="3703320"/>
            <a:ext cx="3474720" cy="1920240"/>
          </a:xfrm>
          <a:prstGeom prst="rect">
            <a:avLst/>
          </a:prstGeom>
          <a:solidFill>
            <a:srgbClr val="E2F4E8"/>
          </a:solidFill>
          <a:ln w="6350">
            <a:solidFill>
              <a:srgbClr val="E2F4E8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Curricula &amp; Erlasse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KC AWT IGS (MK 2023)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IGS-Erlass 2026: Projektunterricht in jedem Jahrgang</a:t>
            </a:r>
            <a:endParaRPr lang="en-US" sz="2000" dirty="0"/>
          </a:p>
        </p:txBody>
      </p:sp>
      <p:sp>
        <p:nvSpPr>
          <p:cNvPr id="7" name="tile-260"/>
          <p:cNvSpPr txBox="1"/>
          <p:nvPr/>
        </p:nvSpPr>
        <p:spPr>
          <a:xfrm>
            <a:off x="4297680" y="3703320"/>
            <a:ext cx="3474720" cy="192024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MakerSpaces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großes Interesse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oft: erst Geräte, dann Konzept</a:t>
            </a:r>
            <a:endParaRPr lang="en-US" sz="2000" dirty="0"/>
          </a:p>
        </p:txBody>
      </p:sp>
      <p:sp>
        <p:nvSpPr>
          <p:cNvPr id="8" name="tile-261"/>
          <p:cNvSpPr txBox="1"/>
          <p:nvPr/>
        </p:nvSpPr>
        <p:spPr>
          <a:xfrm>
            <a:off x="8046720" y="3703320"/>
            <a:ext cx="3474720" cy="192024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Digitale Lernmaterialien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eigene Plattformen, oft mit KI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Qualität, Lizenz, Datenschutz?</a:t>
            </a:r>
            <a:endParaRPr lang="en-US" sz="2000" dirty="0"/>
          </a:p>
        </p:txBody>
      </p:sp>
      <p:sp>
        <p:nvSpPr>
          <p:cNvPr id="9" name="text-262"/>
          <p:cNvSpPr txBox="1"/>
          <p:nvPr/>
        </p:nvSpPr>
        <p:spPr>
          <a:xfrm>
            <a:off x="548640" y="589788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Beobachtungen aus Fachberatung und Fachmoderation, Stand WiSe 2024/25; Curricula ergänzt 10/2026 (IGS-Erlass v. 01.08.2026, Nr. 4.3 und 4.5)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63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MakerSpace statt Robotik-Fachraum</a:t>
            </a:r>
            <a:endParaRPr lang="en-US" sz="2800" dirty="0"/>
          </a:p>
        </p:txBody>
      </p:sp>
      <p:graphicFrame>
        <p:nvGraphicFramePr>
          <p:cNvPr id="6" name="table-2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2544"/>
                <a:gridCol w="4361688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</a:rPr>
                        <a:t>Robotik-Fachraum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</a:rPr>
                        <a:t>Raum für Projektlernen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Ausgangspunkt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Gerät, Technologie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Problem oder Idee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Nutzung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Kurs zum Gerät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Projekte aller Fächer und Gruppen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Ausstattung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Klassensätze Hightech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Technologiemix analog und digital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Lehrkraft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Instruktion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Lernbegleitung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Ergebnis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gleiche Produkte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individuelle Prototypen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Risiko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„Gerätefriedhof“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Überforderung ohne Rahmen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</a:tbl>
          </a:graphicData>
        </a:graphic>
      </p:graphicFrame>
      <p:sp>
        <p:nvSpPr>
          <p:cNvPr id="4" name="text-265"/>
          <p:cNvSpPr txBox="1"/>
          <p:nvPr/>
        </p:nvSpPr>
        <p:spPr>
          <a:xfrm>
            <a:off x="548640" y="580644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Aus dem MakerSpace-Kompass (eigene Darstellung). Hardware-Fokus verwässert das Bildungspotenzial (Liu 2018, zit. n. Maurer &amp; Ingold 2021).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66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Neun Handlungsfelder – zwei betreffen Raum und Ausstattung</a:t>
            </a:r>
            <a:endParaRPr lang="en-US" sz="2800" dirty="0"/>
          </a:p>
        </p:txBody>
      </p:sp>
      <p:sp>
        <p:nvSpPr>
          <p:cNvPr id="3" name="box-267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Prinzipien der Maker Education</a:t>
            </a:r>
            <a:endParaRPr lang="en-US" sz="1800" dirty="0"/>
          </a:p>
        </p:txBody>
      </p:sp>
      <p:sp>
        <p:nvSpPr>
          <p:cNvPr id="4" name="box-268"/>
          <p:cNvSpPr txBox="1"/>
          <p:nvPr/>
        </p:nvSpPr>
        <p:spPr>
          <a:xfrm>
            <a:off x="548640" y="2194560"/>
            <a:ext cx="3474720" cy="786384"/>
          </a:xfrm>
          <a:prstGeom prst="rect">
            <a:avLst/>
          </a:prstGeom>
          <a:solidFill>
            <a:srgbClr val="FFFFFF"/>
          </a:solidFill>
          <a:ln w="2540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1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Ziele &amp; Making-Kompetenzen</a:t>
            </a:r>
            <a:endParaRPr lang="en-US" sz="2000" dirty="0"/>
          </a:p>
        </p:txBody>
      </p:sp>
      <p:sp>
        <p:nvSpPr>
          <p:cNvPr id="5" name="box-269"/>
          <p:cNvSpPr txBox="1"/>
          <p:nvPr/>
        </p:nvSpPr>
        <p:spPr>
          <a:xfrm>
            <a:off x="4297680" y="2194560"/>
            <a:ext cx="3474720" cy="786384"/>
          </a:xfrm>
          <a:prstGeom prst="rect">
            <a:avLst/>
          </a:prstGeom>
          <a:solidFill>
            <a:srgbClr val="FFFFFF"/>
          </a:solidFill>
          <a:ln w="2540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2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Haltung, Mindset</a:t>
            </a:r>
            <a:endParaRPr lang="en-US" sz="2000" dirty="0"/>
          </a:p>
        </p:txBody>
      </p:sp>
      <p:sp>
        <p:nvSpPr>
          <p:cNvPr id="6" name="box-270"/>
          <p:cNvSpPr txBox="1"/>
          <p:nvPr/>
        </p:nvSpPr>
        <p:spPr>
          <a:xfrm>
            <a:off x="8046720" y="2194560"/>
            <a:ext cx="3474720" cy="786384"/>
          </a:xfrm>
          <a:prstGeom prst="rect">
            <a:avLst/>
          </a:prstGeom>
          <a:solidFill>
            <a:srgbClr val="FFFFFF"/>
          </a:solidFill>
          <a:ln w="2540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3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Didaktik, Lernangebote</a:t>
            </a:r>
            <a:endParaRPr lang="en-US" sz="2000" dirty="0"/>
          </a:p>
        </p:txBody>
      </p:sp>
      <p:sp>
        <p:nvSpPr>
          <p:cNvPr id="7" name="box-271"/>
          <p:cNvSpPr txBox="1"/>
          <p:nvPr/>
        </p:nvSpPr>
        <p:spPr>
          <a:xfrm>
            <a:off x="548640" y="3127248"/>
            <a:ext cx="3474720" cy="786384"/>
          </a:xfrm>
          <a:prstGeom prst="rect">
            <a:avLst/>
          </a:prstGeom>
          <a:solidFill>
            <a:srgbClr val="FFFFFF"/>
          </a:solidFill>
          <a:ln w="2540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4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Lernbegleitung</a:t>
            </a:r>
            <a:endParaRPr lang="en-US" sz="2000" dirty="0"/>
          </a:p>
        </p:txBody>
      </p:sp>
      <p:sp>
        <p:nvSpPr>
          <p:cNvPr id="8" name="box-272"/>
          <p:cNvSpPr txBox="1"/>
          <p:nvPr/>
        </p:nvSpPr>
        <p:spPr>
          <a:xfrm>
            <a:off x="4297680" y="3127248"/>
            <a:ext cx="3474720" cy="786384"/>
          </a:xfrm>
          <a:prstGeom prst="rect">
            <a:avLst/>
          </a:prstGeom>
          <a:solidFill>
            <a:srgbClr val="FFFFFF"/>
          </a:solidFill>
          <a:ln w="2540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5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Making-Curriculum</a:t>
            </a:r>
            <a:endParaRPr lang="en-US" sz="2000" dirty="0"/>
          </a:p>
        </p:txBody>
      </p:sp>
      <p:sp>
        <p:nvSpPr>
          <p:cNvPr id="9" name="box-273"/>
          <p:cNvSpPr txBox="1"/>
          <p:nvPr/>
        </p:nvSpPr>
        <p:spPr>
          <a:xfrm>
            <a:off x="8046720" y="3127248"/>
            <a:ext cx="3474720" cy="786384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6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Raumgestaltung</a:t>
            </a:r>
            <a:endParaRPr lang="en-US" sz="2000" dirty="0"/>
          </a:p>
        </p:txBody>
      </p:sp>
      <p:sp>
        <p:nvSpPr>
          <p:cNvPr id="10" name="box-274"/>
          <p:cNvSpPr txBox="1"/>
          <p:nvPr/>
        </p:nvSpPr>
        <p:spPr>
          <a:xfrm>
            <a:off x="548640" y="4059936"/>
            <a:ext cx="3474720" cy="786384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7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Material- und Geräteausstattung</a:t>
            </a:r>
            <a:endParaRPr lang="en-US" sz="2000" dirty="0"/>
          </a:p>
        </p:txBody>
      </p:sp>
      <p:sp>
        <p:nvSpPr>
          <p:cNvPr id="11" name="box-275"/>
          <p:cNvSpPr txBox="1"/>
          <p:nvPr/>
        </p:nvSpPr>
        <p:spPr>
          <a:xfrm>
            <a:off x="4297680" y="4059936"/>
            <a:ext cx="3474720" cy="786384"/>
          </a:xfrm>
          <a:prstGeom prst="rect">
            <a:avLst/>
          </a:prstGeom>
          <a:solidFill>
            <a:srgbClr val="FFFFFF"/>
          </a:solidFill>
          <a:ln w="2540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8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Weiterbildung Schulhausteam</a:t>
            </a:r>
            <a:endParaRPr lang="en-US" sz="2000" dirty="0"/>
          </a:p>
        </p:txBody>
      </p:sp>
      <p:sp>
        <p:nvSpPr>
          <p:cNvPr id="12" name="box-276"/>
          <p:cNvSpPr txBox="1"/>
          <p:nvPr/>
        </p:nvSpPr>
        <p:spPr>
          <a:xfrm>
            <a:off x="8046720" y="4059936"/>
            <a:ext cx="3474720" cy="786384"/>
          </a:xfrm>
          <a:prstGeom prst="rect">
            <a:avLst/>
          </a:prstGeom>
          <a:solidFill>
            <a:srgbClr val="FFFFFF"/>
          </a:solidFill>
          <a:ln w="2540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9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Organisation, Einbindung</a:t>
            </a:r>
            <a:endParaRPr lang="en-US" sz="2000" dirty="0"/>
          </a:p>
        </p:txBody>
      </p:sp>
      <p:sp>
        <p:nvSpPr>
          <p:cNvPr id="13" name="box-277"/>
          <p:cNvSpPr txBox="1"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Rahmenbedingungen der Schule</a:t>
            </a:r>
            <a:endParaRPr lang="en-US" sz="1800" dirty="0"/>
          </a:p>
        </p:txBody>
      </p:sp>
      <p:sp>
        <p:nvSpPr>
          <p:cNvPr id="14" name="text-278"/>
          <p:cNvSpPr txBox="1"/>
          <p:nvPr/>
        </p:nvSpPr>
        <p:spPr>
          <a:xfrm>
            <a:off x="548640" y="580644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Maurer &amp; Ingold (2021): Making und Schule (Teil 6), doi:10.13140/RG.2.2.15683.73760. Robotik in der Schule: meist Programmieren fertiger Sets (Ingold &amp; Maurer 2019, S. 72 f.)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79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Digitale Lernmaterialien selbst entwickeln</a:t>
            </a:r>
            <a:endParaRPr lang="en-US" sz="2800" dirty="0"/>
          </a:p>
        </p:txBody>
      </p:sp>
      <p:sp>
        <p:nvSpPr>
          <p:cNvPr id="3" name="text-280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Nicht mehr „Kann ich das bauen?“, sondern „Ist das gut – und darf ich das teilen?“</a:t>
            </a:r>
            <a:endParaRPr lang="en-US" sz="2200" dirty="0"/>
          </a:p>
        </p:txBody>
      </p:sp>
      <p:sp>
        <p:nvSpPr>
          <p:cNvPr id="4" name="step-281"/>
          <p:cNvSpPr txBox="1"/>
          <p:nvPr/>
        </p:nvSpPr>
        <p:spPr>
          <a:xfrm>
            <a:off x="548640" y="242316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1 Material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Arbeitsblatt, Lernziele, KC</a:t>
            </a:r>
            <a:endParaRPr lang="en-US" sz="2000" dirty="0"/>
          </a:p>
        </p:txBody>
      </p:sp>
      <p:sp>
        <p:nvSpPr>
          <p:cNvPr id="5" name="arrow-282"/>
          <p:cNvSpPr/>
          <p:nvPr/>
        </p:nvSpPr>
        <p:spPr>
          <a:xfrm>
            <a:off x="2493203" y="329184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6" name="step-283"/>
          <p:cNvSpPr txBox="1"/>
          <p:nvPr/>
        </p:nvSpPr>
        <p:spPr>
          <a:xfrm>
            <a:off x="2849819" y="242316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2 Aufgaben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direkte Rückmeldung</a:t>
            </a:r>
            <a:endParaRPr lang="en-US" sz="2000" dirty="0"/>
          </a:p>
        </p:txBody>
      </p:sp>
      <p:sp>
        <p:nvSpPr>
          <p:cNvPr id="7" name="arrow-284"/>
          <p:cNvSpPr/>
          <p:nvPr/>
        </p:nvSpPr>
        <p:spPr>
          <a:xfrm>
            <a:off x="4794382" y="329184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8" name="step-285"/>
          <p:cNvSpPr txBox="1"/>
          <p:nvPr/>
        </p:nvSpPr>
        <p:spPr>
          <a:xfrm>
            <a:off x="5150998" y="242316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3 Test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Lernstand sichtbar</a:t>
            </a:r>
            <a:endParaRPr lang="en-US" sz="2000" dirty="0"/>
          </a:p>
        </p:txBody>
      </p:sp>
      <p:sp>
        <p:nvSpPr>
          <p:cNvPr id="9" name="arrow-286"/>
          <p:cNvSpPr/>
          <p:nvPr/>
        </p:nvSpPr>
        <p:spPr>
          <a:xfrm>
            <a:off x="7095561" y="329184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10" name="step-287"/>
          <p:cNvSpPr txBox="1"/>
          <p:nvPr/>
        </p:nvSpPr>
        <p:spPr>
          <a:xfrm>
            <a:off x="7452177" y="242316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4 Sichern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Export, z. B. für Notability</a:t>
            </a:r>
            <a:endParaRPr lang="en-US" sz="2000" dirty="0"/>
          </a:p>
        </p:txBody>
      </p:sp>
      <p:sp>
        <p:nvSpPr>
          <p:cNvPr id="11" name="arrow-288"/>
          <p:cNvSpPr/>
          <p:nvPr/>
        </p:nvSpPr>
        <p:spPr>
          <a:xfrm>
            <a:off x="9396740" y="329184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12" name="step-289"/>
          <p:cNvSpPr txBox="1"/>
          <p:nvPr/>
        </p:nvSpPr>
        <p:spPr>
          <a:xfrm>
            <a:off x="9753356" y="242316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5 Teilen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CC BY-NC-SA, Übersicht</a:t>
            </a:r>
            <a:endParaRPr lang="en-US" sz="2000" dirty="0"/>
          </a:p>
        </p:txBody>
      </p:sp>
      <p:sp>
        <p:nvSpPr>
          <p:cNvPr id="13" name="text-290"/>
          <p:cNvSpPr txBox="1"/>
          <p:nvPr/>
        </p:nvSpPr>
        <p:spPr>
          <a:xfrm>
            <a:off x="548640" y="45720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Arbeitsweise bei den Lernplattformen von deinTechniklehrer (Arduino, 3D-Druck, MakerSpace-Kompass, diese Kolloquium-Plattform). Eigene Darstellung.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9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Chancen und Grenzen</a:t>
            </a:r>
            <a:endParaRPr lang="en-US" sz="2800" dirty="0"/>
          </a:p>
        </p:txBody>
      </p:sp>
      <p:sp>
        <p:nvSpPr>
          <p:cNvPr id="3" name="tile-292"/>
          <p:cNvSpPr txBox="1"/>
          <p:nvPr/>
        </p:nvSpPr>
        <p:spPr>
          <a:xfrm>
            <a:off x="548640" y="1600200"/>
            <a:ext cx="5440680" cy="3291840"/>
          </a:xfrm>
          <a:prstGeom prst="rect">
            <a:avLst/>
          </a:prstGeom>
          <a:solidFill>
            <a:srgbClr val="E2F4E8"/>
          </a:solidFill>
          <a:ln w="6350">
            <a:solidFill>
              <a:srgbClr val="E2F4E8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7803F"/>
                </a:solidFill>
              </a:rPr>
              <a:t>Chancen</a:t>
            </a:r>
            <a:endParaRPr lang="en-US" sz="24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passgenau zu Unterricht und KC</a:t>
            </a:r>
            <a:endParaRPr lang="en-US" sz="24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direkte Rückmeldung, Differenzierung</a:t>
            </a:r>
            <a:endParaRPr lang="en-US" sz="24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teilbar als OER</a:t>
            </a:r>
            <a:endParaRPr lang="en-US" sz="2400" dirty="0"/>
          </a:p>
        </p:txBody>
      </p:sp>
      <p:sp>
        <p:nvSpPr>
          <p:cNvPr id="4" name="tile-293"/>
          <p:cNvSpPr txBox="1"/>
          <p:nvPr/>
        </p:nvSpPr>
        <p:spPr>
          <a:xfrm>
            <a:off x="6199632" y="1600200"/>
            <a:ext cx="5440680" cy="3291840"/>
          </a:xfrm>
          <a:prstGeom prst="rect">
            <a:avLst/>
          </a:prstGeom>
          <a:solidFill>
            <a:srgbClr val="FCE8E5"/>
          </a:solidFill>
          <a:ln w="6350">
            <a:solidFill>
              <a:srgbClr val="FCE8E5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23B2E"/>
                </a:solidFill>
              </a:rPr>
              <a:t>Grenzen</a:t>
            </a:r>
            <a:endParaRPr lang="en-US" sz="24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fachliche Prüfung bleibt bei der Lehrkraft</a:t>
            </a:r>
            <a:endParaRPr lang="en-US" sz="24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Datenschutz: keine Konten, keine Schülerdaten</a:t>
            </a:r>
            <a:endParaRPr lang="en-US" sz="24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Urheberrecht: nur klar lizenzierte Inhalte</a:t>
            </a:r>
            <a:endParaRPr lang="en-US" sz="2400" dirty="0"/>
          </a:p>
        </p:txBody>
      </p:sp>
      <p:sp>
        <p:nvSpPr>
          <p:cNvPr id="5" name="text-294"/>
          <p:cNvSpPr txBox="1"/>
          <p:nvPr/>
        </p:nvSpPr>
        <p:spPr>
          <a:xfrm>
            <a:off x="548640" y="534924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Rahmen: KMK (2021): Lehren und Lernen in der digitalen Welt, Beschluss v. 09.12.2021; KC AWT IGS, Kap. 2.4 „Medienkompetenz im AWT-Unterricht“, S. 14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9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Thesen für das Gespräch</a:t>
            </a:r>
            <a:endParaRPr lang="en-US" sz="2800" dirty="0"/>
          </a:p>
        </p:txBody>
      </p:sp>
      <p:sp>
        <p:nvSpPr>
          <p:cNvPr id="3" name="box-296"/>
          <p:cNvSpPr txBox="1"/>
          <p:nvPr/>
        </p:nvSpPr>
        <p:spPr>
          <a:xfrm>
            <a:off x="548640" y="1600200"/>
            <a:ext cx="68580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</a:t>
            </a:r>
            <a:endParaRPr lang="en-US" sz="2600" dirty="0"/>
          </a:p>
        </p:txBody>
      </p:sp>
      <p:sp>
        <p:nvSpPr>
          <p:cNvPr id="4" name="box-297"/>
          <p:cNvSpPr txBox="1"/>
          <p:nvPr/>
        </p:nvSpPr>
        <p:spPr>
          <a:xfrm>
            <a:off x="1325880" y="1600200"/>
            <a:ext cx="4663440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4232F"/>
                </a:solidFill>
              </a:rPr>
              <a:t>Der Lehrkräftemangel trifft die praktischen Fächer stärker als andere.</a:t>
            </a:r>
            <a:endParaRPr lang="en-US" sz="1900" dirty="0"/>
          </a:p>
        </p:txBody>
      </p:sp>
      <p:sp>
        <p:nvSpPr>
          <p:cNvPr id="5" name="box-298"/>
          <p:cNvSpPr txBox="1"/>
          <p:nvPr/>
        </p:nvSpPr>
        <p:spPr>
          <a:xfrm>
            <a:off x="6199632" y="1600200"/>
            <a:ext cx="68580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endParaRPr lang="en-US" sz="2600" dirty="0"/>
          </a:p>
        </p:txBody>
      </p:sp>
      <p:sp>
        <p:nvSpPr>
          <p:cNvPr id="6" name="box-299"/>
          <p:cNvSpPr txBox="1"/>
          <p:nvPr/>
        </p:nvSpPr>
        <p:spPr>
          <a:xfrm>
            <a:off x="6976872" y="1600200"/>
            <a:ext cx="4663440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4232F"/>
                </a:solidFill>
              </a:rPr>
              <a:t>3D-Druck und Arduino machen Technikunterricht moderner.</a:t>
            </a:r>
            <a:endParaRPr lang="en-US" sz="1900" dirty="0"/>
          </a:p>
        </p:txBody>
      </p:sp>
      <p:sp>
        <p:nvSpPr>
          <p:cNvPr id="7" name="box-300"/>
          <p:cNvSpPr txBox="1"/>
          <p:nvPr/>
        </p:nvSpPr>
        <p:spPr>
          <a:xfrm>
            <a:off x="548640" y="2926080"/>
            <a:ext cx="68580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endParaRPr lang="en-US" sz="2600" dirty="0"/>
          </a:p>
        </p:txBody>
      </p:sp>
      <p:sp>
        <p:nvSpPr>
          <p:cNvPr id="8" name="box-301"/>
          <p:cNvSpPr txBox="1"/>
          <p:nvPr/>
        </p:nvSpPr>
        <p:spPr>
          <a:xfrm>
            <a:off x="1325880" y="2926080"/>
            <a:ext cx="4663440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4232F"/>
                </a:solidFill>
              </a:rPr>
              <a:t>Ein MakerSpace ohne Konzept wird zum Gerätefriedhof.</a:t>
            </a:r>
            <a:endParaRPr lang="en-US" sz="1900" dirty="0"/>
          </a:p>
        </p:txBody>
      </p:sp>
      <p:sp>
        <p:nvSpPr>
          <p:cNvPr id="9" name="box-302"/>
          <p:cNvSpPr txBox="1"/>
          <p:nvPr/>
        </p:nvSpPr>
        <p:spPr>
          <a:xfrm>
            <a:off x="6199632" y="2926080"/>
            <a:ext cx="68580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4</a:t>
            </a:r>
            <a:endParaRPr lang="en-US" sz="2600" dirty="0"/>
          </a:p>
        </p:txBody>
      </p:sp>
      <p:sp>
        <p:nvSpPr>
          <p:cNvPr id="10" name="box-303"/>
          <p:cNvSpPr txBox="1"/>
          <p:nvPr/>
        </p:nvSpPr>
        <p:spPr>
          <a:xfrm>
            <a:off x="6976872" y="2926080"/>
            <a:ext cx="4663440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4232F"/>
                </a:solidFill>
              </a:rPr>
              <a:t>Technik sollte im Fächerverbund AWT aufgehen.</a:t>
            </a:r>
            <a:endParaRPr lang="en-US" sz="1900" dirty="0"/>
          </a:p>
        </p:txBody>
      </p:sp>
      <p:sp>
        <p:nvSpPr>
          <p:cNvPr id="11" name="box-304"/>
          <p:cNvSpPr txBox="1"/>
          <p:nvPr/>
        </p:nvSpPr>
        <p:spPr>
          <a:xfrm>
            <a:off x="548640" y="4251960"/>
            <a:ext cx="68580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5</a:t>
            </a:r>
            <a:endParaRPr lang="en-US" sz="2600" dirty="0"/>
          </a:p>
        </p:txBody>
      </p:sp>
      <p:sp>
        <p:nvSpPr>
          <p:cNvPr id="12" name="box-305"/>
          <p:cNvSpPr txBox="1"/>
          <p:nvPr/>
        </p:nvSpPr>
        <p:spPr>
          <a:xfrm>
            <a:off x="1325880" y="4251960"/>
            <a:ext cx="4663440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4232F"/>
                </a:solidFill>
              </a:rPr>
              <a:t>Lehrkräfte sollten digitale Lernmaterialien selbst entwickeln.</a:t>
            </a:r>
            <a:endParaRPr lang="en-US" sz="1900" dirty="0"/>
          </a:p>
        </p:txBody>
      </p:sp>
      <p:sp>
        <p:nvSpPr>
          <p:cNvPr id="13" name="box-306"/>
          <p:cNvSpPr txBox="1"/>
          <p:nvPr/>
        </p:nvSpPr>
        <p:spPr>
          <a:xfrm>
            <a:off x="6199632" y="4251960"/>
            <a:ext cx="68580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6</a:t>
            </a:r>
            <a:endParaRPr lang="en-US" sz="2600" dirty="0"/>
          </a:p>
        </p:txBody>
      </p:sp>
      <p:sp>
        <p:nvSpPr>
          <p:cNvPr id="14" name="box-307"/>
          <p:cNvSpPr txBox="1"/>
          <p:nvPr/>
        </p:nvSpPr>
        <p:spPr>
          <a:xfrm>
            <a:off x="6976872" y="4251960"/>
            <a:ext cx="4663440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4232F"/>
                </a:solidFill>
              </a:rPr>
              <a:t>Badges können Noten ergänzen.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08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Leistungsbewertung im Technikunterricht</a:t>
            </a:r>
            <a:endParaRPr lang="en-US" sz="2800" dirty="0"/>
          </a:p>
        </p:txBody>
      </p:sp>
      <p:sp>
        <p:nvSpPr>
          <p:cNvPr id="3" name="quote-309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228600" tIns="355600" rIns="355600" bIns="22860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32F"/>
                </a:solidFill>
              </a:rPr>
              <a:t>„Klassenbildung sowie Lehrereinsatz sind entscheidende Rahmenbedingungen für den Unterricht. Es ist Aufgabe der Schule, zwischen den Klassen eines Schuljahrgangs einen annähernd gleichen Leistungsstand sicherzustellen.“</a:t>
            </a:r>
            <a:endParaRPr lang="en-US" sz="24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56687A"/>
                </a:solidFill>
              </a:rPr>
              <a:t>MK Niedersachsen (2014): Orientierungsrahmen Schulqualität, QM 3.3, S. 11</a:t>
            </a:r>
            <a:endParaRPr lang="en-US" sz="2400" dirty="0"/>
          </a:p>
        </p:txBody>
      </p:sp>
      <p:sp>
        <p:nvSpPr>
          <p:cNvPr id="4" name="text-310"/>
          <p:cNvSpPr txBox="1"/>
          <p:nvPr/>
        </p:nvSpPr>
        <p:spPr>
          <a:xfrm>
            <a:off x="548640" y="4434840"/>
            <a:ext cx="11094415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Wozu dient Leistungsbewertung?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1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Funktionen der Leistungsbewertung</a:t>
            </a:r>
            <a:endParaRPr lang="en-US" sz="2800" dirty="0"/>
          </a:p>
        </p:txBody>
      </p:sp>
      <p:sp>
        <p:nvSpPr>
          <p:cNvPr id="3" name="tile-312"/>
          <p:cNvSpPr txBox="1"/>
          <p:nvPr/>
        </p:nvSpPr>
        <p:spPr>
          <a:xfrm>
            <a:off x="548640" y="1600200"/>
            <a:ext cx="3474720" cy="20116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Schüler:innen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Bestätigung, Ermutigung, Lernförderung, Selbsteinschätzung</a:t>
            </a:r>
            <a:endParaRPr lang="en-US" sz="2200" dirty="0"/>
          </a:p>
        </p:txBody>
      </p:sp>
      <p:sp>
        <p:nvSpPr>
          <p:cNvPr id="4" name="tile-313"/>
          <p:cNvSpPr txBox="1"/>
          <p:nvPr/>
        </p:nvSpPr>
        <p:spPr>
          <a:xfrm>
            <a:off x="4297680" y="1600200"/>
            <a:ext cx="3474720" cy="20116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Erziehungsberechtigte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Information über Lernentwicklung und Schwierigkeiten</a:t>
            </a:r>
            <a:endParaRPr lang="en-US" sz="2200" dirty="0"/>
          </a:p>
        </p:txBody>
      </p:sp>
      <p:sp>
        <p:nvSpPr>
          <p:cNvPr id="5" name="tile-314"/>
          <p:cNvSpPr txBox="1"/>
          <p:nvPr/>
        </p:nvSpPr>
        <p:spPr>
          <a:xfrm>
            <a:off x="8046720" y="1600200"/>
            <a:ext cx="3474720" cy="20116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Lehrkräfte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Wirksamkeit der Lernprozesse, nötige Anpassungen</a:t>
            </a:r>
            <a:endParaRPr lang="en-US" sz="2200" dirty="0"/>
          </a:p>
        </p:txBody>
      </p:sp>
      <p:sp>
        <p:nvSpPr>
          <p:cNvPr id="6" name="quote-315"/>
          <p:cNvSpPr txBox="1"/>
          <p:nvPr/>
        </p:nvSpPr>
        <p:spPr>
          <a:xfrm>
            <a:off x="548640" y="3840480"/>
            <a:ext cx="11094415" cy="192024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228600" tIns="355600" rIns="355600" bIns="22860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32F"/>
                </a:solidFill>
              </a:rPr>
              <a:t>„Die Leistungsbewertung muss den Verlauf eines Lernprozesses berücksichtigen und dokumentieren und darf sich nicht ausschließlich auf punktuelle Leistungsmessung beziehen.“</a:t>
            </a:r>
            <a:endParaRPr lang="en-US" sz="24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56687A"/>
                </a:solidFill>
              </a:rPr>
              <a:t>RdErl. „Die Arbeit in den Schuljahrgängen 5 bis 10 der IGS“ v. 01.08.2026, Nr. 7.2 (Funktionen: Nr. 7.1–7.3)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16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Ein Fall aus dem Fachraum</a:t>
            </a:r>
            <a:endParaRPr lang="en-US" sz="2800" dirty="0"/>
          </a:p>
        </p:txBody>
      </p:sp>
      <p:sp>
        <p:nvSpPr>
          <p:cNvPr id="3" name="text-317"/>
          <p:cNvSpPr txBox="1"/>
          <p:nvPr/>
        </p:nvSpPr>
        <p:spPr>
          <a:xfrm>
            <a:off x="548640" y="1600200"/>
            <a:ext cx="310896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b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C23B2E"/>
                </a:solidFill>
              </a:rPr>
              <a:t>4</a:t>
            </a:r>
            <a:endParaRPr lang="en-US" sz="6600" dirty="0"/>
          </a:p>
        </p:txBody>
      </p:sp>
      <p:sp>
        <p:nvSpPr>
          <p:cNvPr id="4" name="text-318"/>
          <p:cNvSpPr txBox="1"/>
          <p:nvPr/>
        </p:nvSpPr>
        <p:spPr>
          <a:xfrm>
            <a:off x="54864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232F"/>
                </a:solidFill>
              </a:rPr>
              <a:t>1. Halbjahr: Arduino</a:t>
            </a:r>
            <a:endParaRPr lang="en-US" sz="2000" dirty="0"/>
          </a:p>
        </p:txBody>
      </p:sp>
      <p:sp>
        <p:nvSpPr>
          <p:cNvPr id="5" name="text-319"/>
          <p:cNvSpPr txBox="1"/>
          <p:nvPr/>
        </p:nvSpPr>
        <p:spPr>
          <a:xfrm>
            <a:off x="3840480" y="1600200"/>
            <a:ext cx="310896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b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17803F"/>
                </a:solidFill>
              </a:rPr>
              <a:t>1</a:t>
            </a:r>
            <a:endParaRPr lang="en-US" sz="6600" dirty="0"/>
          </a:p>
        </p:txBody>
      </p:sp>
      <p:sp>
        <p:nvSpPr>
          <p:cNvPr id="6" name="text-320"/>
          <p:cNvSpPr txBox="1"/>
          <p:nvPr/>
        </p:nvSpPr>
        <p:spPr>
          <a:xfrm>
            <a:off x="384048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232F"/>
                </a:solidFill>
              </a:rPr>
              <a:t>2. Halbjahr: Holztechnik</a:t>
            </a:r>
            <a:endParaRPr lang="en-US" sz="2000" dirty="0"/>
          </a:p>
        </p:txBody>
      </p:sp>
      <p:sp>
        <p:nvSpPr>
          <p:cNvPr id="7" name="text-321"/>
          <p:cNvSpPr txBox="1"/>
          <p:nvPr/>
        </p:nvSpPr>
        <p:spPr>
          <a:xfrm>
            <a:off x="7132320" y="1600200"/>
            <a:ext cx="448056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b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35591"/>
                </a:solidFill>
              </a:rPr>
              <a:t>3+ ?</a:t>
            </a:r>
            <a:endParaRPr lang="en-US" sz="6600" dirty="0"/>
          </a:p>
        </p:txBody>
      </p:sp>
      <p:sp>
        <p:nvSpPr>
          <p:cNvPr id="8" name="text-322"/>
          <p:cNvSpPr txBox="1"/>
          <p:nvPr/>
        </p:nvSpPr>
        <p:spPr>
          <a:xfrm>
            <a:off x="7132320" y="2743200"/>
            <a:ext cx="44805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232F"/>
                </a:solidFill>
              </a:rPr>
              <a:t>Gesamtnote</a:t>
            </a:r>
            <a:endParaRPr lang="en-US" sz="2000" dirty="0"/>
          </a:p>
        </p:txBody>
      </p:sp>
      <p:sp>
        <p:nvSpPr>
          <p:cNvPr id="9" name="box-323"/>
          <p:cNvSpPr txBox="1"/>
          <p:nvPr/>
        </p:nvSpPr>
        <p:spPr>
          <a:xfrm>
            <a:off x="548640" y="4206240"/>
            <a:ext cx="11094415" cy="1005840"/>
          </a:xfrm>
          <a:prstGeom prst="rect">
            <a:avLst/>
          </a:prstGeom>
          <a:solidFill>
            <a:srgbClr val="FFF3C9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32F"/>
                </a:solidFill>
              </a:rPr>
              <a:t>Gerecht? Und wie bewertest du ein Werkstück – Produkt und Prozess?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2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Formativ, summativ – oder gar keine Noten?</a:t>
            </a:r>
            <a:endParaRPr lang="en-US" sz="2800" dirty="0"/>
          </a:p>
        </p:txBody>
      </p:sp>
      <p:sp>
        <p:nvSpPr>
          <p:cNvPr id="3" name="tile-325"/>
          <p:cNvSpPr txBox="1"/>
          <p:nvPr/>
        </p:nvSpPr>
        <p:spPr>
          <a:xfrm>
            <a:off x="548640" y="1600200"/>
            <a:ext cx="5440680" cy="23774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formativ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begleitend, lernfördernd: Rückmeldegespräch, Lerntagebuch, Zwischencheck</a:t>
            </a:r>
            <a:endParaRPr lang="en-US" sz="2600" dirty="0"/>
          </a:p>
        </p:txBody>
      </p:sp>
      <p:sp>
        <p:nvSpPr>
          <p:cNvPr id="4" name="tile-326"/>
          <p:cNvSpPr txBox="1"/>
          <p:nvPr/>
        </p:nvSpPr>
        <p:spPr>
          <a:xfrm>
            <a:off x="6199632" y="1600200"/>
            <a:ext cx="5440680" cy="237744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summativ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abschließend, bilanzierend: Klassenarbeit, Note für das Werkstück</a:t>
            </a:r>
            <a:endParaRPr lang="en-US" sz="2600" dirty="0"/>
          </a:p>
        </p:txBody>
      </p:sp>
      <p:sp>
        <p:nvSpPr>
          <p:cNvPr id="5" name="box-327"/>
          <p:cNvSpPr txBox="1"/>
          <p:nvPr/>
        </p:nvSpPr>
        <p:spPr>
          <a:xfrm>
            <a:off x="548640" y="4206240"/>
            <a:ext cx="11094415" cy="9144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35591"/>
                </a:solidFill>
              </a:rPr>
              <a:t>Noten abschaffen? Was leisten Badges?</a:t>
            </a:r>
            <a:endParaRPr lang="en-US" sz="2800" dirty="0"/>
          </a:p>
        </p:txBody>
      </p:sp>
      <p:sp>
        <p:nvSpPr>
          <p:cNvPr id="6" name="text-328"/>
          <p:cNvSpPr txBox="1"/>
          <p:nvPr/>
        </p:nvSpPr>
        <p:spPr>
          <a:xfrm>
            <a:off x="548640" y="539496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IGS-Erlass v. 01.08.2026, Nr. 7.3: Grundlage sind auch „alternative Leistungsnachweise“.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29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Impulsreferat und Diskussion</a:t>
            </a:r>
            <a:endParaRPr lang="en-US" sz="2800" dirty="0"/>
          </a:p>
        </p:txBody>
      </p:sp>
      <p:sp>
        <p:nvSpPr>
          <p:cNvPr id="3" name="step-330"/>
          <p:cNvSpPr txBox="1"/>
          <p:nvPr/>
        </p:nvSpPr>
        <p:spPr>
          <a:xfrm>
            <a:off x="548640" y="178308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Einleitung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Fragestellung</a:t>
            </a:r>
            <a:endParaRPr lang="en-US" sz="2000" dirty="0"/>
          </a:p>
        </p:txBody>
      </p:sp>
      <p:sp>
        <p:nvSpPr>
          <p:cNvPr id="4" name="arrow-331"/>
          <p:cNvSpPr/>
          <p:nvPr/>
        </p:nvSpPr>
        <p:spPr>
          <a:xfrm>
            <a:off x="2493203" y="265176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5" name="step-332"/>
          <p:cNvSpPr txBox="1"/>
          <p:nvPr/>
        </p:nvSpPr>
        <p:spPr>
          <a:xfrm>
            <a:off x="2849819" y="178308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Klärung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Begriffe, Modelle</a:t>
            </a:r>
            <a:endParaRPr lang="en-US" sz="2000" dirty="0"/>
          </a:p>
        </p:txBody>
      </p:sp>
      <p:sp>
        <p:nvSpPr>
          <p:cNvPr id="6" name="arrow-333"/>
          <p:cNvSpPr/>
          <p:nvPr/>
        </p:nvSpPr>
        <p:spPr>
          <a:xfrm>
            <a:off x="4794382" y="265176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7" name="step-334"/>
          <p:cNvSpPr txBox="1"/>
          <p:nvPr/>
        </p:nvSpPr>
        <p:spPr>
          <a:xfrm>
            <a:off x="5150998" y="178308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Hauptteil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Quellen, Positionen, Praxis</a:t>
            </a:r>
            <a:endParaRPr lang="en-US" sz="2000" dirty="0"/>
          </a:p>
        </p:txBody>
      </p:sp>
      <p:sp>
        <p:nvSpPr>
          <p:cNvPr id="8" name="arrow-335"/>
          <p:cNvSpPr/>
          <p:nvPr/>
        </p:nvSpPr>
        <p:spPr>
          <a:xfrm>
            <a:off x="7095561" y="265176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9" name="step-336"/>
          <p:cNvSpPr txBox="1"/>
          <p:nvPr/>
        </p:nvSpPr>
        <p:spPr>
          <a:xfrm>
            <a:off x="7452177" y="178308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Fazit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Ansätze für die Diskussion</a:t>
            </a:r>
            <a:endParaRPr lang="en-US" sz="2000" dirty="0"/>
          </a:p>
        </p:txBody>
      </p:sp>
      <p:sp>
        <p:nvSpPr>
          <p:cNvPr id="10" name="arrow-337"/>
          <p:cNvSpPr/>
          <p:nvPr/>
        </p:nvSpPr>
        <p:spPr>
          <a:xfrm>
            <a:off x="9396740" y="265176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11" name="step-338"/>
          <p:cNvSpPr txBox="1"/>
          <p:nvPr/>
        </p:nvSpPr>
        <p:spPr>
          <a:xfrm>
            <a:off x="9753356" y="178308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Diskussion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Fragen mit Impulsen</a:t>
            </a:r>
            <a:endParaRPr lang="en-US" sz="2000" dirty="0"/>
          </a:p>
        </p:txBody>
      </p:sp>
      <p:graphicFrame>
        <p:nvGraphicFramePr>
          <p:cNvPr id="15" name="table-3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Referat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Vortrag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20 Min. + Diskussion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40 Min. + Diskussion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+ Ausarbeitung (über 10 Seiten)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keine Ausarbeitung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Präsentation als PDF vorher einreichen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Präsentation als PDF vorher einreichen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40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Nach Termin 3: Aufgabenpaket 3</a:t>
            </a:r>
            <a:endParaRPr lang="en-US" sz="2800" dirty="0"/>
          </a:p>
        </p:txBody>
      </p:sp>
      <p:sp>
        <p:nvSpPr>
          <p:cNvPr id="3" name="tile-341"/>
          <p:cNvSpPr txBox="1"/>
          <p:nvPr/>
        </p:nvSpPr>
        <p:spPr>
          <a:xfrm>
            <a:off x="548640" y="1600200"/>
            <a:ext cx="5440680" cy="21945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Vertiefungen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MakerSpace-Fall, Qualitätscheck einer Lernplattform, eigenes digitales Lernmaterial, Leistungsbewertung</a:t>
            </a:r>
            <a:endParaRPr lang="en-US" sz="2200" dirty="0"/>
          </a:p>
        </p:txBody>
      </p:sp>
      <p:sp>
        <p:nvSpPr>
          <p:cNvPr id="4" name="tile-342"/>
          <p:cNvSpPr txBox="1"/>
          <p:nvPr/>
        </p:nvSpPr>
        <p:spPr>
          <a:xfrm>
            <a:off x="6199632" y="1600200"/>
            <a:ext cx="5440680" cy="219456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Bei Referat: Ausarbeitung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Diskussionsergebnisse und Ausblick, über 10 Seiten – Abgabe zum Ende des Semesters</a:t>
            </a:r>
            <a:endParaRPr lang="en-US" sz="2200" dirty="0"/>
          </a:p>
        </p:txBody>
      </p:sp>
      <p:sp>
        <p:nvSpPr>
          <p:cNvPr id="5" name="link-343"/>
          <p:cNvSpPr txBox="1"/>
          <p:nvPr/>
        </p:nvSpPr>
        <p:spPr>
          <a:xfrm>
            <a:off x="548640" y="4160520"/>
            <a:ext cx="71323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232F"/>
                </a:solidFill>
              </a:rPr>
              <a:t>Lernplattform: </a:t>
            </a:r>
            <a:pPr indent="0" marL="0">
              <a:buNone/>
            </a:pPr>
            <a:r>
              <a:rPr lang="en-US" sz="3000" b="1" u="sng" dirty="0">
                <a:solidFill>
                  <a:srgbClr val="0355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https://t1p.de/tdk-26</a:t>
            </a:r>
            <a:endParaRPr lang="en-US" sz="3000" dirty="0"/>
          </a:p>
        </p:txBody>
      </p:sp>
      <p:pic>
        <p:nvPicPr>
          <p:cNvPr id="6" name="qr-344" descr="QR-Code zur Lernplattform: https://t1p.de/tdk-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3794760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inTechniklehrer">
  <a:themeElements>
    <a:clrScheme name="deinTechniklehrer">
      <a:dk1>
        <a:srgbClr val="14232F"/>
      </a:dk1>
      <a:lt1>
        <a:srgbClr val="FFFFFF"/>
      </a:lt1>
      <a:dk2>
        <a:srgbClr val="023A63"/>
      </a:dk2>
      <a:lt2>
        <a:srgbClr val="EEF3F7"/>
      </a:lt2>
      <a:accent1>
        <a:srgbClr val="035591"/>
      </a:accent1>
      <a:accent2>
        <a:srgbClr val="F5B700"/>
      </a:accent2>
      <a:accent3>
        <a:srgbClr val="C2255C"/>
      </a:accent3>
      <a:accent4>
        <a:srgbClr val="D9480F"/>
      </a:accent4>
      <a:accent5>
        <a:srgbClr val="3B6E8F"/>
      </a:accent5>
      <a:accent6>
        <a:srgbClr val="17803F"/>
      </a:accent6>
      <a:hlink>
        <a:srgbClr val="035591"/>
      </a:hlink>
      <a:folHlink>
        <a:srgbClr val="56687A"/>
      </a:folHlink>
    </a:clrScheme>
    <a:fontScheme name="deinTechniklehr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Technikdidaktisches Kolloquium – Termin 3: Aktuelle Entwicklungen, Leistungsbewertung, Referat</dc:title>
  <dc:subject>Universität Hildesheim, WiSe 2026/27</dc:subject>
  <dc:creator>Daniel Beyrodt</dc:creator>
  <cp:lastModifiedBy>Daniel Beyrodt</cp:lastModifiedBy>
  <cp:revision>1</cp:revision>
  <dcterms:created xsi:type="dcterms:W3CDTF">2026-10-28T05:44:09Z</dcterms:created>
  <dcterms:modified xsi:type="dcterms:W3CDTF">2026-10-28T05:44:09Z</dcterms:modified>
</cp:coreProperties>
</file>