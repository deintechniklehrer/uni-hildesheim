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Dozent: Daniel Beyrodt, Fachmoderator AWT, RLSB Hannover.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fragen, dann auflösen: ein wissenschaftliches Gespräch.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Wege zu den LP nach den Hinweisen für Studierende auf der TaskCard.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Gesprächseinstieg. Die Antworten später mit Ropohl vergleichen.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und QR-Code zur Kursseite (TaskCard): https://t1p.de/tdk-26. Dort in der Spalte Aufgaben der Link zur Lernplattform.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pic>
        <p:nvPicPr>
          <p:cNvPr id="2" name="Image 0" descr="/tmp/claude-0/-home-claude/f0df0622-abb2-5c0a-a841-b1a0cebc56b9/scratchpad/pptx/logo.png">    </p:cNvPr>
          <p:cNvPicPr>
            <a:picLocks noChangeAspect="1"/>
          </p:cNvPicPr>
          <p:nvPr/>
        </p:nvPicPr>
        <p:blipFill>
          <a:blip r:embed="rId1"/>
          <a:stretch>
            <a:fillRect/>
          </a:stretch>
        </p:blipFill>
        <p:spPr>
          <a:xfrm>
            <a:off x="411480" y="201168"/>
            <a:ext cx="1609344" cy="457200"/>
          </a:xfrm>
          <a:prstGeom prst="rect">
            <a:avLst/>
          </a:prstGeom>
        </p:spPr>
      </p:pic>
      <p:sp>
        <p:nvSpPr>
          <p:cNvPr id="3" name="Text 0"/>
          <p:cNvSpPr/>
          <p:nvPr/>
        </p:nvSpPr>
        <p:spPr>
          <a:xfrm>
            <a:off x="5029200" y="201168"/>
            <a:ext cx="6720840" cy="457200"/>
          </a:xfrm>
          <a:prstGeom prst="rect">
            <a:avLst/>
          </a:prstGeom>
          <a:noFill/>
          <a:ln/>
        </p:spPr>
        <p:txBody>
          <a:bodyPr wrap="square" lIns="0" tIns="0" rIns="0" bIns="0" rtlCol="0" anchor="ctr"/>
          <a:lstStyle/>
          <a:p>
            <a:pPr algn="r" indent="0" marL="0">
              <a:buNone/>
            </a:pPr>
            <a:r>
              <a:rPr lang="en-US" sz="1400" dirty="0">
                <a:solidFill>
                  <a:srgbClr val="56687A"/>
                </a:solidFill>
              </a:rPr>
              <a:t>Technikdidaktisches Kolloquium · Termin 1</a:t>
            </a:r>
            <a:endParaRPr lang="en-US" sz="1400" dirty="0"/>
          </a:p>
        </p:txBody>
      </p:sp>
      <p:sp>
        <p:nvSpPr>
          <p:cNvPr id="4" name="Shape 1"/>
          <p:cNvSpPr/>
          <p:nvPr/>
        </p:nvSpPr>
        <p:spPr>
          <a:xfrm>
            <a:off x="411480" y="777240"/>
            <a:ext cx="11368735" cy="0"/>
          </a:xfrm>
          <a:prstGeom prst="line">
            <a:avLst/>
          </a:prstGeom>
          <a:noFill/>
          <a:ln w="12700">
            <a:solidFill>
              <a:srgbClr val="C9D4DE"/>
            </a:solidFill>
            <a:prstDash val="solid"/>
          </a:ln>
        </p:spPr>
      </p:sp>
      <p:sp>
        <p:nvSpPr>
          <p:cNvPr id="5" name="Text 2"/>
          <p:cNvSpPr/>
          <p:nvPr/>
        </p:nvSpPr>
        <p:spPr>
          <a:xfrm>
            <a:off x="411480" y="6473952"/>
            <a:ext cx="8229600" cy="274320"/>
          </a:xfrm>
          <a:prstGeom prst="rect">
            <a:avLst/>
          </a:prstGeom>
          <a:noFill/>
          <a:ln/>
        </p:spPr>
        <p:txBody>
          <a:bodyPr wrap="square" lIns="0" tIns="0" rIns="0" bIns="0" rtlCol="0" anchor="ctr"/>
          <a:lstStyle/>
          <a:p>
            <a:pPr indent="0" marL="0">
              <a:buNone/>
            </a:pPr>
            <a:r>
              <a:rPr lang="en-US" sz="1000" dirty="0">
                <a:solidFill>
                  <a:srgbClr val="56687A"/>
                </a:solidFill>
              </a:rPr>
              <a:t>Daniel Beyrodt · Universität Hildesheim · WiSe 2026/27 · CC BY-NC-SA 4.0</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
    <p:bg>
      <p:bgPr>
        <a:solidFill>
          <a:srgbClr val="023A63"/>
        </a:solidFill>
      </p:bgPr>
    </p:bg>
    <p:spTree>
      <p:nvGrpSpPr>
        <p:cNvPr id="1" name=""/>
        <p:cNvGrpSpPr/>
        <p:nvPr/>
      </p:nvGrpSpPr>
      <p:grpSpPr>
        <a:xfrm>
          <a:off x="0" y="0"/>
          <a:ext cx="0" cy="0"/>
          <a:chOff x="0" y="0"/>
          <a:chExt cx="0" cy="0"/>
        </a:xfrm>
      </p:grpSpPr>
      <p:sp>
        <p:nvSpPr>
          <p:cNvPr id="2" name="Shape 0"/>
          <p:cNvSpPr/>
          <p:nvPr/>
        </p:nvSpPr>
        <p:spPr>
          <a:xfrm>
            <a:off x="548640" y="548640"/>
            <a:ext cx="2926080" cy="960120"/>
          </a:xfrm>
          <a:prstGeom prst="rect">
            <a:avLst/>
          </a:prstGeom>
          <a:solidFill>
            <a:srgbClr val="FFFFFF"/>
          </a:solidFill>
          <a:ln/>
        </p:spPr>
      </p:sp>
      <p:pic>
        <p:nvPicPr>
          <p:cNvPr id="3" name="Image 0" descr="/tmp/claude-0/-home-claude/f0df0622-abb2-5c0a-a841-b1a0cebc56b9/scratchpad/pptx/logo.png">    </p:cNvPr>
          <p:cNvPicPr>
            <a:picLocks noChangeAspect="1"/>
          </p:cNvPicPr>
          <p:nvPr/>
        </p:nvPicPr>
        <p:blipFill>
          <a:blip r:embed="rId1"/>
          <a:stretch>
            <a:fillRect/>
          </a:stretch>
        </p:blipFill>
        <p:spPr>
          <a:xfrm>
            <a:off x="685800" y="640080"/>
            <a:ext cx="2651760" cy="749808"/>
          </a:xfrm>
          <a:prstGeom prst="rect">
            <a:avLst/>
          </a:prstGeom>
        </p:spPr>
      </p:pic>
      <p:sp>
        <p:nvSpPr>
          <p:cNvPr id="4" name="Text 1"/>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C9D8E6"/>
                </a:solidFill>
              </a:rPr>
              <a:t>Daniel Beyrodt · Universität Hildesheim · WiSe 2026/27 · CC BY-NC-SA 4.0</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youtu.be/Wj-KTcxjLqs"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t1p.de/tdk-26" TargetMode="External"/><Relationship Id="rId2" Type="http://schemas.openxmlformats.org/officeDocument/2006/relationships/image" Target="../media/image-17-1.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el-1"/>
          <p:cNvSpPr txBox="1"/>
          <p:nvPr/>
        </p:nvSpPr>
        <p:spPr>
          <a:xfrm>
            <a:off x="548640" y="2011680"/>
            <a:ext cx="10972800" cy="822960"/>
          </a:xfrm>
          <a:prstGeom prst="rect">
            <a:avLst/>
          </a:prstGeom>
          <a:noFill/>
          <a:ln/>
        </p:spPr>
        <p:txBody>
          <a:bodyPr wrap="square" lIns="0" tIns="0" rIns="0" bIns="0" rtlCol="0" anchor="t"/>
          <a:lstStyle/>
          <a:p>
            <a:pPr indent="0" marL="0">
              <a:buNone/>
            </a:pPr>
            <a:r>
              <a:rPr lang="en-US" sz="4400" b="1" dirty="0">
                <a:solidFill>
                  <a:srgbClr val="FFFFFF"/>
                </a:solidFill>
              </a:rPr>
              <a:t>Technikdidaktisches Kolloquium</a:t>
            </a:r>
            <a:endParaRPr lang="en-US" sz="4400" dirty="0"/>
          </a:p>
        </p:txBody>
      </p:sp>
      <p:sp>
        <p:nvSpPr>
          <p:cNvPr id="3" name="text-2"/>
          <p:cNvSpPr txBox="1"/>
          <p:nvPr/>
        </p:nvSpPr>
        <p:spPr>
          <a:xfrm>
            <a:off x="548640" y="2880360"/>
            <a:ext cx="10972800" cy="548640"/>
          </a:xfrm>
          <a:prstGeom prst="rect">
            <a:avLst/>
          </a:prstGeom>
          <a:noFill/>
          <a:ln/>
        </p:spPr>
        <p:txBody>
          <a:bodyPr wrap="square" lIns="38100" tIns="38100" rIns="38100" bIns="38100" rtlCol="0" anchor="t"/>
          <a:lstStyle/>
          <a:p>
            <a:pPr algn="l" indent="0" marL="0">
              <a:buNone/>
            </a:pPr>
            <a:r>
              <a:rPr lang="en-US" sz="2600" b="1" dirty="0">
                <a:solidFill>
                  <a:srgbClr val="F5B700"/>
                </a:solidFill>
              </a:rPr>
              <a:t>Termin 1 · Einführung und Technikbegriff</a:t>
            </a:r>
            <a:endParaRPr lang="en-US" sz="2600" dirty="0"/>
          </a:p>
        </p:txBody>
      </p:sp>
      <p:sp>
        <p:nvSpPr>
          <p:cNvPr id="4" name="box-3"/>
          <p:cNvSpPr txBox="1"/>
          <p:nvPr/>
        </p:nvSpPr>
        <p:spPr>
          <a:xfrm>
            <a:off x="548640" y="3611880"/>
            <a:ext cx="1828800" cy="566928"/>
          </a:xfrm>
          <a:prstGeom prst="rect">
            <a:avLst/>
          </a:prstGeom>
          <a:solidFill>
            <a:srgbClr val="F5B700"/>
          </a:solidFill>
          <a:ln/>
        </p:spPr>
        <p:txBody>
          <a:bodyPr wrap="square" lIns="101600" tIns="101600" rIns="101600" bIns="101600" rtlCol="0" anchor="ctr"/>
          <a:lstStyle/>
          <a:p>
            <a:pPr algn="ctr" indent="0" marL="0">
              <a:buNone/>
            </a:pPr>
            <a:r>
              <a:rPr lang="en-US" sz="2000" b="1" dirty="0">
                <a:solidFill>
                  <a:srgbClr val="14232F"/>
                </a:solidFill>
              </a:rPr>
              <a:t>Termin 1</a:t>
            </a:r>
            <a:endParaRPr lang="en-US" sz="2000" dirty="0"/>
          </a:p>
        </p:txBody>
      </p:sp>
      <p:sp>
        <p:nvSpPr>
          <p:cNvPr id="5" name="text-4"/>
          <p:cNvSpPr txBox="1"/>
          <p:nvPr/>
        </p:nvSpPr>
        <p:spPr>
          <a:xfrm>
            <a:off x="2560320" y="3611880"/>
            <a:ext cx="8961120" cy="566928"/>
          </a:xfrm>
          <a:prstGeom prst="rect">
            <a:avLst/>
          </a:prstGeom>
          <a:noFill/>
          <a:ln/>
        </p:spPr>
        <p:txBody>
          <a:bodyPr wrap="square" lIns="38100" tIns="38100" rIns="38100" bIns="38100" rtlCol="0" anchor="ctr"/>
          <a:lstStyle/>
          <a:p>
            <a:pPr algn="l" indent="0" marL="0">
              <a:buNone/>
            </a:pPr>
            <a:r>
              <a:rPr lang="en-US" sz="2200" b="1" dirty="0">
                <a:solidFill>
                  <a:srgbClr val="FFFFFF"/>
                </a:solidFill>
              </a:rPr>
              <a:t>Einführung · Technikbegriff · Technik im Fächerkanon</a:t>
            </a:r>
            <a:endParaRPr lang="en-US" sz="2200" dirty="0"/>
          </a:p>
        </p:txBody>
      </p:sp>
      <p:sp>
        <p:nvSpPr>
          <p:cNvPr id="6" name="box-5"/>
          <p:cNvSpPr txBox="1"/>
          <p:nvPr/>
        </p:nvSpPr>
        <p:spPr>
          <a:xfrm>
            <a:off x="548640" y="4325112"/>
            <a:ext cx="1828800" cy="566928"/>
          </a:xfrm>
          <a:prstGeom prst="rect">
            <a:avLst/>
          </a:prstGeom>
          <a:solidFill>
            <a:srgbClr val="0F4F7E"/>
          </a:solidFill>
          <a:ln/>
        </p:spPr>
        <p:txBody>
          <a:bodyPr wrap="square" lIns="101600" tIns="101600" rIns="101600" bIns="101600" rtlCol="0" anchor="ctr"/>
          <a:lstStyle/>
          <a:p>
            <a:pPr algn="ctr" indent="0" marL="0">
              <a:buNone/>
            </a:pPr>
            <a:r>
              <a:rPr lang="en-US" sz="2000" b="1" dirty="0">
                <a:solidFill>
                  <a:srgbClr val="FFFFFF"/>
                </a:solidFill>
              </a:rPr>
              <a:t>Termin 2</a:t>
            </a:r>
            <a:endParaRPr lang="en-US" sz="2000" dirty="0"/>
          </a:p>
        </p:txBody>
      </p:sp>
      <p:sp>
        <p:nvSpPr>
          <p:cNvPr id="7" name="text-6"/>
          <p:cNvSpPr txBox="1"/>
          <p:nvPr/>
        </p:nvSpPr>
        <p:spPr>
          <a:xfrm>
            <a:off x="2560320" y="4325112"/>
            <a:ext cx="8961120" cy="566928"/>
          </a:xfrm>
          <a:prstGeom prst="rect">
            <a:avLst/>
          </a:prstGeom>
          <a:noFill/>
          <a:ln/>
        </p:spPr>
        <p:txBody>
          <a:bodyPr wrap="square" lIns="38100" tIns="38100" rIns="38100" bIns="38100" rtlCol="0" anchor="ctr"/>
          <a:lstStyle/>
          <a:p>
            <a:pPr algn="l" indent="0" marL="0">
              <a:buNone/>
            </a:pPr>
            <a:r>
              <a:rPr lang="en-US" sz="2200" dirty="0">
                <a:solidFill>
                  <a:srgbClr val="C9D8E6"/>
                </a:solidFill>
              </a:rPr>
              <a:t>Besprechung Paket 1 · Der mehrperspektivische Technikunterricht</a:t>
            </a:r>
            <a:endParaRPr lang="en-US" sz="2200" dirty="0"/>
          </a:p>
        </p:txBody>
      </p:sp>
      <p:sp>
        <p:nvSpPr>
          <p:cNvPr id="8" name="box-7"/>
          <p:cNvSpPr txBox="1"/>
          <p:nvPr/>
        </p:nvSpPr>
        <p:spPr>
          <a:xfrm>
            <a:off x="548640" y="5038344"/>
            <a:ext cx="1828800" cy="566928"/>
          </a:xfrm>
          <a:prstGeom prst="rect">
            <a:avLst/>
          </a:prstGeom>
          <a:solidFill>
            <a:srgbClr val="0F4F7E"/>
          </a:solidFill>
          <a:ln/>
        </p:spPr>
        <p:txBody>
          <a:bodyPr wrap="square" lIns="101600" tIns="101600" rIns="101600" bIns="101600" rtlCol="0" anchor="ctr"/>
          <a:lstStyle/>
          <a:p>
            <a:pPr algn="ctr" indent="0" marL="0">
              <a:buNone/>
            </a:pPr>
            <a:r>
              <a:rPr lang="en-US" sz="2000" b="1" dirty="0">
                <a:solidFill>
                  <a:srgbClr val="FFFFFF"/>
                </a:solidFill>
              </a:rPr>
              <a:t>Termin 3</a:t>
            </a:r>
            <a:endParaRPr lang="en-US" sz="2000" dirty="0"/>
          </a:p>
        </p:txBody>
      </p:sp>
      <p:sp>
        <p:nvSpPr>
          <p:cNvPr id="9" name="text-8"/>
          <p:cNvSpPr txBox="1"/>
          <p:nvPr/>
        </p:nvSpPr>
        <p:spPr>
          <a:xfrm>
            <a:off x="2560320" y="5038344"/>
            <a:ext cx="8961120" cy="566928"/>
          </a:xfrm>
          <a:prstGeom prst="rect">
            <a:avLst/>
          </a:prstGeom>
          <a:noFill/>
          <a:ln/>
        </p:spPr>
        <p:txBody>
          <a:bodyPr wrap="square" lIns="38100" tIns="38100" rIns="38100" bIns="38100" rtlCol="0" anchor="ctr"/>
          <a:lstStyle/>
          <a:p>
            <a:pPr algn="l" indent="0" marL="0">
              <a:buNone/>
            </a:pPr>
            <a:r>
              <a:rPr lang="en-US" sz="2200" dirty="0">
                <a:solidFill>
                  <a:srgbClr val="C9D8E6"/>
                </a:solidFill>
              </a:rPr>
              <a:t>Besprechung Paket 2 · Aktuelle Entwicklungen · Referat und Diskussion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el-9"/>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Was ist ein Kolloquium?</a:t>
            </a:r>
            <a:endParaRPr lang="en-US" sz="2800" dirty="0"/>
          </a:p>
        </p:txBody>
      </p:sp>
      <p:sp>
        <p:nvSpPr>
          <p:cNvPr id="3" name="text-10"/>
          <p:cNvSpPr txBox="1"/>
          <p:nvPr/>
        </p:nvSpPr>
        <p:spPr>
          <a:xfrm>
            <a:off x="548640" y="1783080"/>
            <a:ext cx="11094415" cy="2011680"/>
          </a:xfrm>
          <a:prstGeom prst="rect">
            <a:avLst/>
          </a:prstGeom>
          <a:noFill/>
          <a:ln/>
        </p:spPr>
        <p:txBody>
          <a:bodyPr wrap="square" lIns="38100" tIns="38100" rIns="38100" bIns="38100" rtlCol="0" anchor="ctr"/>
          <a:lstStyle/>
          <a:p>
            <a:pPr algn="ctr" indent="0" marL="0">
              <a:buNone/>
            </a:pPr>
            <a:r>
              <a:rPr lang="en-US" sz="12000" b="1" dirty="0">
                <a:solidFill>
                  <a:srgbClr val="C9D4DE"/>
                </a:solidFill>
              </a:rPr>
              <a:t>?</a:t>
            </a:r>
            <a:endParaRPr lang="en-US" sz="12000" dirty="0"/>
          </a:p>
        </p:txBody>
      </p:sp>
      <p:sp>
        <p:nvSpPr>
          <p:cNvPr id="4" name="box-11"/>
          <p:cNvSpPr txBox="1"/>
          <p:nvPr/>
        </p:nvSpPr>
        <p:spPr>
          <a:xfrm>
            <a:off x="2468880" y="4206240"/>
            <a:ext cx="7315200" cy="1097280"/>
          </a:xfrm>
          <a:prstGeom prst="rect">
            <a:avLst/>
          </a:prstGeom>
          <a:solidFill>
            <a:srgbClr val="FFF3C9"/>
          </a:solidFill>
          <a:ln/>
        </p:spPr>
        <p:txBody>
          <a:bodyPr wrap="square" lIns="101600" tIns="101600" rIns="101600" bIns="101600" rtlCol="0" anchor="ctr"/>
          <a:lstStyle/>
          <a:p>
            <a:pPr algn="ctr" indent="0" marL="0">
              <a:buNone/>
            </a:pPr>
            <a:r>
              <a:rPr lang="en-US" sz="3200" b="1" dirty="0">
                <a:solidFill>
                  <a:srgbClr val="035591"/>
                </a:solidFill>
              </a:rPr>
              <a:t>ein wissenschaftliches Gespräch</a:t>
            </a:r>
            <a:endParaRPr lang="en-US" sz="3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el-12"/>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Inhalt</a:t>
            </a:r>
            <a:endParaRPr lang="en-US" sz="2800" dirty="0"/>
          </a:p>
        </p:txBody>
      </p:sp>
      <p:sp>
        <p:nvSpPr>
          <p:cNvPr id="3" name="box-13"/>
          <p:cNvSpPr txBox="1"/>
          <p:nvPr/>
        </p:nvSpPr>
        <p:spPr>
          <a:xfrm>
            <a:off x="548640" y="1691640"/>
            <a:ext cx="822960" cy="822960"/>
          </a:xfrm>
          <a:prstGeom prst="rect">
            <a:avLst/>
          </a:prstGeom>
          <a:solidFill>
            <a:srgbClr val="035591"/>
          </a:solidFill>
          <a:ln/>
        </p:spPr>
        <p:txBody>
          <a:bodyPr wrap="square" lIns="101600" tIns="101600" rIns="101600" bIns="101600" rtlCol="0" anchor="ctr"/>
          <a:lstStyle/>
          <a:p>
            <a:pPr algn="ctr" indent="0" marL="0">
              <a:buNone/>
            </a:pPr>
            <a:r>
              <a:rPr lang="en-US" sz="3000" b="1" dirty="0">
                <a:solidFill>
                  <a:srgbClr val="FFFFFF"/>
                </a:solidFill>
              </a:rPr>
              <a:t>1</a:t>
            </a:r>
            <a:endParaRPr lang="en-US" sz="3000" dirty="0"/>
          </a:p>
        </p:txBody>
      </p:sp>
      <p:sp>
        <p:nvSpPr>
          <p:cNvPr id="4" name="box-14"/>
          <p:cNvSpPr txBox="1"/>
          <p:nvPr/>
        </p:nvSpPr>
        <p:spPr>
          <a:xfrm>
            <a:off x="1508760" y="1691640"/>
            <a:ext cx="10134295" cy="822960"/>
          </a:xfrm>
          <a:prstGeom prst="rect">
            <a:avLst/>
          </a:prstGeom>
          <a:solidFill>
            <a:srgbClr val="EEF3F7"/>
          </a:solidFill>
          <a:ln/>
        </p:spPr>
        <p:txBody>
          <a:bodyPr wrap="square" lIns="101600" tIns="101600" rIns="101600" bIns="101600" rtlCol="0" anchor="ctr"/>
          <a:lstStyle/>
          <a:p>
            <a:pPr algn="l" indent="0" marL="0">
              <a:buNone/>
            </a:pPr>
            <a:r>
              <a:rPr lang="en-US" sz="2600" dirty="0">
                <a:solidFill>
                  <a:srgbClr val="14232F"/>
                </a:solidFill>
              </a:rPr>
              <a:t>Der Technikbegriff / „Grundbegriffe technischer Bildung“</a:t>
            </a:r>
            <a:endParaRPr lang="en-US" sz="2600" dirty="0"/>
          </a:p>
        </p:txBody>
      </p:sp>
      <p:sp>
        <p:nvSpPr>
          <p:cNvPr id="5" name="box-15"/>
          <p:cNvSpPr txBox="1"/>
          <p:nvPr/>
        </p:nvSpPr>
        <p:spPr>
          <a:xfrm>
            <a:off x="548640" y="2743200"/>
            <a:ext cx="822960" cy="822960"/>
          </a:xfrm>
          <a:prstGeom prst="rect">
            <a:avLst/>
          </a:prstGeom>
          <a:solidFill>
            <a:srgbClr val="035591"/>
          </a:solidFill>
          <a:ln/>
        </p:spPr>
        <p:txBody>
          <a:bodyPr wrap="square" lIns="101600" tIns="101600" rIns="101600" bIns="101600" rtlCol="0" anchor="ctr"/>
          <a:lstStyle/>
          <a:p>
            <a:pPr algn="ctr" indent="0" marL="0">
              <a:buNone/>
            </a:pPr>
            <a:r>
              <a:rPr lang="en-US" sz="3000" b="1" dirty="0">
                <a:solidFill>
                  <a:srgbClr val="FFFFFF"/>
                </a:solidFill>
              </a:rPr>
              <a:t>2</a:t>
            </a:r>
            <a:endParaRPr lang="en-US" sz="3000" dirty="0"/>
          </a:p>
        </p:txBody>
      </p:sp>
      <p:sp>
        <p:nvSpPr>
          <p:cNvPr id="6" name="box-16"/>
          <p:cNvSpPr txBox="1"/>
          <p:nvPr/>
        </p:nvSpPr>
        <p:spPr>
          <a:xfrm>
            <a:off x="1508760" y="2743200"/>
            <a:ext cx="10134295" cy="822960"/>
          </a:xfrm>
          <a:prstGeom prst="rect">
            <a:avLst/>
          </a:prstGeom>
          <a:solidFill>
            <a:srgbClr val="EEF3F7"/>
          </a:solidFill>
          <a:ln/>
        </p:spPr>
        <p:txBody>
          <a:bodyPr wrap="square" lIns="101600" tIns="101600" rIns="101600" bIns="101600" rtlCol="0" anchor="ctr"/>
          <a:lstStyle/>
          <a:p>
            <a:pPr algn="l" indent="0" marL="0">
              <a:buNone/>
            </a:pPr>
            <a:r>
              <a:rPr lang="en-US" sz="2600" dirty="0">
                <a:solidFill>
                  <a:srgbClr val="14232F"/>
                </a:solidFill>
              </a:rPr>
              <a:t>Der mehrperspektivische Technikunterricht</a:t>
            </a:r>
            <a:endParaRPr lang="en-US" sz="2600" dirty="0"/>
          </a:p>
        </p:txBody>
      </p:sp>
      <p:sp>
        <p:nvSpPr>
          <p:cNvPr id="7" name="box-17"/>
          <p:cNvSpPr txBox="1"/>
          <p:nvPr/>
        </p:nvSpPr>
        <p:spPr>
          <a:xfrm>
            <a:off x="548640" y="3794760"/>
            <a:ext cx="822960" cy="822960"/>
          </a:xfrm>
          <a:prstGeom prst="rect">
            <a:avLst/>
          </a:prstGeom>
          <a:solidFill>
            <a:srgbClr val="035591"/>
          </a:solidFill>
          <a:ln/>
        </p:spPr>
        <p:txBody>
          <a:bodyPr wrap="square" lIns="101600" tIns="101600" rIns="101600" bIns="101600" rtlCol="0" anchor="ctr"/>
          <a:lstStyle/>
          <a:p>
            <a:pPr algn="ctr" indent="0" marL="0">
              <a:buNone/>
            </a:pPr>
            <a:r>
              <a:rPr lang="en-US" sz="3000" b="1" dirty="0">
                <a:solidFill>
                  <a:srgbClr val="FFFFFF"/>
                </a:solidFill>
              </a:rPr>
              <a:t>3</a:t>
            </a:r>
            <a:endParaRPr lang="en-US" sz="3000" dirty="0"/>
          </a:p>
        </p:txBody>
      </p:sp>
      <p:sp>
        <p:nvSpPr>
          <p:cNvPr id="8" name="box-18"/>
          <p:cNvSpPr txBox="1"/>
          <p:nvPr/>
        </p:nvSpPr>
        <p:spPr>
          <a:xfrm>
            <a:off x="1508760" y="3794760"/>
            <a:ext cx="10134295" cy="822960"/>
          </a:xfrm>
          <a:prstGeom prst="rect">
            <a:avLst/>
          </a:prstGeom>
          <a:solidFill>
            <a:srgbClr val="EEF3F7"/>
          </a:solidFill>
          <a:ln/>
        </p:spPr>
        <p:txBody>
          <a:bodyPr wrap="square" lIns="101600" tIns="101600" rIns="101600" bIns="101600" rtlCol="0" anchor="ctr"/>
          <a:lstStyle/>
          <a:p>
            <a:pPr algn="l" indent="0" marL="0">
              <a:buNone/>
            </a:pPr>
            <a:r>
              <a:rPr lang="en-US" sz="2600" dirty="0">
                <a:solidFill>
                  <a:srgbClr val="14232F"/>
                </a:solidFill>
              </a:rPr>
              <a:t>Gespräch: aktuelle Entwicklungen im Technikunterricht</a:t>
            </a:r>
            <a:endParaRPr lang="en-US" sz="2600" dirty="0"/>
          </a:p>
        </p:txBody>
      </p:sp>
      <p:sp>
        <p:nvSpPr>
          <p:cNvPr id="9" name="box-19"/>
          <p:cNvSpPr txBox="1"/>
          <p:nvPr/>
        </p:nvSpPr>
        <p:spPr>
          <a:xfrm>
            <a:off x="548640" y="4846320"/>
            <a:ext cx="822960" cy="822960"/>
          </a:xfrm>
          <a:prstGeom prst="rect">
            <a:avLst/>
          </a:prstGeom>
          <a:solidFill>
            <a:srgbClr val="035591"/>
          </a:solidFill>
          <a:ln/>
        </p:spPr>
        <p:txBody>
          <a:bodyPr wrap="square" lIns="101600" tIns="101600" rIns="101600" bIns="101600" rtlCol="0" anchor="ctr"/>
          <a:lstStyle/>
          <a:p>
            <a:pPr algn="ctr" indent="0" marL="0">
              <a:buNone/>
            </a:pPr>
            <a:r>
              <a:rPr lang="en-US" sz="3000" b="1" dirty="0">
                <a:solidFill>
                  <a:srgbClr val="FFFFFF"/>
                </a:solidFill>
              </a:rPr>
              <a:t>4</a:t>
            </a:r>
            <a:endParaRPr lang="en-US" sz="3000" dirty="0"/>
          </a:p>
        </p:txBody>
      </p:sp>
      <p:sp>
        <p:nvSpPr>
          <p:cNvPr id="10" name="box-20"/>
          <p:cNvSpPr txBox="1"/>
          <p:nvPr/>
        </p:nvSpPr>
        <p:spPr>
          <a:xfrm>
            <a:off x="1508760" y="4846320"/>
            <a:ext cx="10134295" cy="822960"/>
          </a:xfrm>
          <a:prstGeom prst="rect">
            <a:avLst/>
          </a:prstGeom>
          <a:solidFill>
            <a:srgbClr val="EEF3F7"/>
          </a:solidFill>
          <a:ln/>
        </p:spPr>
        <p:txBody>
          <a:bodyPr wrap="square" lIns="101600" tIns="101600" rIns="101600" bIns="101600" rtlCol="0" anchor="ctr"/>
          <a:lstStyle/>
          <a:p>
            <a:pPr algn="l" indent="0" marL="0">
              <a:buNone/>
            </a:pPr>
            <a:r>
              <a:rPr lang="en-US" sz="2600" dirty="0">
                <a:solidFill>
                  <a:srgbClr val="14232F"/>
                </a:solidFill>
              </a:rPr>
              <a:t>Referat und Diskussion zu einem Wahlthema</a:t>
            </a:r>
            <a:endParaRPr lang="en-US" sz="26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el-21"/>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Leistungspunktvergabe</a:t>
            </a:r>
            <a:endParaRPr lang="en-US" sz="2800" dirty="0"/>
          </a:p>
        </p:txBody>
      </p:sp>
      <p:sp>
        <p:nvSpPr>
          <p:cNvPr id="3" name="text-22"/>
          <p:cNvSpPr txBox="1"/>
          <p:nvPr/>
        </p:nvSpPr>
        <p:spPr>
          <a:xfrm>
            <a:off x="548640" y="1600200"/>
            <a:ext cx="3108960" cy="1097280"/>
          </a:xfrm>
          <a:prstGeom prst="rect">
            <a:avLst/>
          </a:prstGeom>
          <a:noFill/>
          <a:ln/>
        </p:spPr>
        <p:txBody>
          <a:bodyPr wrap="square" lIns="38100" tIns="38100" rIns="38100" bIns="38100" rtlCol="0" anchor="b"/>
          <a:lstStyle/>
          <a:p>
            <a:pPr algn="ctr" indent="0" marL="0">
              <a:buNone/>
            </a:pPr>
            <a:r>
              <a:rPr lang="en-US" sz="6600" b="1" dirty="0">
                <a:solidFill>
                  <a:srgbClr val="035591"/>
                </a:solidFill>
              </a:rPr>
              <a:t>3 LP</a:t>
            </a:r>
            <a:endParaRPr lang="en-US" sz="6600" dirty="0"/>
          </a:p>
        </p:txBody>
      </p:sp>
      <p:sp>
        <p:nvSpPr>
          <p:cNvPr id="4" name="text-23"/>
          <p:cNvSpPr txBox="1"/>
          <p:nvPr/>
        </p:nvSpPr>
        <p:spPr>
          <a:xfrm>
            <a:off x="548640" y="2743200"/>
            <a:ext cx="3108960" cy="548640"/>
          </a:xfrm>
          <a:prstGeom prst="rect">
            <a:avLst/>
          </a:prstGeom>
          <a:noFill/>
          <a:ln/>
        </p:spPr>
        <p:txBody>
          <a:bodyPr wrap="square" lIns="38100" tIns="38100" rIns="38100" bIns="38100" rtlCol="0" anchor="t"/>
          <a:lstStyle/>
          <a:p>
            <a:pPr algn="ctr" indent="0" marL="0">
              <a:buNone/>
            </a:pPr>
            <a:r>
              <a:rPr lang="en-US" sz="2000" dirty="0">
                <a:solidFill>
                  <a:srgbClr val="14232F"/>
                </a:solidFill>
              </a:rPr>
              <a:t>aktive Teilnahme: Aufgaben, Gespräche, Referat</a:t>
            </a:r>
            <a:endParaRPr lang="en-US" sz="2000" dirty="0"/>
          </a:p>
        </p:txBody>
      </p:sp>
      <p:sp>
        <p:nvSpPr>
          <p:cNvPr id="5" name="tile-24"/>
          <p:cNvSpPr txBox="1"/>
          <p:nvPr/>
        </p:nvSpPr>
        <p:spPr>
          <a:xfrm>
            <a:off x="3931920" y="1691640"/>
            <a:ext cx="3749040" cy="2926080"/>
          </a:xfrm>
          <a:prstGeom prst="rect">
            <a:avLst/>
          </a:prstGeom>
          <a:solidFill>
            <a:srgbClr val="FFF3C9"/>
          </a:solidFill>
          <a:ln w="6350">
            <a:solidFill>
              <a:srgbClr val="FFF3C9"/>
            </a:solidFill>
          </a:ln>
        </p:spPr>
        <p:txBody>
          <a:bodyPr wrap="square" lIns="127000" tIns="127000" rIns="127000" bIns="127000" rtlCol="0" anchor="t"/>
          <a:lstStyle/>
          <a:p>
            <a:pPr indent="0" marL="0">
              <a:buNone/>
            </a:pPr>
            <a:r>
              <a:rPr lang="en-US" sz="2400" b="1" dirty="0">
                <a:solidFill>
                  <a:srgbClr val="035591"/>
                </a:solidFill>
              </a:rPr>
              <a:t>A · Referat</a:t>
            </a:r>
            <a:endParaRPr lang="en-US" sz="2400" dirty="0"/>
          </a:p>
          <a:p>
            <a:pPr marL="203200" indent="-203200">
              <a:spcBef>
                <a:spcPts val="400"/>
              </a:spcBef>
              <a:buSzPct val="100000"/>
              <a:buChar char="•"/>
            </a:pPr>
            <a:r>
              <a:rPr lang="en-US" sz="2000" dirty="0">
                <a:solidFill>
                  <a:srgbClr val="14232F"/>
                </a:solidFill>
              </a:rPr>
              <a:t>20 Min. + Diskussion</a:t>
            </a:r>
            <a:endParaRPr lang="en-US" sz="2400" dirty="0"/>
          </a:p>
          <a:p>
            <a:pPr marL="203200" indent="-203200">
              <a:spcBef>
                <a:spcPts val="400"/>
              </a:spcBef>
              <a:buSzPct val="100000"/>
              <a:buChar char="•"/>
            </a:pPr>
            <a:r>
              <a:rPr lang="en-US" sz="2000" dirty="0">
                <a:solidFill>
                  <a:srgbClr val="14232F"/>
                </a:solidFill>
              </a:rPr>
              <a:t>+ Ausarbeitung mit Diskussionsergebnissen und Ausblick (über 10 Seiten)</a:t>
            </a:r>
            <a:endParaRPr lang="en-US" sz="2400" dirty="0"/>
          </a:p>
        </p:txBody>
      </p:sp>
      <p:sp>
        <p:nvSpPr>
          <p:cNvPr id="6" name="tile-25"/>
          <p:cNvSpPr txBox="1"/>
          <p:nvPr/>
        </p:nvSpPr>
        <p:spPr>
          <a:xfrm>
            <a:off x="7891272" y="1691640"/>
            <a:ext cx="3749040" cy="2926080"/>
          </a:xfrm>
          <a:prstGeom prst="rect">
            <a:avLst/>
          </a:prstGeom>
          <a:solidFill>
            <a:srgbClr val="E2F4E8"/>
          </a:solidFill>
          <a:ln w="6350">
            <a:solidFill>
              <a:srgbClr val="E2F4E8"/>
            </a:solidFill>
          </a:ln>
        </p:spPr>
        <p:txBody>
          <a:bodyPr wrap="square" lIns="127000" tIns="127000" rIns="127000" bIns="127000" rtlCol="0" anchor="t"/>
          <a:lstStyle/>
          <a:p>
            <a:pPr indent="0" marL="0">
              <a:buNone/>
            </a:pPr>
            <a:r>
              <a:rPr lang="en-US" sz="2400" b="1" dirty="0">
                <a:solidFill>
                  <a:srgbClr val="035591"/>
                </a:solidFill>
              </a:rPr>
              <a:t>B · Vortrag</a:t>
            </a:r>
            <a:endParaRPr lang="en-US" sz="2400" dirty="0"/>
          </a:p>
          <a:p>
            <a:pPr marL="203200" indent="-203200">
              <a:spcBef>
                <a:spcPts val="400"/>
              </a:spcBef>
              <a:buSzPct val="100000"/>
              <a:buChar char="•"/>
            </a:pPr>
            <a:r>
              <a:rPr lang="en-US" sz="2000" dirty="0">
                <a:solidFill>
                  <a:srgbClr val="14232F"/>
                </a:solidFill>
              </a:rPr>
              <a:t>40 Min. + Diskussion</a:t>
            </a:r>
            <a:endParaRPr lang="en-US" sz="2400" dirty="0"/>
          </a:p>
          <a:p>
            <a:pPr marL="203200" indent="-203200">
              <a:spcBef>
                <a:spcPts val="400"/>
              </a:spcBef>
              <a:buSzPct val="100000"/>
              <a:buChar char="•"/>
            </a:pPr>
            <a:r>
              <a:rPr lang="en-US" sz="2000" dirty="0">
                <a:solidFill>
                  <a:srgbClr val="14232F"/>
                </a:solidFill>
              </a:rPr>
              <a:t>keine Ausarbeitung</a:t>
            </a:r>
            <a:endParaRPr lang="en-US" sz="2400" dirty="0"/>
          </a:p>
        </p:txBody>
      </p:sp>
      <p:sp>
        <p:nvSpPr>
          <p:cNvPr id="7" name="box-26"/>
          <p:cNvSpPr txBox="1"/>
          <p:nvPr/>
        </p:nvSpPr>
        <p:spPr>
          <a:xfrm>
            <a:off x="548640" y="4892040"/>
            <a:ext cx="11094415" cy="685800"/>
          </a:xfrm>
          <a:prstGeom prst="rect">
            <a:avLst/>
          </a:prstGeom>
          <a:solidFill>
            <a:srgbClr val="FFFFFF"/>
          </a:solidFill>
          <a:ln/>
        </p:spPr>
        <p:txBody>
          <a:bodyPr wrap="square" lIns="101600" tIns="101600" rIns="101600" bIns="101600" rtlCol="0" anchor="ctr"/>
          <a:lstStyle/>
          <a:p>
            <a:pPr algn="ctr" indent="0" marL="0">
              <a:buNone/>
            </a:pPr>
            <a:r>
              <a:rPr lang="en-US" sz="2200" b="1" dirty="0">
                <a:solidFill>
                  <a:srgbClr val="035591"/>
                </a:solidFill>
              </a:rPr>
              <a:t>In beiden Fällen: Präsentation als PDF vor Beginn einreichen</a:t>
            </a:r>
            <a:endParaRPr lang="en-US" sz="2200" dirty="0"/>
          </a:p>
        </p:txBody>
      </p:sp>
      <p:sp>
        <p:nvSpPr>
          <p:cNvPr id="8" name="text-27"/>
          <p:cNvSpPr txBox="1"/>
          <p:nvPr/>
        </p:nvSpPr>
        <p:spPr>
          <a:xfrm>
            <a:off x="548640" y="5943600"/>
            <a:ext cx="11094415" cy="292608"/>
          </a:xfrm>
          <a:prstGeom prst="rect">
            <a:avLst/>
          </a:prstGeom>
          <a:noFill/>
          <a:ln/>
        </p:spPr>
        <p:txBody>
          <a:bodyPr wrap="square" lIns="38100" tIns="38100" rIns="38100" bIns="38100" rtlCol="0" anchor="t"/>
          <a:lstStyle/>
          <a:p>
            <a:pPr algn="l" indent="0" marL="0">
              <a:buNone/>
            </a:pPr>
            <a:r>
              <a:rPr lang="en-US" sz="1100" dirty="0">
                <a:solidFill>
                  <a:srgbClr val="56687A"/>
                </a:solidFill>
              </a:rPr>
              <a:t>Bei Krankheit: Abmeldung bis 7:00 Uhr am selben Tag per Mail. Hinweise zu Vortrag/Referat und Ausarbeitung: Kursseite und Lernplattform.</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el-28"/>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Was ist Technik?</a:t>
            </a:r>
            <a:endParaRPr lang="en-US" sz="2800" dirty="0"/>
          </a:p>
        </p:txBody>
      </p:sp>
      <p:sp>
        <p:nvSpPr>
          <p:cNvPr id="3" name="box-29"/>
          <p:cNvSpPr txBox="1"/>
          <p:nvPr/>
        </p:nvSpPr>
        <p:spPr>
          <a:xfrm>
            <a:off x="548640" y="1965960"/>
            <a:ext cx="11094415" cy="1463040"/>
          </a:xfrm>
          <a:prstGeom prst="rect">
            <a:avLst/>
          </a:prstGeom>
          <a:solidFill>
            <a:srgbClr val="EEF3F7"/>
          </a:solidFill>
          <a:ln/>
        </p:spPr>
        <p:txBody>
          <a:bodyPr wrap="square" lIns="101600" tIns="101600" rIns="101600" bIns="101600" rtlCol="0" anchor="ctr"/>
          <a:lstStyle/>
          <a:p>
            <a:pPr algn="ctr" indent="0" marL="0">
              <a:buNone/>
            </a:pPr>
            <a:r>
              <a:rPr lang="en-US" sz="3600" b="1" dirty="0">
                <a:solidFill>
                  <a:srgbClr val="035591"/>
                </a:solidFill>
              </a:rPr>
              <a:t>Was ist Technik – für dich?</a:t>
            </a:r>
            <a:endParaRPr lang="en-US" sz="3600" dirty="0"/>
          </a:p>
        </p:txBody>
      </p:sp>
      <p:sp>
        <p:nvSpPr>
          <p:cNvPr id="4" name="text-30"/>
          <p:cNvSpPr txBox="1"/>
          <p:nvPr/>
        </p:nvSpPr>
        <p:spPr>
          <a:xfrm>
            <a:off x="548640" y="3931920"/>
            <a:ext cx="11094415" cy="640080"/>
          </a:xfrm>
          <a:prstGeom prst="rect">
            <a:avLst/>
          </a:prstGeom>
          <a:noFill/>
          <a:ln/>
        </p:spPr>
        <p:txBody>
          <a:bodyPr wrap="square" lIns="38100" tIns="38100" rIns="38100" bIns="38100" rtlCol="0" anchor="t"/>
          <a:lstStyle/>
          <a:p>
            <a:pPr algn="ctr" indent="0" marL="0">
              <a:buNone/>
            </a:pPr>
            <a:r>
              <a:rPr lang="en-US" sz="2600" dirty="0">
                <a:solidFill>
                  <a:srgbClr val="56687A"/>
                </a:solidFill>
              </a:rPr>
              <a:t>Spontan, in zwei Sätzen.</a:t>
            </a:r>
            <a:endParaRPr lang="en-US" sz="26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el-31"/>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Termine</a:t>
            </a:r>
            <a:endParaRPr lang="en-US" sz="2800" dirty="0"/>
          </a:p>
        </p:txBody>
      </p:sp>
      <p:sp>
        <p:nvSpPr>
          <p:cNvPr id="3" name="step-32"/>
          <p:cNvSpPr txBox="1"/>
          <p:nvPr/>
        </p:nvSpPr>
        <p:spPr>
          <a:xfrm>
            <a:off x="548640" y="1783080"/>
            <a:ext cx="2464994" cy="2377440"/>
          </a:xfrm>
          <a:prstGeom prst="rect">
            <a:avLst/>
          </a:prstGeom>
          <a:solidFill>
            <a:srgbClr val="FFFFFF"/>
          </a:solidFill>
          <a:ln w="25400">
            <a:solidFill>
              <a:srgbClr val="035591"/>
            </a:solidFill>
          </a:ln>
        </p:spPr>
        <p:txBody>
          <a:bodyPr wrap="square" lIns="114300" tIns="114300" rIns="114300" bIns="114300" rtlCol="0" anchor="t"/>
          <a:lstStyle/>
          <a:p>
            <a:pPr indent="0" marL="0">
              <a:buNone/>
            </a:pPr>
            <a:r>
              <a:rPr lang="en-US" sz="2200" b="1" dirty="0">
                <a:solidFill>
                  <a:srgbClr val="035591"/>
                </a:solidFill>
              </a:rPr>
              <a:t>Termin 1</a:t>
            </a:r>
            <a:endParaRPr lang="en-US" sz="2200" dirty="0"/>
          </a:p>
          <a:p>
            <a:pPr indent="0" marL="0">
              <a:spcBef>
                <a:spcPts val="400"/>
              </a:spcBef>
              <a:buNone/>
            </a:pPr>
            <a:r>
              <a:rPr lang="en-US" sz="1900" dirty="0">
                <a:solidFill>
                  <a:srgbClr val="14232F"/>
                </a:solidFill>
              </a:rPr>
              <a:t>Einführung · Aufgabenpaket 1 bekommen</a:t>
            </a:r>
            <a:endParaRPr lang="en-US" sz="2200" dirty="0"/>
          </a:p>
        </p:txBody>
      </p:sp>
      <p:sp>
        <p:nvSpPr>
          <p:cNvPr id="4" name="arrow-33"/>
          <p:cNvSpPr/>
          <p:nvPr/>
        </p:nvSpPr>
        <p:spPr>
          <a:xfrm>
            <a:off x="3068498" y="2971800"/>
            <a:ext cx="301752" cy="914"/>
          </a:xfrm>
          <a:prstGeom prst="line">
            <a:avLst/>
          </a:prstGeom>
          <a:noFill/>
          <a:ln w="25400">
            <a:solidFill>
              <a:srgbClr val="035591"/>
            </a:solidFill>
            <a:prstDash val="solid"/>
            <a:tailEnd type="triangle"/>
          </a:ln>
        </p:spPr>
      </p:sp>
      <p:sp>
        <p:nvSpPr>
          <p:cNvPr id="5" name="step-34"/>
          <p:cNvSpPr txBox="1"/>
          <p:nvPr/>
        </p:nvSpPr>
        <p:spPr>
          <a:xfrm>
            <a:off x="3425114" y="1783080"/>
            <a:ext cx="2464994" cy="2377440"/>
          </a:xfrm>
          <a:prstGeom prst="rect">
            <a:avLst/>
          </a:prstGeom>
          <a:solidFill>
            <a:srgbClr val="FFFFFF"/>
          </a:solidFill>
          <a:ln w="25400">
            <a:solidFill>
              <a:srgbClr val="035591"/>
            </a:solidFill>
          </a:ln>
        </p:spPr>
        <p:txBody>
          <a:bodyPr wrap="square" lIns="114300" tIns="114300" rIns="114300" bIns="114300" rtlCol="0" anchor="t"/>
          <a:lstStyle/>
          <a:p>
            <a:pPr indent="0" marL="0">
              <a:buNone/>
            </a:pPr>
            <a:r>
              <a:rPr lang="en-US" sz="2200" b="1" dirty="0">
                <a:solidFill>
                  <a:srgbClr val="035591"/>
                </a:solidFill>
              </a:rPr>
              <a:t>Termin 2</a:t>
            </a:r>
            <a:endParaRPr lang="en-US" sz="2200" dirty="0"/>
          </a:p>
          <a:p>
            <a:pPr indent="0" marL="0">
              <a:spcBef>
                <a:spcPts val="400"/>
              </a:spcBef>
              <a:buNone/>
            </a:pPr>
            <a:r>
              <a:rPr lang="en-US" sz="1900" dirty="0">
                <a:solidFill>
                  <a:srgbClr val="14232F"/>
                </a:solidFill>
              </a:rPr>
              <a:t>Paket 1 besprechen · Aufgabenpaket 2</a:t>
            </a:r>
            <a:endParaRPr lang="en-US" sz="2200" dirty="0"/>
          </a:p>
        </p:txBody>
      </p:sp>
      <p:sp>
        <p:nvSpPr>
          <p:cNvPr id="6" name="arrow-35"/>
          <p:cNvSpPr/>
          <p:nvPr/>
        </p:nvSpPr>
        <p:spPr>
          <a:xfrm>
            <a:off x="5944972" y="2971800"/>
            <a:ext cx="301752" cy="914"/>
          </a:xfrm>
          <a:prstGeom prst="line">
            <a:avLst/>
          </a:prstGeom>
          <a:noFill/>
          <a:ln w="25400">
            <a:solidFill>
              <a:srgbClr val="035591"/>
            </a:solidFill>
            <a:prstDash val="solid"/>
            <a:tailEnd type="triangle"/>
          </a:ln>
        </p:spPr>
      </p:sp>
      <p:sp>
        <p:nvSpPr>
          <p:cNvPr id="7" name="step-36"/>
          <p:cNvSpPr txBox="1"/>
          <p:nvPr/>
        </p:nvSpPr>
        <p:spPr>
          <a:xfrm>
            <a:off x="6301588" y="1783080"/>
            <a:ext cx="2464994" cy="2377440"/>
          </a:xfrm>
          <a:prstGeom prst="rect">
            <a:avLst/>
          </a:prstGeom>
          <a:solidFill>
            <a:srgbClr val="FFFFFF"/>
          </a:solidFill>
          <a:ln w="25400">
            <a:solidFill>
              <a:srgbClr val="035591"/>
            </a:solidFill>
          </a:ln>
        </p:spPr>
        <p:txBody>
          <a:bodyPr wrap="square" lIns="114300" tIns="114300" rIns="114300" bIns="114300" rtlCol="0" anchor="t"/>
          <a:lstStyle/>
          <a:p>
            <a:pPr indent="0" marL="0">
              <a:buNone/>
            </a:pPr>
            <a:r>
              <a:rPr lang="en-US" sz="2200" b="1" dirty="0">
                <a:solidFill>
                  <a:srgbClr val="035591"/>
                </a:solidFill>
              </a:rPr>
              <a:t>Termin 3</a:t>
            </a:r>
            <a:endParaRPr lang="en-US" sz="2200" dirty="0"/>
          </a:p>
          <a:p>
            <a:pPr indent="0" marL="0">
              <a:spcBef>
                <a:spcPts val="400"/>
              </a:spcBef>
              <a:buNone/>
            </a:pPr>
            <a:r>
              <a:rPr lang="en-US" sz="1900" dirty="0">
                <a:solidFill>
                  <a:srgbClr val="14232F"/>
                </a:solidFill>
              </a:rPr>
              <a:t>Paket 2 besprechen · Gespräch aktuelle Entwicklungen · Referat + Diskussion</a:t>
            </a:r>
            <a:endParaRPr lang="en-US" sz="2200" dirty="0"/>
          </a:p>
        </p:txBody>
      </p:sp>
      <p:sp>
        <p:nvSpPr>
          <p:cNvPr id="8" name="arrow-37"/>
          <p:cNvSpPr/>
          <p:nvPr/>
        </p:nvSpPr>
        <p:spPr>
          <a:xfrm>
            <a:off x="8821445" y="2971800"/>
            <a:ext cx="301752" cy="914"/>
          </a:xfrm>
          <a:prstGeom prst="line">
            <a:avLst/>
          </a:prstGeom>
          <a:noFill/>
          <a:ln w="25400">
            <a:solidFill>
              <a:srgbClr val="035591"/>
            </a:solidFill>
            <a:prstDash val="solid"/>
            <a:tailEnd type="triangle"/>
          </a:ln>
        </p:spPr>
      </p:sp>
      <p:sp>
        <p:nvSpPr>
          <p:cNvPr id="9" name="step-38"/>
          <p:cNvSpPr txBox="1"/>
          <p:nvPr/>
        </p:nvSpPr>
        <p:spPr>
          <a:xfrm>
            <a:off x="9178061" y="1783080"/>
            <a:ext cx="2464994" cy="2377440"/>
          </a:xfrm>
          <a:prstGeom prst="rect">
            <a:avLst/>
          </a:prstGeom>
          <a:solidFill>
            <a:srgbClr val="FFFFFF"/>
          </a:solidFill>
          <a:ln w="25400">
            <a:solidFill>
              <a:srgbClr val="035591"/>
            </a:solidFill>
          </a:ln>
        </p:spPr>
        <p:txBody>
          <a:bodyPr wrap="square" lIns="114300" tIns="114300" rIns="114300" bIns="114300" rtlCol="0" anchor="t"/>
          <a:lstStyle/>
          <a:p>
            <a:pPr indent="0" marL="0">
              <a:buNone/>
            </a:pPr>
            <a:r>
              <a:rPr lang="en-US" sz="2200" b="1" dirty="0">
                <a:solidFill>
                  <a:srgbClr val="035591"/>
                </a:solidFill>
              </a:rPr>
              <a:t>Danach</a:t>
            </a:r>
            <a:endParaRPr lang="en-US" sz="2200" dirty="0"/>
          </a:p>
          <a:p>
            <a:pPr indent="0" marL="0">
              <a:spcBef>
                <a:spcPts val="400"/>
              </a:spcBef>
              <a:buNone/>
            </a:pPr>
            <a:r>
              <a:rPr lang="en-US" sz="1900" dirty="0">
                <a:solidFill>
                  <a:srgbClr val="14232F"/>
                </a:solidFill>
              </a:rPr>
              <a:t>Ausarbeitung (Weg A)</a:t>
            </a:r>
            <a:endParaRPr lang="en-US" sz="2200" dirty="0"/>
          </a:p>
        </p:txBody>
      </p:sp>
      <p:sp>
        <p:nvSpPr>
          <p:cNvPr id="10" name="box-39"/>
          <p:cNvSpPr txBox="1"/>
          <p:nvPr/>
        </p:nvSpPr>
        <p:spPr>
          <a:xfrm>
            <a:off x="548640" y="4572000"/>
            <a:ext cx="11094415" cy="822960"/>
          </a:xfrm>
          <a:prstGeom prst="rect">
            <a:avLst/>
          </a:prstGeom>
          <a:solidFill>
            <a:srgbClr val="FFF3C9"/>
          </a:solidFill>
          <a:ln/>
        </p:spPr>
        <p:txBody>
          <a:bodyPr wrap="square" lIns="101600" tIns="101600" rIns="101600" bIns="101600" rtlCol="0" anchor="ctr"/>
          <a:lstStyle/>
          <a:p>
            <a:pPr algn="ctr" indent="0" marL="0">
              <a:buNone/>
            </a:pPr>
            <a:r>
              <a:rPr lang="en-US" sz="2200" b="1" dirty="0">
                <a:solidFill>
                  <a:srgbClr val="14232F"/>
                </a:solidFill>
              </a:rPr>
              <a:t>Dazwischen: Aufgaben auf der Lernplattform, vorher als Word oder PDF schicken</a:t>
            </a:r>
            <a:endParaRPr lang="en-US" sz="2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el-40"/>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Mögliche Seminarthemen</a:t>
            </a:r>
            <a:endParaRPr lang="en-US" sz="2800" dirty="0"/>
          </a:p>
        </p:txBody>
      </p:sp>
      <p:sp>
        <p:nvSpPr>
          <p:cNvPr id="3" name="list-41"/>
          <p:cNvSpPr txBox="1"/>
          <p:nvPr/>
        </p:nvSpPr>
        <p:spPr>
          <a:xfrm>
            <a:off x="548640" y="1600200"/>
            <a:ext cx="5486400" cy="4343400"/>
          </a:xfrm>
          <a:prstGeom prst="rect">
            <a:avLst/>
          </a:prstGeom>
          <a:noFill/>
          <a:ln/>
        </p:spPr>
        <p:txBody>
          <a:bodyPr wrap="square" lIns="38100" tIns="38100" rIns="38100" bIns="38100" rtlCol="0" anchor="t"/>
          <a:lstStyle/>
          <a:p>
            <a:pPr marL="279400" indent="-279400">
              <a:spcAft>
                <a:spcPts val="1000"/>
              </a:spcAft>
              <a:buSzPct val="100000"/>
              <a:buChar char="•"/>
            </a:pPr>
            <a:r>
              <a:rPr lang="en-US" sz="1700" dirty="0">
                <a:solidFill>
                  <a:srgbClr val="14232F"/>
                </a:solidFill>
              </a:rPr>
              <a:t>Leistungsbewertung und Leistungskontrollen</a:t>
            </a:r>
            <a:endParaRPr lang="en-US" sz="1700" dirty="0"/>
          </a:p>
          <a:p>
            <a:pPr marL="279400" indent="-279400">
              <a:spcAft>
                <a:spcPts val="1000"/>
              </a:spcAft>
              <a:buSzPct val="100000"/>
              <a:buChar char="•"/>
            </a:pPr>
            <a:r>
              <a:rPr lang="en-US" sz="1700" dirty="0">
                <a:solidFill>
                  <a:srgbClr val="14232F"/>
                </a:solidFill>
              </a:rPr>
              <a:t>Guter Unterricht → guter Technikunterricht</a:t>
            </a:r>
            <a:endParaRPr lang="en-US" sz="1700" dirty="0"/>
          </a:p>
          <a:p>
            <a:pPr marL="279400" indent="-279400">
              <a:spcAft>
                <a:spcPts val="1000"/>
              </a:spcAft>
              <a:buSzPct val="100000"/>
              <a:buChar char="•"/>
            </a:pPr>
            <a:r>
              <a:rPr lang="en-US" sz="1700" dirty="0">
                <a:solidFill>
                  <a:srgbClr val="14232F"/>
                </a:solidFill>
              </a:rPr>
              <a:t>Fachraumkonzepte</a:t>
            </a:r>
            <a:endParaRPr lang="en-US" sz="1700" dirty="0"/>
          </a:p>
          <a:p>
            <a:pPr marL="279400" indent="-279400">
              <a:spcAft>
                <a:spcPts val="1000"/>
              </a:spcAft>
              <a:buSzPct val="100000"/>
              <a:buChar char="•"/>
            </a:pPr>
            <a:r>
              <a:rPr lang="en-US" sz="1700" dirty="0">
                <a:solidFill>
                  <a:srgbClr val="14232F"/>
                </a:solidFill>
              </a:rPr>
              <a:t>Binnendifferenzierung</a:t>
            </a:r>
            <a:endParaRPr lang="en-US" sz="1700" dirty="0"/>
          </a:p>
          <a:p>
            <a:pPr marL="279400" indent="-279400">
              <a:spcAft>
                <a:spcPts val="1000"/>
              </a:spcAft>
              <a:buSzPct val="100000"/>
              <a:buChar char="•"/>
            </a:pPr>
            <a:r>
              <a:rPr lang="en-US" sz="1700" dirty="0">
                <a:solidFill>
                  <a:srgbClr val="14232F"/>
                </a:solidFill>
              </a:rPr>
              <a:t>Förderansätze → Inklusion</a:t>
            </a:r>
            <a:endParaRPr lang="en-US" sz="1700" dirty="0"/>
          </a:p>
          <a:p>
            <a:pPr marL="279400" indent="-279400">
              <a:spcAft>
                <a:spcPts val="1000"/>
              </a:spcAft>
              <a:buSzPct val="100000"/>
              <a:buChar char="•"/>
            </a:pPr>
            <a:r>
              <a:rPr lang="en-US" sz="1700" dirty="0">
                <a:solidFill>
                  <a:srgbClr val="14232F"/>
                </a:solidFill>
              </a:rPr>
              <a:t>exreTu (expliziter reflexiver Technikunterricht)</a:t>
            </a:r>
            <a:endParaRPr lang="en-US" sz="1700" dirty="0"/>
          </a:p>
          <a:p>
            <a:pPr marL="279400" indent="-279400">
              <a:spcAft>
                <a:spcPts val="1000"/>
              </a:spcAft>
              <a:buSzPct val="100000"/>
              <a:buChar char="•"/>
            </a:pPr>
            <a:r>
              <a:rPr lang="en-US" sz="1700" dirty="0">
                <a:solidFill>
                  <a:srgbClr val="14232F"/>
                </a:solidFill>
              </a:rPr>
              <a:t>Interessen-/Motivationsforschung (Technik, MINT)</a:t>
            </a:r>
            <a:endParaRPr lang="en-US" sz="1700" dirty="0"/>
          </a:p>
          <a:p>
            <a:pPr marL="279400" indent="-279400">
              <a:spcAft>
                <a:spcPts val="1000"/>
              </a:spcAft>
              <a:buSzPct val="100000"/>
              <a:buChar char="•"/>
            </a:pPr>
            <a:r>
              <a:rPr lang="en-US" sz="1700" dirty="0">
                <a:solidFill>
                  <a:srgbClr val="14232F"/>
                </a:solidFill>
              </a:rPr>
              <a:t>Das Neustädter Modell</a:t>
            </a:r>
            <a:endParaRPr lang="en-US" sz="1700" dirty="0"/>
          </a:p>
          <a:p>
            <a:pPr marL="279400" indent="-279400">
              <a:spcAft>
                <a:spcPts val="1000"/>
              </a:spcAft>
              <a:buSzPct val="100000"/>
              <a:buChar char="•"/>
            </a:pPr>
            <a:r>
              <a:rPr lang="en-US" sz="1700" dirty="0">
                <a:solidFill>
                  <a:srgbClr val="14232F"/>
                </a:solidFill>
              </a:rPr>
              <a:t>Initiativen zur Technikförderung (JeT, n-21)</a:t>
            </a:r>
            <a:endParaRPr lang="en-US" sz="1700" dirty="0"/>
          </a:p>
        </p:txBody>
      </p:sp>
      <p:sp>
        <p:nvSpPr>
          <p:cNvPr id="4" name="list-42"/>
          <p:cNvSpPr txBox="1"/>
          <p:nvPr/>
        </p:nvSpPr>
        <p:spPr>
          <a:xfrm>
            <a:off x="6172200" y="1600200"/>
            <a:ext cx="5486400" cy="4343400"/>
          </a:xfrm>
          <a:prstGeom prst="rect">
            <a:avLst/>
          </a:prstGeom>
          <a:noFill/>
          <a:ln/>
        </p:spPr>
        <p:txBody>
          <a:bodyPr wrap="square" lIns="38100" tIns="38100" rIns="38100" bIns="38100" rtlCol="0" anchor="t"/>
          <a:lstStyle/>
          <a:p>
            <a:pPr marL="279400" indent="-279400">
              <a:spcAft>
                <a:spcPts val="1000"/>
              </a:spcAft>
              <a:buSzPct val="100000"/>
              <a:buChar char="•"/>
            </a:pPr>
            <a:r>
              <a:rPr lang="en-US" sz="1700" dirty="0">
                <a:solidFill>
                  <a:srgbClr val="14232F"/>
                </a:solidFill>
              </a:rPr>
              <a:t>Die Reparaturaufgabe</a:t>
            </a:r>
            <a:endParaRPr lang="en-US" sz="1700" dirty="0"/>
          </a:p>
          <a:p>
            <a:pPr marL="279400" indent="-279400">
              <a:spcAft>
                <a:spcPts val="1000"/>
              </a:spcAft>
              <a:buSzPct val="100000"/>
              <a:buChar char="•"/>
            </a:pPr>
            <a:r>
              <a:rPr lang="en-US" sz="1700" dirty="0">
                <a:solidFill>
                  <a:srgbClr val="14232F"/>
                </a:solidFill>
              </a:rPr>
              <a:t>Kostenlose Unterrichtsmaterialien</a:t>
            </a:r>
            <a:endParaRPr lang="en-US" sz="1700" dirty="0"/>
          </a:p>
          <a:p>
            <a:pPr marL="279400" indent="-279400">
              <a:spcAft>
                <a:spcPts val="1000"/>
              </a:spcAft>
              <a:buSzPct val="100000"/>
              <a:buChar char="•"/>
            </a:pPr>
            <a:r>
              <a:rPr lang="en-US" sz="1700" dirty="0">
                <a:solidFill>
                  <a:srgbClr val="14232F"/>
                </a:solidFill>
              </a:rPr>
              <a:t>Moderne Entwicklungen des Technikunterrichts</a:t>
            </a:r>
            <a:endParaRPr lang="en-US" sz="1700" dirty="0"/>
          </a:p>
          <a:p>
            <a:pPr marL="279400" indent="-279400">
              <a:spcAft>
                <a:spcPts val="1000"/>
              </a:spcAft>
              <a:buSzPct val="100000"/>
              <a:buChar char="•"/>
            </a:pPr>
            <a:r>
              <a:rPr lang="en-US" sz="1700" dirty="0">
                <a:solidFill>
                  <a:srgbClr val="14232F"/>
                </a:solidFill>
              </a:rPr>
              <a:t>Außerschulische Lernorte</a:t>
            </a:r>
            <a:endParaRPr lang="en-US" sz="1700" dirty="0"/>
          </a:p>
          <a:p>
            <a:pPr marL="279400" indent="-279400">
              <a:spcAft>
                <a:spcPts val="1000"/>
              </a:spcAft>
              <a:buSzPct val="100000"/>
              <a:buChar char="•"/>
            </a:pPr>
            <a:r>
              <a:rPr lang="en-US" sz="1700" dirty="0">
                <a:solidFill>
                  <a:srgbClr val="14232F"/>
                </a:solidFill>
              </a:rPr>
              <a:t>Technikunterricht im föderalen Vergleich</a:t>
            </a:r>
            <a:endParaRPr lang="en-US" sz="1700" dirty="0"/>
          </a:p>
          <a:p>
            <a:pPr marL="279400" indent="-279400">
              <a:spcAft>
                <a:spcPts val="1000"/>
              </a:spcAft>
              <a:buSzPct val="100000"/>
              <a:buChar char="•"/>
            </a:pPr>
            <a:r>
              <a:rPr lang="en-US" sz="1700" dirty="0">
                <a:solidFill>
                  <a:srgbClr val="14232F"/>
                </a:solidFill>
              </a:rPr>
              <a:t>Technikunterricht im internationalen Vergleich</a:t>
            </a:r>
            <a:endParaRPr lang="en-US" sz="1700" dirty="0"/>
          </a:p>
          <a:p>
            <a:pPr marL="279400" indent="-279400">
              <a:spcAft>
                <a:spcPts val="1000"/>
              </a:spcAft>
              <a:buSzPct val="100000"/>
              <a:buChar char="•"/>
            </a:pPr>
            <a:r>
              <a:rPr lang="en-US" sz="1700" dirty="0">
                <a:solidFill>
                  <a:srgbClr val="14232F"/>
                </a:solidFill>
              </a:rPr>
              <a:t>Unterstützung durch Firmen und Stiftungen</a:t>
            </a:r>
            <a:endParaRPr lang="en-US" sz="1700" dirty="0"/>
          </a:p>
          <a:p>
            <a:pPr marL="279400" indent="-279400">
              <a:spcAft>
                <a:spcPts val="1000"/>
              </a:spcAft>
              <a:buSzPct val="100000"/>
              <a:buChar char="•"/>
            </a:pPr>
            <a:r>
              <a:rPr lang="en-US" sz="1700" dirty="0">
                <a:solidFill>
                  <a:srgbClr val="14232F"/>
                </a:solidFill>
              </a:rPr>
              <a:t>MakerSpace: Technikunterricht durch Making Education?</a:t>
            </a:r>
            <a:endParaRPr lang="en-US" sz="1700" dirty="0"/>
          </a:p>
          <a:p>
            <a:pPr marL="279400" indent="-279400">
              <a:spcAft>
                <a:spcPts val="1000"/>
              </a:spcAft>
              <a:buSzPct val="100000"/>
              <a:buChar char="•"/>
            </a:pPr>
            <a:r>
              <a:rPr lang="en-US" sz="1700" dirty="0">
                <a:solidFill>
                  <a:srgbClr val="14232F"/>
                </a:solidFill>
              </a:rPr>
              <a:t>Digitale Lernmaterialien selbst entwickeln</a:t>
            </a:r>
            <a:endParaRPr lang="en-US" sz="1700" dirty="0"/>
          </a:p>
        </p:txBody>
      </p:sp>
      <p:sp>
        <p:nvSpPr>
          <p:cNvPr id="5" name="text-43"/>
          <p:cNvSpPr txBox="1"/>
          <p:nvPr/>
        </p:nvSpPr>
        <p:spPr>
          <a:xfrm>
            <a:off x="548640" y="5943600"/>
            <a:ext cx="11094415" cy="292608"/>
          </a:xfrm>
          <a:prstGeom prst="rect">
            <a:avLst/>
          </a:prstGeom>
          <a:noFill/>
          <a:ln/>
        </p:spPr>
        <p:txBody>
          <a:bodyPr wrap="square" lIns="38100" tIns="38100" rIns="38100" bIns="38100" rtlCol="0" anchor="t"/>
          <a:lstStyle/>
          <a:p>
            <a:pPr algn="l" indent="0" marL="0">
              <a:buNone/>
            </a:pPr>
            <a:r>
              <a:rPr lang="en-US" sz="1100" dirty="0">
                <a:solidFill>
                  <a:srgbClr val="56687A"/>
                </a:solidFill>
              </a:rPr>
              <a:t>Auch ein eigenes Thema ist möglich. Thema und Plan wählst du in Aufgabenpaket 2.</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el-4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Ein Computer …</a:t>
            </a:r>
            <a:endParaRPr lang="en-US" sz="2800" dirty="0"/>
          </a:p>
        </p:txBody>
      </p:sp>
      <p:sp>
        <p:nvSpPr>
          <p:cNvPr id="3" name="quote-45"/>
          <p:cNvSpPr txBox="1"/>
          <p:nvPr/>
        </p:nvSpPr>
        <p:spPr>
          <a:xfrm>
            <a:off x="548640" y="1691640"/>
            <a:ext cx="11094415" cy="4206240"/>
          </a:xfrm>
          <a:prstGeom prst="rect">
            <a:avLst/>
          </a:prstGeom>
          <a:solidFill>
            <a:srgbClr val="EEF3F7"/>
          </a:solidFill>
          <a:ln/>
        </p:spPr>
        <p:txBody>
          <a:bodyPr wrap="square" lIns="228600" tIns="355600" rIns="355600" bIns="228600" rtlCol="0" anchor="ctr"/>
          <a:lstStyle/>
          <a:p>
            <a:pPr indent="0" marL="0">
              <a:buNone/>
            </a:pPr>
            <a:r>
              <a:rPr lang="en-US" sz="2200" i="1" dirty="0">
                <a:solidFill>
                  <a:srgbClr val="14232F"/>
                </a:solidFill>
              </a:rPr>
              <a:t>„Ein Computer wird erst wirklicher Computer, wenn er zum Teil einer Mensch-Maschine-Einheit geworden ist. Wenn Text geschrieben wird, tut das nicht allein der Mensch, aber es ist auch nicht allein der Computer, der den Text schreibt; erst die Arbeitseinheit von Mensch und Computer bringt die Textverarbeitung zuwege. Da freilich im benutzten Computer immer schon die Arbeit anderer Menschen verkörpert ist […], bezeichne ich sie als soziotechnisches System.“</a:t>
            </a:r>
            <a:endParaRPr lang="en-US" sz="2200" dirty="0"/>
          </a:p>
          <a:p>
            <a:pPr indent="0" marL="0">
              <a:spcBef>
                <a:spcPts val="1200"/>
              </a:spcBef>
              <a:buNone/>
            </a:pPr>
            <a:r>
              <a:rPr lang="en-US" sz="1400" dirty="0">
                <a:solidFill>
                  <a:srgbClr val="56687A"/>
                </a:solidFill>
              </a:rPr>
              <a:t>Ropohl (2009): Allgemeine Technologie. Eine Systemtheorie der Technik, S. 58</a:t>
            </a:r>
            <a:endParaRPr lang="en-US" sz="2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el-4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Ropohls Technikbegriff</a:t>
            </a:r>
            <a:endParaRPr lang="en-US" sz="2800" dirty="0"/>
          </a:p>
        </p:txBody>
      </p:sp>
      <p:sp>
        <p:nvSpPr>
          <p:cNvPr id="3" name="box-47"/>
          <p:cNvSpPr txBox="1"/>
          <p:nvPr/>
        </p:nvSpPr>
        <p:spPr>
          <a:xfrm>
            <a:off x="548640" y="1600200"/>
            <a:ext cx="566928" cy="566928"/>
          </a:xfrm>
          <a:prstGeom prst="roundRect">
            <a:avLst>
              <a:gd name="adj" fmla="val 12903"/>
            </a:avLst>
          </a:prstGeom>
          <a:solidFill>
            <a:srgbClr val="F5B700"/>
          </a:solidFill>
          <a:ln/>
        </p:spPr>
        <p:txBody>
          <a:bodyPr wrap="square" lIns="101600" tIns="101600" rIns="101600" bIns="101600" rtlCol="0" anchor="ctr"/>
          <a:lstStyle/>
          <a:p>
            <a:pPr algn="ctr" indent="0" marL="0">
              <a:buNone/>
            </a:pPr>
            <a:r>
              <a:rPr lang="en-US" sz="2400" b="1" dirty="0">
                <a:solidFill>
                  <a:srgbClr val="14232F"/>
                </a:solidFill>
              </a:rPr>
              <a:t>a</a:t>
            </a:r>
            <a:endParaRPr lang="en-US" sz="2400" dirty="0"/>
          </a:p>
        </p:txBody>
      </p:sp>
      <p:sp>
        <p:nvSpPr>
          <p:cNvPr id="4" name="tile-48"/>
          <p:cNvSpPr txBox="1"/>
          <p:nvPr/>
        </p:nvSpPr>
        <p:spPr>
          <a:xfrm>
            <a:off x="548640" y="2286000"/>
            <a:ext cx="3474720" cy="1783080"/>
          </a:xfrm>
          <a:prstGeom prst="rect">
            <a:avLst/>
          </a:prstGeom>
          <a:solidFill>
            <a:srgbClr val="EEF3F7"/>
          </a:solidFill>
          <a:ln w="6350">
            <a:solidFill>
              <a:srgbClr val="EEF3F7"/>
            </a:solidFill>
          </a:ln>
        </p:spPr>
        <p:txBody>
          <a:bodyPr wrap="square" lIns="127000" tIns="127000" rIns="127000" bIns="127000" rtlCol="0" anchor="t"/>
          <a:lstStyle/>
          <a:p>
            <a:pPr indent="0" marL="0">
              <a:buNone/>
            </a:pPr>
            <a:r>
              <a:rPr lang="en-US" sz="2400" b="1" dirty="0">
                <a:solidFill>
                  <a:srgbClr val="035591"/>
                </a:solidFill>
              </a:rPr>
              <a:t>Sachsysteme</a:t>
            </a:r>
            <a:endParaRPr lang="en-US" sz="2400" dirty="0"/>
          </a:p>
          <a:p>
            <a:pPr indent="0" marL="0">
              <a:spcBef>
                <a:spcPts val="400"/>
              </a:spcBef>
              <a:buNone/>
            </a:pPr>
            <a:r>
              <a:rPr lang="en-US" sz="1900" dirty="0">
                <a:solidFill>
                  <a:srgbClr val="14232F"/>
                </a:solidFill>
              </a:rPr>
              <a:t>nutzenorientierte, künstliche, gegenständliche Gebilde</a:t>
            </a:r>
            <a:endParaRPr lang="en-US" sz="2400" dirty="0"/>
          </a:p>
        </p:txBody>
      </p:sp>
      <p:sp>
        <p:nvSpPr>
          <p:cNvPr id="5" name="box-49"/>
          <p:cNvSpPr txBox="1"/>
          <p:nvPr/>
        </p:nvSpPr>
        <p:spPr>
          <a:xfrm>
            <a:off x="4297680" y="1600200"/>
            <a:ext cx="566928" cy="566928"/>
          </a:xfrm>
          <a:prstGeom prst="roundRect">
            <a:avLst>
              <a:gd name="adj" fmla="val 12903"/>
            </a:avLst>
          </a:prstGeom>
          <a:solidFill>
            <a:srgbClr val="F5B700"/>
          </a:solidFill>
          <a:ln/>
        </p:spPr>
        <p:txBody>
          <a:bodyPr wrap="square" lIns="101600" tIns="101600" rIns="101600" bIns="101600" rtlCol="0" anchor="ctr"/>
          <a:lstStyle/>
          <a:p>
            <a:pPr algn="ctr" indent="0" marL="0">
              <a:buNone/>
            </a:pPr>
            <a:r>
              <a:rPr lang="en-US" sz="2400" b="1" dirty="0">
                <a:solidFill>
                  <a:srgbClr val="14232F"/>
                </a:solidFill>
              </a:rPr>
              <a:t>b</a:t>
            </a:r>
            <a:endParaRPr lang="en-US" sz="2400" dirty="0"/>
          </a:p>
        </p:txBody>
      </p:sp>
      <p:sp>
        <p:nvSpPr>
          <p:cNvPr id="6" name="tile-50"/>
          <p:cNvSpPr txBox="1"/>
          <p:nvPr/>
        </p:nvSpPr>
        <p:spPr>
          <a:xfrm>
            <a:off x="4297680" y="2286000"/>
            <a:ext cx="3474720" cy="1783080"/>
          </a:xfrm>
          <a:prstGeom prst="rect">
            <a:avLst/>
          </a:prstGeom>
          <a:solidFill>
            <a:srgbClr val="EEF3F7"/>
          </a:solidFill>
          <a:ln w="6350">
            <a:solidFill>
              <a:srgbClr val="EEF3F7"/>
            </a:solidFill>
          </a:ln>
        </p:spPr>
        <p:txBody>
          <a:bodyPr wrap="square" lIns="127000" tIns="127000" rIns="127000" bIns="127000" rtlCol="0" anchor="t"/>
          <a:lstStyle/>
          <a:p>
            <a:pPr indent="0" marL="0">
              <a:buNone/>
            </a:pPr>
            <a:r>
              <a:rPr lang="en-US" sz="2400" b="1" dirty="0">
                <a:solidFill>
                  <a:srgbClr val="035591"/>
                </a:solidFill>
              </a:rPr>
              <a:t>Entstehung</a:t>
            </a:r>
            <a:endParaRPr lang="en-US" sz="2400" dirty="0"/>
          </a:p>
          <a:p>
            <a:pPr indent="0" marL="0">
              <a:spcBef>
                <a:spcPts val="400"/>
              </a:spcBef>
              <a:buNone/>
            </a:pPr>
            <a:r>
              <a:rPr lang="en-US" sz="1900" dirty="0">
                <a:solidFill>
                  <a:srgbClr val="14232F"/>
                </a:solidFill>
              </a:rPr>
              <a:t>Handlungen, in denen Sachsysteme entstehen</a:t>
            </a:r>
            <a:endParaRPr lang="en-US" sz="2400" dirty="0"/>
          </a:p>
        </p:txBody>
      </p:sp>
      <p:sp>
        <p:nvSpPr>
          <p:cNvPr id="7" name="box-51"/>
          <p:cNvSpPr txBox="1"/>
          <p:nvPr/>
        </p:nvSpPr>
        <p:spPr>
          <a:xfrm>
            <a:off x="8046720" y="1600200"/>
            <a:ext cx="566928" cy="566928"/>
          </a:xfrm>
          <a:prstGeom prst="roundRect">
            <a:avLst>
              <a:gd name="adj" fmla="val 12903"/>
            </a:avLst>
          </a:prstGeom>
          <a:solidFill>
            <a:srgbClr val="F5B700"/>
          </a:solidFill>
          <a:ln/>
        </p:spPr>
        <p:txBody>
          <a:bodyPr wrap="square" lIns="101600" tIns="101600" rIns="101600" bIns="101600" rtlCol="0" anchor="ctr"/>
          <a:lstStyle/>
          <a:p>
            <a:pPr algn="ctr" indent="0" marL="0">
              <a:buNone/>
            </a:pPr>
            <a:r>
              <a:rPr lang="en-US" sz="2400" b="1" dirty="0">
                <a:solidFill>
                  <a:srgbClr val="14232F"/>
                </a:solidFill>
              </a:rPr>
              <a:t>c</a:t>
            </a:r>
            <a:endParaRPr lang="en-US" sz="2400" dirty="0"/>
          </a:p>
        </p:txBody>
      </p:sp>
      <p:sp>
        <p:nvSpPr>
          <p:cNvPr id="8" name="tile-52"/>
          <p:cNvSpPr txBox="1"/>
          <p:nvPr/>
        </p:nvSpPr>
        <p:spPr>
          <a:xfrm>
            <a:off x="8046720" y="2286000"/>
            <a:ext cx="3474720" cy="1783080"/>
          </a:xfrm>
          <a:prstGeom prst="rect">
            <a:avLst/>
          </a:prstGeom>
          <a:solidFill>
            <a:srgbClr val="EEF3F7"/>
          </a:solidFill>
          <a:ln w="6350">
            <a:solidFill>
              <a:srgbClr val="EEF3F7"/>
            </a:solidFill>
          </a:ln>
        </p:spPr>
        <p:txBody>
          <a:bodyPr wrap="square" lIns="127000" tIns="127000" rIns="127000" bIns="127000" rtlCol="0" anchor="t"/>
          <a:lstStyle/>
          <a:p>
            <a:pPr indent="0" marL="0">
              <a:buNone/>
            </a:pPr>
            <a:r>
              <a:rPr lang="en-US" sz="2400" b="1" dirty="0">
                <a:solidFill>
                  <a:srgbClr val="035591"/>
                </a:solidFill>
              </a:rPr>
              <a:t>Verwendung</a:t>
            </a:r>
            <a:endParaRPr lang="en-US" sz="2400" dirty="0"/>
          </a:p>
          <a:p>
            <a:pPr indent="0" marL="0">
              <a:spcBef>
                <a:spcPts val="400"/>
              </a:spcBef>
              <a:buNone/>
            </a:pPr>
            <a:r>
              <a:rPr lang="en-US" sz="1900" dirty="0">
                <a:solidFill>
                  <a:srgbClr val="14232F"/>
                </a:solidFill>
              </a:rPr>
              <a:t>Handlungen, in denen Sachsysteme verwendet werden</a:t>
            </a:r>
            <a:endParaRPr lang="en-US" sz="2400" dirty="0"/>
          </a:p>
        </p:txBody>
      </p:sp>
      <p:sp>
        <p:nvSpPr>
          <p:cNvPr id="9" name="aufgabe-53"/>
          <p:cNvSpPr txBox="1"/>
          <p:nvPr/>
        </p:nvSpPr>
        <p:spPr>
          <a:xfrm>
            <a:off x="548640" y="4343400"/>
            <a:ext cx="11094415" cy="132588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200" b="1" dirty="0">
                <a:solidFill>
                  <a:srgbClr val="035591"/>
                </a:solidFill>
              </a:rPr>
              <a:t>Aufgabe 1.1</a:t>
            </a:r>
            <a:endParaRPr lang="en-US" sz="2200" dirty="0"/>
          </a:p>
          <a:p>
            <a:pPr indent="0" marL="0">
              <a:spcBef>
                <a:spcPts val="400"/>
              </a:spcBef>
              <a:buNone/>
            </a:pPr>
            <a:r>
              <a:rPr lang="en-US" sz="2200" dirty="0">
                <a:solidFill>
                  <a:srgbClr val="14232F"/>
                </a:solidFill>
              </a:rPr>
              <a:t>Beschreibe in eigenen Worten, wie Ropohl „Technik“ definiert.</a:t>
            </a:r>
            <a:endParaRPr lang="en-US" sz="2200" dirty="0"/>
          </a:p>
          <a:p>
            <a:pPr indent="0" marL="0">
              <a:spcBef>
                <a:spcPts val="400"/>
              </a:spcBef>
              <a:buNone/>
            </a:pPr>
            <a:r>
              <a:rPr lang="en-US" sz="2200" dirty="0">
                <a:solidFill>
                  <a:srgbClr val="14232F"/>
                </a:solidFill>
              </a:rPr>
              <a:t>Bedingung: Schüler:innen der 6. Klasse sollen deine Definition verstehen.</a:t>
            </a:r>
            <a:endParaRPr lang="en-US" sz="2200" dirty="0"/>
          </a:p>
        </p:txBody>
      </p:sp>
      <p:sp>
        <p:nvSpPr>
          <p:cNvPr id="10" name="text-54"/>
          <p:cNvSpPr txBox="1"/>
          <p:nvPr/>
        </p:nvSpPr>
        <p:spPr>
          <a:xfrm>
            <a:off x="548640" y="5806440"/>
            <a:ext cx="11094415" cy="292608"/>
          </a:xfrm>
          <a:prstGeom prst="rect">
            <a:avLst/>
          </a:prstGeom>
          <a:noFill/>
          <a:ln/>
        </p:spPr>
        <p:txBody>
          <a:bodyPr wrap="square" lIns="38100" tIns="38100" rIns="38100" bIns="38100" rtlCol="0" anchor="t"/>
          <a:lstStyle/>
          <a:p>
            <a:pPr algn="l" indent="0" marL="0">
              <a:buNone/>
            </a:pPr>
            <a:r>
              <a:rPr lang="en-US" sz="1100" dirty="0">
                <a:solidFill>
                  <a:srgbClr val="56687A"/>
                </a:solidFill>
              </a:rPr>
              <a:t>Nach Ropohl (2009): Allgemeine Technologie, S. 31</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el-55"/>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Dimensionen und Erkenntnisperspektiven der Technik</a:t>
            </a:r>
            <a:endParaRPr lang="en-US" sz="2800" dirty="0"/>
          </a:p>
        </p:txBody>
      </p:sp>
      <p:sp>
        <p:nvSpPr>
          <p:cNvPr id="3" name="box-56"/>
          <p:cNvSpPr txBox="1"/>
          <p:nvPr/>
        </p:nvSpPr>
        <p:spPr>
          <a:xfrm>
            <a:off x="3813048" y="1600200"/>
            <a:ext cx="4572000" cy="868680"/>
          </a:xfrm>
          <a:prstGeom prst="rect">
            <a:avLst/>
          </a:prstGeom>
          <a:solidFill>
            <a:srgbClr val="035591"/>
          </a:solidFill>
          <a:ln/>
        </p:spPr>
        <p:txBody>
          <a:bodyPr wrap="square" lIns="101600" tIns="101600" rIns="101600" bIns="101600" rtlCol="0" anchor="ctr"/>
          <a:lstStyle/>
          <a:p>
            <a:pPr algn="ctr" indent="0" marL="0">
              <a:buNone/>
            </a:pPr>
            <a:r>
              <a:rPr lang="en-US" sz="2600" b="1" spc="600" kern="0" dirty="0">
                <a:solidFill>
                  <a:srgbClr val="FFFFFF"/>
                </a:solidFill>
              </a:rPr>
              <a:t>TECHNIK</a:t>
            </a:r>
            <a:endParaRPr lang="en-US" sz="2000" dirty="0"/>
          </a:p>
          <a:p>
            <a:pPr algn="ctr" indent="0" marL="0">
              <a:buNone/>
            </a:pPr>
            <a:r>
              <a:rPr lang="en-US" sz="1600" dirty="0">
                <a:solidFill>
                  <a:srgbClr val="FFFFFF"/>
                </a:solidFill>
              </a:rPr>
              <a:t>Entstehung · Sachsysteme · Verwendung</a:t>
            </a:r>
            <a:endParaRPr lang="en-US" sz="2000" dirty="0"/>
          </a:p>
        </p:txBody>
      </p:sp>
      <p:sp>
        <p:nvSpPr>
          <p:cNvPr id="4" name="box-57"/>
          <p:cNvSpPr txBox="1"/>
          <p:nvPr/>
        </p:nvSpPr>
        <p:spPr>
          <a:xfrm>
            <a:off x="548640" y="2697480"/>
            <a:ext cx="3474720" cy="548640"/>
          </a:xfrm>
          <a:prstGeom prst="roundRect">
            <a:avLst>
              <a:gd name="adj" fmla="val 13333"/>
            </a:avLst>
          </a:prstGeom>
          <a:solidFill>
            <a:srgbClr val="C2255C"/>
          </a:solidFill>
          <a:ln/>
        </p:spPr>
        <p:txBody>
          <a:bodyPr wrap="square" lIns="101600" tIns="101600" rIns="101600" bIns="101600" rtlCol="0" anchor="ctr"/>
          <a:lstStyle/>
          <a:p>
            <a:pPr algn="ctr" indent="0" marL="0">
              <a:buNone/>
            </a:pPr>
            <a:r>
              <a:rPr lang="en-US" sz="2000" b="1" dirty="0">
                <a:solidFill>
                  <a:srgbClr val="FFFFFF"/>
                </a:solidFill>
              </a:rPr>
              <a:t>Soziale Dimension</a:t>
            </a:r>
            <a:endParaRPr lang="en-US" sz="2000" dirty="0"/>
          </a:p>
        </p:txBody>
      </p:sp>
      <p:sp>
        <p:nvSpPr>
          <p:cNvPr id="5" name="box-58"/>
          <p:cNvSpPr txBox="1"/>
          <p:nvPr/>
        </p:nvSpPr>
        <p:spPr>
          <a:xfrm>
            <a:off x="731520" y="3383280"/>
            <a:ext cx="3108960" cy="420624"/>
          </a:xfrm>
          <a:prstGeom prst="roundRect">
            <a:avLst>
              <a:gd name="adj" fmla="val 17391"/>
            </a:avLst>
          </a:prstGeom>
          <a:solidFill>
            <a:srgbClr val="FBE3EC"/>
          </a:solidFill>
          <a:ln/>
        </p:spPr>
        <p:txBody>
          <a:bodyPr wrap="square" lIns="25400" tIns="25400" rIns="25400" bIns="25400" rtlCol="0" anchor="ctr"/>
          <a:lstStyle/>
          <a:p>
            <a:pPr algn="ctr" indent="0" marL="0">
              <a:buNone/>
            </a:pPr>
            <a:r>
              <a:rPr lang="en-US" sz="1700" dirty="0">
                <a:solidFill>
                  <a:srgbClr val="14232F"/>
                </a:solidFill>
              </a:rPr>
              <a:t>politologisch</a:t>
            </a:r>
            <a:endParaRPr lang="en-US" sz="1700" dirty="0"/>
          </a:p>
        </p:txBody>
      </p:sp>
      <p:sp>
        <p:nvSpPr>
          <p:cNvPr id="6" name="box-59"/>
          <p:cNvSpPr txBox="1"/>
          <p:nvPr/>
        </p:nvSpPr>
        <p:spPr>
          <a:xfrm>
            <a:off x="731520" y="3895344"/>
            <a:ext cx="3108960" cy="420624"/>
          </a:xfrm>
          <a:prstGeom prst="roundRect">
            <a:avLst>
              <a:gd name="adj" fmla="val 17391"/>
            </a:avLst>
          </a:prstGeom>
          <a:solidFill>
            <a:srgbClr val="FBE3EC"/>
          </a:solidFill>
          <a:ln/>
        </p:spPr>
        <p:txBody>
          <a:bodyPr wrap="square" lIns="25400" tIns="25400" rIns="25400" bIns="25400" rtlCol="0" anchor="ctr"/>
          <a:lstStyle/>
          <a:p>
            <a:pPr algn="ctr" indent="0" marL="0">
              <a:buNone/>
            </a:pPr>
            <a:r>
              <a:rPr lang="en-US" sz="1700" dirty="0">
                <a:solidFill>
                  <a:srgbClr val="14232F"/>
                </a:solidFill>
              </a:rPr>
              <a:t>soziologisch</a:t>
            </a:r>
            <a:endParaRPr lang="en-US" sz="1700" dirty="0"/>
          </a:p>
        </p:txBody>
      </p:sp>
      <p:sp>
        <p:nvSpPr>
          <p:cNvPr id="7" name="box-60"/>
          <p:cNvSpPr txBox="1"/>
          <p:nvPr/>
        </p:nvSpPr>
        <p:spPr>
          <a:xfrm>
            <a:off x="731520" y="4407408"/>
            <a:ext cx="3108960" cy="420624"/>
          </a:xfrm>
          <a:prstGeom prst="roundRect">
            <a:avLst>
              <a:gd name="adj" fmla="val 17391"/>
            </a:avLst>
          </a:prstGeom>
          <a:solidFill>
            <a:srgbClr val="FBE3EC"/>
          </a:solidFill>
          <a:ln/>
        </p:spPr>
        <p:txBody>
          <a:bodyPr wrap="square" lIns="25400" tIns="25400" rIns="25400" bIns="25400" rtlCol="0" anchor="ctr"/>
          <a:lstStyle/>
          <a:p>
            <a:pPr algn="ctr" indent="0" marL="0">
              <a:buNone/>
            </a:pPr>
            <a:r>
              <a:rPr lang="en-US" sz="1700" dirty="0">
                <a:solidFill>
                  <a:srgbClr val="14232F"/>
                </a:solidFill>
              </a:rPr>
              <a:t>ökonomisch</a:t>
            </a:r>
            <a:endParaRPr lang="en-US" sz="1700" dirty="0"/>
          </a:p>
        </p:txBody>
      </p:sp>
      <p:sp>
        <p:nvSpPr>
          <p:cNvPr id="8" name="box-61"/>
          <p:cNvSpPr txBox="1"/>
          <p:nvPr/>
        </p:nvSpPr>
        <p:spPr>
          <a:xfrm>
            <a:off x="731520" y="4919472"/>
            <a:ext cx="3108960" cy="420624"/>
          </a:xfrm>
          <a:prstGeom prst="roundRect">
            <a:avLst>
              <a:gd name="adj" fmla="val 17391"/>
            </a:avLst>
          </a:prstGeom>
          <a:solidFill>
            <a:srgbClr val="FBE3EC"/>
          </a:solidFill>
          <a:ln/>
        </p:spPr>
        <p:txBody>
          <a:bodyPr wrap="square" lIns="25400" tIns="25400" rIns="25400" bIns="25400" rtlCol="0" anchor="ctr"/>
          <a:lstStyle/>
          <a:p>
            <a:pPr algn="ctr" indent="0" marL="0">
              <a:buNone/>
            </a:pPr>
            <a:r>
              <a:rPr lang="en-US" sz="1700" dirty="0">
                <a:solidFill>
                  <a:srgbClr val="14232F"/>
                </a:solidFill>
              </a:rPr>
              <a:t>juridisch</a:t>
            </a:r>
            <a:endParaRPr lang="en-US" sz="1700" dirty="0"/>
          </a:p>
        </p:txBody>
      </p:sp>
      <p:sp>
        <p:nvSpPr>
          <p:cNvPr id="9" name="box-62"/>
          <p:cNvSpPr txBox="1"/>
          <p:nvPr/>
        </p:nvSpPr>
        <p:spPr>
          <a:xfrm>
            <a:off x="4297680" y="2697480"/>
            <a:ext cx="3474720" cy="548640"/>
          </a:xfrm>
          <a:prstGeom prst="roundRect">
            <a:avLst>
              <a:gd name="adj" fmla="val 13333"/>
            </a:avLst>
          </a:prstGeom>
          <a:solidFill>
            <a:srgbClr val="D9480F"/>
          </a:solidFill>
          <a:ln/>
        </p:spPr>
        <p:txBody>
          <a:bodyPr wrap="square" lIns="101600" tIns="101600" rIns="101600" bIns="101600" rtlCol="0" anchor="ctr"/>
          <a:lstStyle/>
          <a:p>
            <a:pPr algn="ctr" indent="0" marL="0">
              <a:buNone/>
            </a:pPr>
            <a:r>
              <a:rPr lang="en-US" sz="2000" b="1" dirty="0">
                <a:solidFill>
                  <a:srgbClr val="FFFFFF"/>
                </a:solidFill>
              </a:rPr>
              <a:t>Humane Dimension</a:t>
            </a:r>
            <a:endParaRPr lang="en-US" sz="2000" dirty="0"/>
          </a:p>
        </p:txBody>
      </p:sp>
      <p:sp>
        <p:nvSpPr>
          <p:cNvPr id="10" name="box-63"/>
          <p:cNvSpPr txBox="1"/>
          <p:nvPr/>
        </p:nvSpPr>
        <p:spPr>
          <a:xfrm>
            <a:off x="4480560" y="3383280"/>
            <a:ext cx="3108960" cy="420624"/>
          </a:xfrm>
          <a:prstGeom prst="roundRect">
            <a:avLst>
              <a:gd name="adj" fmla="val 17391"/>
            </a:avLst>
          </a:prstGeom>
          <a:solidFill>
            <a:srgbClr val="FDE6D7"/>
          </a:solidFill>
          <a:ln/>
        </p:spPr>
        <p:txBody>
          <a:bodyPr wrap="square" lIns="25400" tIns="25400" rIns="25400" bIns="25400" rtlCol="0" anchor="ctr"/>
          <a:lstStyle/>
          <a:p>
            <a:pPr algn="ctr" indent="0" marL="0">
              <a:buNone/>
            </a:pPr>
            <a:r>
              <a:rPr lang="en-US" sz="1700" dirty="0">
                <a:solidFill>
                  <a:srgbClr val="14232F"/>
                </a:solidFill>
              </a:rPr>
              <a:t>anthropologisch</a:t>
            </a:r>
            <a:endParaRPr lang="en-US" sz="1700" dirty="0"/>
          </a:p>
        </p:txBody>
      </p:sp>
      <p:sp>
        <p:nvSpPr>
          <p:cNvPr id="11" name="box-64"/>
          <p:cNvSpPr txBox="1"/>
          <p:nvPr/>
        </p:nvSpPr>
        <p:spPr>
          <a:xfrm>
            <a:off x="4480560" y="3895344"/>
            <a:ext cx="3108960" cy="420624"/>
          </a:xfrm>
          <a:prstGeom prst="roundRect">
            <a:avLst>
              <a:gd name="adj" fmla="val 17391"/>
            </a:avLst>
          </a:prstGeom>
          <a:solidFill>
            <a:srgbClr val="FDE6D7"/>
          </a:solidFill>
          <a:ln/>
        </p:spPr>
        <p:txBody>
          <a:bodyPr wrap="square" lIns="25400" tIns="25400" rIns="25400" bIns="25400" rtlCol="0" anchor="ctr"/>
          <a:lstStyle/>
          <a:p>
            <a:pPr algn="ctr" indent="0" marL="0">
              <a:buNone/>
            </a:pPr>
            <a:r>
              <a:rPr lang="en-US" sz="1700" dirty="0">
                <a:solidFill>
                  <a:srgbClr val="14232F"/>
                </a:solidFill>
              </a:rPr>
              <a:t>psychologisch</a:t>
            </a:r>
            <a:endParaRPr lang="en-US" sz="1700" dirty="0"/>
          </a:p>
        </p:txBody>
      </p:sp>
      <p:sp>
        <p:nvSpPr>
          <p:cNvPr id="12" name="box-65"/>
          <p:cNvSpPr txBox="1"/>
          <p:nvPr/>
        </p:nvSpPr>
        <p:spPr>
          <a:xfrm>
            <a:off x="4480560" y="4407408"/>
            <a:ext cx="3108960" cy="420624"/>
          </a:xfrm>
          <a:prstGeom prst="roundRect">
            <a:avLst>
              <a:gd name="adj" fmla="val 17391"/>
            </a:avLst>
          </a:prstGeom>
          <a:solidFill>
            <a:srgbClr val="FDE6D7"/>
          </a:solidFill>
          <a:ln/>
        </p:spPr>
        <p:txBody>
          <a:bodyPr wrap="square" lIns="25400" tIns="25400" rIns="25400" bIns="25400" rtlCol="0" anchor="ctr"/>
          <a:lstStyle/>
          <a:p>
            <a:pPr algn="ctr" indent="0" marL="0">
              <a:buNone/>
            </a:pPr>
            <a:r>
              <a:rPr lang="en-US" sz="1700" dirty="0">
                <a:solidFill>
                  <a:srgbClr val="14232F"/>
                </a:solidFill>
              </a:rPr>
              <a:t>physiologisch</a:t>
            </a:r>
            <a:endParaRPr lang="en-US" sz="1700" dirty="0"/>
          </a:p>
        </p:txBody>
      </p:sp>
      <p:sp>
        <p:nvSpPr>
          <p:cNvPr id="13" name="box-66"/>
          <p:cNvSpPr txBox="1"/>
          <p:nvPr/>
        </p:nvSpPr>
        <p:spPr>
          <a:xfrm>
            <a:off x="4480560" y="4919472"/>
            <a:ext cx="3108960" cy="420624"/>
          </a:xfrm>
          <a:prstGeom prst="roundRect">
            <a:avLst>
              <a:gd name="adj" fmla="val 17391"/>
            </a:avLst>
          </a:prstGeom>
          <a:solidFill>
            <a:srgbClr val="FDE6D7"/>
          </a:solidFill>
          <a:ln/>
        </p:spPr>
        <p:txBody>
          <a:bodyPr wrap="square" lIns="25400" tIns="25400" rIns="25400" bIns="25400" rtlCol="0" anchor="ctr"/>
          <a:lstStyle/>
          <a:p>
            <a:pPr algn="ctr" indent="0" marL="0">
              <a:buNone/>
            </a:pPr>
            <a:r>
              <a:rPr lang="en-US" sz="1700" dirty="0">
                <a:solidFill>
                  <a:srgbClr val="14232F"/>
                </a:solidFill>
              </a:rPr>
              <a:t>ethisch</a:t>
            </a:r>
            <a:endParaRPr lang="en-US" sz="1700" dirty="0"/>
          </a:p>
        </p:txBody>
      </p:sp>
      <p:sp>
        <p:nvSpPr>
          <p:cNvPr id="14" name="box-67"/>
          <p:cNvSpPr txBox="1"/>
          <p:nvPr/>
        </p:nvSpPr>
        <p:spPr>
          <a:xfrm>
            <a:off x="4480560" y="5431536"/>
            <a:ext cx="3108960" cy="420624"/>
          </a:xfrm>
          <a:prstGeom prst="roundRect">
            <a:avLst>
              <a:gd name="adj" fmla="val 17391"/>
            </a:avLst>
          </a:prstGeom>
          <a:solidFill>
            <a:srgbClr val="FDE6D7"/>
          </a:solidFill>
          <a:ln/>
        </p:spPr>
        <p:txBody>
          <a:bodyPr wrap="square" lIns="25400" tIns="25400" rIns="25400" bIns="25400" rtlCol="0" anchor="ctr"/>
          <a:lstStyle/>
          <a:p>
            <a:pPr algn="ctr" indent="0" marL="0">
              <a:buNone/>
            </a:pPr>
            <a:r>
              <a:rPr lang="en-US" sz="1700" dirty="0">
                <a:solidFill>
                  <a:srgbClr val="14232F"/>
                </a:solidFill>
              </a:rPr>
              <a:t>ästhetisch</a:t>
            </a:r>
            <a:endParaRPr lang="en-US" sz="1700" dirty="0"/>
          </a:p>
        </p:txBody>
      </p:sp>
      <p:sp>
        <p:nvSpPr>
          <p:cNvPr id="15" name="box-68"/>
          <p:cNvSpPr txBox="1"/>
          <p:nvPr/>
        </p:nvSpPr>
        <p:spPr>
          <a:xfrm>
            <a:off x="8046720" y="2697480"/>
            <a:ext cx="3474720" cy="548640"/>
          </a:xfrm>
          <a:prstGeom prst="roundRect">
            <a:avLst>
              <a:gd name="adj" fmla="val 13333"/>
            </a:avLst>
          </a:prstGeom>
          <a:solidFill>
            <a:srgbClr val="3B6E8F"/>
          </a:solidFill>
          <a:ln/>
        </p:spPr>
        <p:txBody>
          <a:bodyPr wrap="square" lIns="101600" tIns="101600" rIns="101600" bIns="101600" rtlCol="0" anchor="ctr"/>
          <a:lstStyle/>
          <a:p>
            <a:pPr algn="ctr" indent="0" marL="0">
              <a:buNone/>
            </a:pPr>
            <a:r>
              <a:rPr lang="en-US" sz="2000" b="1" dirty="0">
                <a:solidFill>
                  <a:srgbClr val="FFFFFF"/>
                </a:solidFill>
              </a:rPr>
              <a:t>Naturale Dimension</a:t>
            </a:r>
            <a:endParaRPr lang="en-US" sz="2000" dirty="0"/>
          </a:p>
        </p:txBody>
      </p:sp>
      <p:sp>
        <p:nvSpPr>
          <p:cNvPr id="16" name="box-69"/>
          <p:cNvSpPr txBox="1"/>
          <p:nvPr/>
        </p:nvSpPr>
        <p:spPr>
          <a:xfrm>
            <a:off x="8229600" y="3383280"/>
            <a:ext cx="3108960" cy="420624"/>
          </a:xfrm>
          <a:prstGeom prst="roundRect">
            <a:avLst>
              <a:gd name="adj" fmla="val 17391"/>
            </a:avLst>
          </a:prstGeom>
          <a:solidFill>
            <a:srgbClr val="DDE9F1"/>
          </a:solidFill>
          <a:ln/>
        </p:spPr>
        <p:txBody>
          <a:bodyPr wrap="square" lIns="25400" tIns="25400" rIns="25400" bIns="25400" rtlCol="0" anchor="ctr"/>
          <a:lstStyle/>
          <a:p>
            <a:pPr algn="ctr" indent="0" marL="0">
              <a:buNone/>
            </a:pPr>
            <a:r>
              <a:rPr lang="en-US" sz="1700" dirty="0">
                <a:solidFill>
                  <a:srgbClr val="14232F"/>
                </a:solidFill>
              </a:rPr>
              <a:t>ökologisch</a:t>
            </a:r>
            <a:endParaRPr lang="en-US" sz="1700" dirty="0"/>
          </a:p>
        </p:txBody>
      </p:sp>
      <p:sp>
        <p:nvSpPr>
          <p:cNvPr id="17" name="box-70"/>
          <p:cNvSpPr txBox="1"/>
          <p:nvPr/>
        </p:nvSpPr>
        <p:spPr>
          <a:xfrm>
            <a:off x="8229600" y="3895344"/>
            <a:ext cx="3108960" cy="420624"/>
          </a:xfrm>
          <a:prstGeom prst="roundRect">
            <a:avLst>
              <a:gd name="adj" fmla="val 17391"/>
            </a:avLst>
          </a:prstGeom>
          <a:solidFill>
            <a:srgbClr val="DDE9F1"/>
          </a:solidFill>
          <a:ln/>
        </p:spPr>
        <p:txBody>
          <a:bodyPr wrap="square" lIns="25400" tIns="25400" rIns="25400" bIns="25400" rtlCol="0" anchor="ctr"/>
          <a:lstStyle/>
          <a:p>
            <a:pPr algn="ctr" indent="0" marL="0">
              <a:buNone/>
            </a:pPr>
            <a:r>
              <a:rPr lang="en-US" sz="1700" dirty="0">
                <a:solidFill>
                  <a:srgbClr val="14232F"/>
                </a:solidFill>
              </a:rPr>
              <a:t>ingenieurwissenschaftlich</a:t>
            </a:r>
            <a:endParaRPr lang="en-US" sz="1700" dirty="0"/>
          </a:p>
        </p:txBody>
      </p:sp>
      <p:sp>
        <p:nvSpPr>
          <p:cNvPr id="18" name="box-71"/>
          <p:cNvSpPr txBox="1"/>
          <p:nvPr/>
        </p:nvSpPr>
        <p:spPr>
          <a:xfrm>
            <a:off x="8229600" y="4407408"/>
            <a:ext cx="3108960" cy="420624"/>
          </a:xfrm>
          <a:prstGeom prst="roundRect">
            <a:avLst>
              <a:gd name="adj" fmla="val 17391"/>
            </a:avLst>
          </a:prstGeom>
          <a:solidFill>
            <a:srgbClr val="DDE9F1"/>
          </a:solidFill>
          <a:ln/>
        </p:spPr>
        <p:txBody>
          <a:bodyPr wrap="square" lIns="25400" tIns="25400" rIns="25400" bIns="25400" rtlCol="0" anchor="ctr"/>
          <a:lstStyle/>
          <a:p>
            <a:pPr algn="ctr" indent="0" marL="0">
              <a:buNone/>
            </a:pPr>
            <a:r>
              <a:rPr lang="en-US" sz="1700" dirty="0">
                <a:solidFill>
                  <a:srgbClr val="14232F"/>
                </a:solidFill>
              </a:rPr>
              <a:t>physikalisch</a:t>
            </a:r>
            <a:endParaRPr lang="en-US" sz="1700" dirty="0"/>
          </a:p>
        </p:txBody>
      </p:sp>
      <p:sp>
        <p:nvSpPr>
          <p:cNvPr id="19" name="box-72"/>
          <p:cNvSpPr txBox="1"/>
          <p:nvPr/>
        </p:nvSpPr>
        <p:spPr>
          <a:xfrm>
            <a:off x="8229600" y="4919472"/>
            <a:ext cx="3108960" cy="420624"/>
          </a:xfrm>
          <a:prstGeom prst="roundRect">
            <a:avLst>
              <a:gd name="adj" fmla="val 17391"/>
            </a:avLst>
          </a:prstGeom>
          <a:solidFill>
            <a:srgbClr val="DDE9F1"/>
          </a:solidFill>
          <a:ln/>
        </p:spPr>
        <p:txBody>
          <a:bodyPr wrap="square" lIns="25400" tIns="25400" rIns="25400" bIns="25400" rtlCol="0" anchor="ctr"/>
          <a:lstStyle/>
          <a:p>
            <a:pPr algn="ctr" indent="0" marL="0">
              <a:buNone/>
            </a:pPr>
            <a:r>
              <a:rPr lang="en-US" sz="1700" dirty="0">
                <a:solidFill>
                  <a:srgbClr val="14232F"/>
                </a:solidFill>
              </a:rPr>
              <a:t>chemisch</a:t>
            </a:r>
            <a:endParaRPr lang="en-US" sz="1700" dirty="0"/>
          </a:p>
        </p:txBody>
      </p:sp>
      <p:sp>
        <p:nvSpPr>
          <p:cNvPr id="20" name="box-73"/>
          <p:cNvSpPr txBox="1"/>
          <p:nvPr/>
        </p:nvSpPr>
        <p:spPr>
          <a:xfrm>
            <a:off x="8229600" y="5431536"/>
            <a:ext cx="3108960" cy="420624"/>
          </a:xfrm>
          <a:prstGeom prst="roundRect">
            <a:avLst>
              <a:gd name="adj" fmla="val 17391"/>
            </a:avLst>
          </a:prstGeom>
          <a:solidFill>
            <a:srgbClr val="DDE9F1"/>
          </a:solidFill>
          <a:ln/>
        </p:spPr>
        <p:txBody>
          <a:bodyPr wrap="square" lIns="25400" tIns="25400" rIns="25400" bIns="25400" rtlCol="0" anchor="ctr"/>
          <a:lstStyle/>
          <a:p>
            <a:pPr algn="ctr" indent="0" marL="0">
              <a:buNone/>
            </a:pPr>
            <a:r>
              <a:rPr lang="en-US" sz="1700" dirty="0">
                <a:solidFill>
                  <a:srgbClr val="14232F"/>
                </a:solidFill>
              </a:rPr>
              <a:t>biologisch</a:t>
            </a:r>
            <a:endParaRPr lang="en-US" sz="1700" dirty="0"/>
          </a:p>
        </p:txBody>
      </p:sp>
      <p:sp>
        <p:nvSpPr>
          <p:cNvPr id="21" name="text-74"/>
          <p:cNvSpPr txBox="1"/>
          <p:nvPr/>
        </p:nvSpPr>
        <p:spPr>
          <a:xfrm>
            <a:off x="548640" y="5943600"/>
            <a:ext cx="11094415" cy="292608"/>
          </a:xfrm>
          <a:prstGeom prst="rect">
            <a:avLst/>
          </a:prstGeom>
          <a:noFill/>
          <a:ln/>
        </p:spPr>
        <p:txBody>
          <a:bodyPr wrap="square" lIns="38100" tIns="38100" rIns="38100" bIns="38100" rtlCol="0" anchor="t"/>
          <a:lstStyle/>
          <a:p>
            <a:pPr algn="l" indent="0" marL="0">
              <a:buNone/>
            </a:pPr>
            <a:r>
              <a:rPr lang="en-US" sz="1100" dirty="0">
                <a:solidFill>
                  <a:srgbClr val="56687A"/>
                </a:solidFill>
              </a:rPr>
              <a:t>Neu gezeichnet nach Ropohl (2009), Bild 1, S. 32 (Erstauflage 1979)</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el-75"/>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Der Technikbegriff im Kerncurriculum</a:t>
            </a:r>
            <a:endParaRPr lang="en-US" sz="2800" dirty="0"/>
          </a:p>
        </p:txBody>
      </p:sp>
      <p:sp>
        <p:nvSpPr>
          <p:cNvPr id="3" name="aufgabe-76"/>
          <p:cNvSpPr txBox="1"/>
          <p:nvPr/>
        </p:nvSpPr>
        <p:spPr>
          <a:xfrm>
            <a:off x="548640" y="1691640"/>
            <a:ext cx="11094415" cy="182880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200" b="1" dirty="0">
                <a:solidFill>
                  <a:srgbClr val="035591"/>
                </a:solidFill>
              </a:rPr>
              <a:t>Aufgabe 1.2</a:t>
            </a:r>
            <a:endParaRPr lang="en-US" sz="2200" dirty="0"/>
          </a:p>
          <a:p>
            <a:pPr indent="0" marL="0">
              <a:spcBef>
                <a:spcPts val="400"/>
              </a:spcBef>
              <a:buNone/>
            </a:pPr>
            <a:r>
              <a:rPr lang="en-US" sz="2200" dirty="0">
                <a:solidFill>
                  <a:srgbClr val="14232F"/>
                </a:solidFill>
              </a:rPr>
              <a:t>Erkläre, wie das Kerncurriculum den Begriff „Technik“ bzw. das Fach Technik beschreibt.</a:t>
            </a:r>
            <a:endParaRPr lang="en-US" sz="2200" dirty="0"/>
          </a:p>
          <a:p>
            <a:pPr indent="0" marL="0">
              <a:spcBef>
                <a:spcPts val="400"/>
              </a:spcBef>
              <a:buNone/>
            </a:pPr>
            <a:r>
              <a:rPr lang="en-US" sz="1600" dirty="0">
                <a:solidFill>
                  <a:srgbClr val="56687A"/>
                </a:solidFill>
              </a:rPr>
              <a:t>→ „Bildungsbeitrag des Faches Technik“ (Nds. Kultusministerium 2010, KC Technik Realschule, S. 7 f.)</a:t>
            </a:r>
            <a:endParaRPr lang="en-US" sz="2200" dirty="0"/>
          </a:p>
        </p:txBody>
      </p:sp>
      <p:sp>
        <p:nvSpPr>
          <p:cNvPr id="4" name="aufgabe-77"/>
          <p:cNvSpPr txBox="1"/>
          <p:nvPr/>
        </p:nvSpPr>
        <p:spPr>
          <a:xfrm>
            <a:off x="548640" y="3794760"/>
            <a:ext cx="11094415" cy="173736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200" b="1" dirty="0">
                <a:solidFill>
                  <a:srgbClr val="035591"/>
                </a:solidFill>
              </a:rPr>
              <a:t>Aufgabe 1.3</a:t>
            </a:r>
            <a:endParaRPr lang="en-US" sz="2200" dirty="0"/>
          </a:p>
          <a:p>
            <a:pPr indent="0" marL="0">
              <a:spcBef>
                <a:spcPts val="400"/>
              </a:spcBef>
              <a:buNone/>
            </a:pPr>
            <a:r>
              <a:rPr lang="en-US" sz="2200" dirty="0">
                <a:solidFill>
                  <a:srgbClr val="14232F"/>
                </a:solidFill>
              </a:rPr>
              <a:t>Nenne und erläutere Gemeinsamkeiten und Unterschiede der Definition des Technikbegriffs und den Dimensionen von Technik zwischen dem KC und Günter Ropohl.</a:t>
            </a:r>
            <a:endParaRPr lang="en-US" sz="2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el-78"/>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Grundbegriffe technischer Bildung</a:t>
            </a:r>
            <a:endParaRPr lang="en-US" sz="2800" dirty="0"/>
          </a:p>
        </p:txBody>
      </p:sp>
      <p:sp>
        <p:nvSpPr>
          <p:cNvPr id="3" name="quote-79"/>
          <p:cNvSpPr txBox="1"/>
          <p:nvPr/>
        </p:nvSpPr>
        <p:spPr>
          <a:xfrm>
            <a:off x="548640" y="1645920"/>
            <a:ext cx="11094415" cy="4343400"/>
          </a:xfrm>
          <a:prstGeom prst="rect">
            <a:avLst/>
          </a:prstGeom>
          <a:solidFill>
            <a:srgbClr val="EEF3F7"/>
          </a:solidFill>
          <a:ln/>
        </p:spPr>
        <p:txBody>
          <a:bodyPr wrap="square" lIns="228600" tIns="355600" rIns="355600" bIns="228600" rtlCol="0" anchor="ctr"/>
          <a:lstStyle/>
          <a:p>
            <a:pPr indent="0" marL="0">
              <a:buNone/>
            </a:pPr>
            <a:r>
              <a:rPr lang="en-US" sz="2100" i="1" dirty="0">
                <a:solidFill>
                  <a:srgbClr val="14232F"/>
                </a:solidFill>
              </a:rPr>
              <a:t>„Der sogenannte ‚Fächerkanon‘ der Schulfächer erfüllt eine wenig beachtete Funktion für die Orientierung junger Menschen: Er gliedert die Welt, die sie sonst eher diffus wahrnehmen, in Bereiche. […] Sie stellt aber auch eine Ordnung dar, die aus Traditionen heraus entstanden ist. Das heißt, dass sie prinzipiell hinterfragt werden kann (und muss). Grundsätzlich muss jedes Schulfach im allgemeinbildenden Schulwesen seine Notwendigkeit darlegen können. Es muss Intentionen (Absichten, Zielrichtungen) beschreiben und sie den Lernenden und der Gesellschaft gegenüber begründen können.“</a:t>
            </a:r>
            <a:endParaRPr lang="en-US" sz="2100" dirty="0"/>
          </a:p>
          <a:p>
            <a:pPr indent="0" marL="0">
              <a:spcBef>
                <a:spcPts val="1200"/>
              </a:spcBef>
              <a:buNone/>
            </a:pPr>
            <a:r>
              <a:rPr lang="en-US" sz="1400" dirty="0">
                <a:solidFill>
                  <a:srgbClr val="56687A"/>
                </a:solidFill>
              </a:rPr>
              <a:t>Binder (2014): Theorien und Modelle der Technikdidaktik, S. 7</a:t>
            </a:r>
            <a:endParaRPr lang="en-US" sz="2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el-80"/>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Harald Lesch zum Fächerkanon</a:t>
            </a:r>
            <a:endParaRPr lang="en-US" sz="2800" dirty="0"/>
          </a:p>
        </p:txBody>
      </p:sp>
      <p:sp>
        <p:nvSpPr>
          <p:cNvPr id="3" name="link-81"/>
          <p:cNvSpPr txBox="1"/>
          <p:nvPr/>
        </p:nvSpPr>
        <p:spPr>
          <a:xfrm>
            <a:off x="548640" y="1600200"/>
            <a:ext cx="11094415" cy="731520"/>
          </a:xfrm>
          <a:prstGeom prst="rect">
            <a:avLst/>
          </a:prstGeom>
          <a:noFill/>
          <a:ln/>
        </p:spPr>
        <p:txBody>
          <a:bodyPr wrap="square" lIns="38100" tIns="38100" rIns="38100" bIns="38100" rtlCol="0" anchor="ctr"/>
          <a:lstStyle/>
          <a:p>
            <a:pPr indent="0" marL="0">
              <a:buNone/>
            </a:pPr>
            <a:r>
              <a:rPr lang="en-US" sz="2800" dirty="0">
                <a:solidFill>
                  <a:srgbClr val="14232F"/>
                </a:solidFill>
              </a:rPr>
              <a:t>Video: </a:t>
            </a:r>
            <a:pPr indent="0" marL="0">
              <a:buNone/>
            </a:pPr>
            <a:r>
              <a:rPr lang="en-US" sz="2800" b="1" u="sng" dirty="0">
                <a:solidFill>
                  <a:srgbClr val="035591"/>
                </a:solidFill>
                <a:hlinkClick r:id="rId1" invalidUrl="" action="" tgtFrame="" tooltip="" history="1" highlightClick="0" endSnd="0">
                  <a:extLst>
                    <a:ext uri="{A12FA001-AC4F-418D-AE19-62706E023703}">
                      <ahyp:hlinkClr xmlns:ahyp="http://schemas.microsoft.com/office/drawing/2018/hyperlinkcolor" val="tx"/>
                    </a:ext>
                  </a:extLst>
                </a:hlinkClick>
              </a:rPr>
              <a:t>youtu.be/Wj-KTcxjLqs</a:t>
            </a:r>
            <a:endParaRPr lang="en-US" sz="2800" dirty="0"/>
          </a:p>
        </p:txBody>
      </p:sp>
      <p:sp>
        <p:nvSpPr>
          <p:cNvPr id="4" name="aufgabe-82"/>
          <p:cNvSpPr txBox="1"/>
          <p:nvPr/>
        </p:nvSpPr>
        <p:spPr>
          <a:xfrm>
            <a:off x="548640" y="2606040"/>
            <a:ext cx="11094415" cy="146304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200" b="1" dirty="0">
                <a:solidFill>
                  <a:srgbClr val="035591"/>
                </a:solidFill>
              </a:rPr>
              <a:t>Aufgabe 1.4</a:t>
            </a:r>
            <a:endParaRPr lang="en-US" sz="2200" dirty="0"/>
          </a:p>
          <a:p>
            <a:pPr indent="0" marL="0">
              <a:spcBef>
                <a:spcPts val="400"/>
              </a:spcBef>
              <a:buNone/>
            </a:pPr>
            <a:r>
              <a:rPr lang="en-US" sz="2200" dirty="0">
                <a:solidFill>
                  <a:srgbClr val="14232F"/>
                </a:solidFill>
              </a:rPr>
              <a:t>Arbeite mithilfe des Kerncurriculums heraus, welche Intentionen und ihre Begründungen das Fach Technik hat.</a:t>
            </a:r>
            <a:endParaRPr lang="en-US" sz="2200" dirty="0"/>
          </a:p>
        </p:txBody>
      </p:sp>
      <p:sp>
        <p:nvSpPr>
          <p:cNvPr id="5" name="aufgabe-83"/>
          <p:cNvSpPr txBox="1"/>
          <p:nvPr/>
        </p:nvSpPr>
        <p:spPr>
          <a:xfrm>
            <a:off x="548640" y="4297680"/>
            <a:ext cx="11094415" cy="123444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200" b="1" dirty="0">
                <a:solidFill>
                  <a:srgbClr val="035591"/>
                </a:solidFill>
              </a:rPr>
              <a:t>Aufgabe 1.5</a:t>
            </a:r>
            <a:endParaRPr lang="en-US" sz="2200" dirty="0"/>
          </a:p>
          <a:p>
            <a:pPr indent="0" marL="0">
              <a:spcBef>
                <a:spcPts val="400"/>
              </a:spcBef>
              <a:buNone/>
            </a:pPr>
            <a:r>
              <a:rPr lang="en-US" sz="2200" dirty="0">
                <a:solidFill>
                  <a:srgbClr val="14232F"/>
                </a:solidFill>
              </a:rPr>
              <a:t>Überlege, wie Harald Lesch zum Fach Technik stehen könnte.</a:t>
            </a:r>
            <a:endParaRPr lang="en-US" sz="2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el-8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Schulversuch der Robert-Bosch-Gesamtschule</a:t>
            </a:r>
            <a:endParaRPr lang="en-US" sz="2800" dirty="0"/>
          </a:p>
        </p:txBody>
      </p:sp>
      <p:sp>
        <p:nvSpPr>
          <p:cNvPr id="3" name="box-85"/>
          <p:cNvSpPr txBox="1"/>
          <p:nvPr/>
        </p:nvSpPr>
        <p:spPr>
          <a:xfrm>
            <a:off x="548640" y="1600200"/>
            <a:ext cx="4206240" cy="777240"/>
          </a:xfrm>
          <a:prstGeom prst="rect">
            <a:avLst/>
          </a:prstGeom>
          <a:solidFill>
            <a:srgbClr val="EEF3F7"/>
          </a:solidFill>
          <a:ln w="19050">
            <a:solidFill>
              <a:srgbClr val="C9D4DE"/>
            </a:solidFill>
          </a:ln>
        </p:spPr>
        <p:txBody>
          <a:bodyPr wrap="square" lIns="101600" tIns="101600" rIns="101600" bIns="101600" rtlCol="0" anchor="ctr"/>
          <a:lstStyle/>
          <a:p>
            <a:pPr algn="ctr" indent="0" marL="0">
              <a:buNone/>
            </a:pPr>
            <a:r>
              <a:rPr lang="en-US" sz="2200" dirty="0">
                <a:solidFill>
                  <a:srgbClr val="14232F"/>
                </a:solidFill>
              </a:rPr>
              <a:t>AWT und NW</a:t>
            </a:r>
            <a:endParaRPr lang="en-US" sz="2200" dirty="0"/>
          </a:p>
        </p:txBody>
      </p:sp>
      <p:sp>
        <p:nvSpPr>
          <p:cNvPr id="4" name="arrow-86"/>
          <p:cNvSpPr/>
          <p:nvPr/>
        </p:nvSpPr>
        <p:spPr>
          <a:xfrm>
            <a:off x="4892040" y="1984248"/>
            <a:ext cx="914400" cy="914"/>
          </a:xfrm>
          <a:prstGeom prst="line">
            <a:avLst/>
          </a:prstGeom>
          <a:noFill/>
          <a:ln w="25400">
            <a:solidFill>
              <a:srgbClr val="035591"/>
            </a:solidFill>
            <a:prstDash val="solid"/>
            <a:tailEnd type="triangle"/>
          </a:ln>
        </p:spPr>
      </p:sp>
      <p:sp>
        <p:nvSpPr>
          <p:cNvPr id="5" name="box-87"/>
          <p:cNvSpPr txBox="1"/>
          <p:nvPr/>
        </p:nvSpPr>
        <p:spPr>
          <a:xfrm>
            <a:off x="5943600" y="1600200"/>
            <a:ext cx="5696712" cy="777240"/>
          </a:xfrm>
          <a:prstGeom prst="rect">
            <a:avLst/>
          </a:prstGeom>
          <a:solidFill>
            <a:srgbClr val="FFFFFF"/>
          </a:solidFill>
          <a:ln w="19050">
            <a:solidFill>
              <a:srgbClr val="035591"/>
            </a:solidFill>
          </a:ln>
        </p:spPr>
        <p:txBody>
          <a:bodyPr wrap="square" lIns="101600" tIns="101600" rIns="101600" bIns="101600" rtlCol="0" anchor="ctr"/>
          <a:lstStyle/>
          <a:p>
            <a:pPr algn="ctr" indent="0" marL="0">
              <a:buNone/>
            </a:pPr>
            <a:r>
              <a:rPr lang="en-US" sz="2200" b="1" dirty="0">
                <a:solidFill>
                  <a:srgbClr val="14232F"/>
                </a:solidFill>
              </a:rPr>
              <a:t>AW, Technik/Physik und NW</a:t>
            </a:r>
            <a:endParaRPr lang="en-US" sz="2200" dirty="0"/>
          </a:p>
        </p:txBody>
      </p:sp>
      <p:sp>
        <p:nvSpPr>
          <p:cNvPr id="6" name="aufgabe-88"/>
          <p:cNvSpPr txBox="1"/>
          <p:nvPr/>
        </p:nvSpPr>
        <p:spPr>
          <a:xfrm>
            <a:off x="548640" y="2606040"/>
            <a:ext cx="11094415" cy="109728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000" b="1" dirty="0">
                <a:solidFill>
                  <a:srgbClr val="035591"/>
                </a:solidFill>
              </a:rPr>
              <a:t>Aufgabe 1.6</a:t>
            </a:r>
            <a:endParaRPr lang="en-US" sz="2000" dirty="0"/>
          </a:p>
          <a:p>
            <a:pPr indent="0" marL="0">
              <a:spcBef>
                <a:spcPts val="400"/>
              </a:spcBef>
              <a:buNone/>
            </a:pPr>
            <a:r>
              <a:rPr lang="en-US" sz="2000" dirty="0">
                <a:solidFill>
                  <a:srgbClr val="14232F"/>
                </a:solidFill>
              </a:rPr>
              <a:t>Lies den Text zum Schulversuch (Anhang der Mail). Deine Meinung zum Schulversuch?</a:t>
            </a:r>
            <a:endParaRPr lang="en-US" sz="2000" dirty="0"/>
          </a:p>
        </p:txBody>
      </p:sp>
      <p:sp>
        <p:nvSpPr>
          <p:cNvPr id="7" name="aufgabe-89"/>
          <p:cNvSpPr txBox="1"/>
          <p:nvPr/>
        </p:nvSpPr>
        <p:spPr>
          <a:xfrm>
            <a:off x="548640" y="3840480"/>
            <a:ext cx="11094415" cy="109728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000" b="1" dirty="0">
                <a:solidFill>
                  <a:srgbClr val="035591"/>
                </a:solidFill>
              </a:rPr>
              <a:t>Aufgabe 1.7</a:t>
            </a:r>
            <a:endParaRPr lang="en-US" sz="2000" dirty="0"/>
          </a:p>
          <a:p>
            <a:pPr indent="0" marL="0">
              <a:spcBef>
                <a:spcPts val="400"/>
              </a:spcBef>
              <a:buNone/>
            </a:pPr>
            <a:r>
              <a:rPr lang="en-US" sz="2000" dirty="0">
                <a:solidFill>
                  <a:srgbClr val="14232F"/>
                </a:solidFill>
              </a:rPr>
              <a:t>Würdest du die Fächer Physik und Technik zusammenlegen? Begründe deine Meinung.</a:t>
            </a:r>
            <a:endParaRPr lang="en-US" sz="2000" dirty="0"/>
          </a:p>
        </p:txBody>
      </p:sp>
      <p:sp>
        <p:nvSpPr>
          <p:cNvPr id="8" name="aufgabe-90"/>
          <p:cNvSpPr txBox="1"/>
          <p:nvPr/>
        </p:nvSpPr>
        <p:spPr>
          <a:xfrm>
            <a:off x="548640" y="5074920"/>
            <a:ext cx="11094415" cy="109728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000" b="1" dirty="0">
                <a:solidFill>
                  <a:srgbClr val="035591"/>
                </a:solidFill>
              </a:rPr>
              <a:t>Aufgabe 1.8</a:t>
            </a:r>
            <a:endParaRPr lang="en-US" sz="2000" dirty="0"/>
          </a:p>
          <a:p>
            <a:pPr indent="0" marL="0">
              <a:spcBef>
                <a:spcPts val="400"/>
              </a:spcBef>
              <a:buNone/>
            </a:pPr>
            <a:r>
              <a:rPr lang="en-US" sz="2000" dirty="0">
                <a:solidFill>
                  <a:srgbClr val="14232F"/>
                </a:solidFill>
              </a:rPr>
              <a:t>Würde der VDI Technik und Naturwissenschaften zusammenlegen? Begründe deine Meinung.</a:t>
            </a:r>
            <a:endParaRPr lang="en-US" sz="2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el-91"/>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Technik im Fächerkanon</a:t>
            </a:r>
            <a:endParaRPr lang="en-US" sz="2800" dirty="0"/>
          </a:p>
        </p:txBody>
      </p:sp>
      <p:sp>
        <p:nvSpPr>
          <p:cNvPr id="3" name="text-92"/>
          <p:cNvSpPr txBox="1"/>
          <p:nvPr/>
        </p:nvSpPr>
        <p:spPr>
          <a:xfrm>
            <a:off x="548640" y="1554480"/>
            <a:ext cx="11094415" cy="457200"/>
          </a:xfrm>
          <a:prstGeom prst="rect">
            <a:avLst/>
          </a:prstGeom>
          <a:noFill/>
          <a:ln/>
        </p:spPr>
        <p:txBody>
          <a:bodyPr wrap="square" lIns="38100" tIns="38100" rIns="38100" bIns="38100" rtlCol="0" anchor="t"/>
          <a:lstStyle/>
          <a:p>
            <a:pPr algn="l" indent="0" marL="0">
              <a:buNone/>
            </a:pPr>
            <a:r>
              <a:rPr lang="en-US" sz="2200" b="1" dirty="0">
                <a:solidFill>
                  <a:srgbClr val="14232F"/>
                </a:solidFill>
              </a:rPr>
              <a:t>Du darfst entscheiden, wie Technik unterrichtet wird:</a:t>
            </a:r>
            <a:endParaRPr lang="en-US" sz="2200" dirty="0"/>
          </a:p>
        </p:txBody>
      </p:sp>
      <p:sp>
        <p:nvSpPr>
          <p:cNvPr id="4" name="box-93"/>
          <p:cNvSpPr txBox="1"/>
          <p:nvPr/>
        </p:nvSpPr>
        <p:spPr>
          <a:xfrm>
            <a:off x="548640" y="214884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a</a:t>
            </a:r>
            <a:endParaRPr lang="en-US" sz="2400" dirty="0"/>
          </a:p>
        </p:txBody>
      </p:sp>
      <p:sp>
        <p:nvSpPr>
          <p:cNvPr id="5" name="box-94"/>
          <p:cNvSpPr txBox="1"/>
          <p:nvPr/>
        </p:nvSpPr>
        <p:spPr>
          <a:xfrm>
            <a:off x="1280160" y="214884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als eigenständiges Fach</a:t>
            </a:r>
            <a:endParaRPr lang="en-US" sz="2100" dirty="0"/>
          </a:p>
        </p:txBody>
      </p:sp>
      <p:sp>
        <p:nvSpPr>
          <p:cNvPr id="6" name="box-95"/>
          <p:cNvSpPr txBox="1"/>
          <p:nvPr/>
        </p:nvSpPr>
        <p:spPr>
          <a:xfrm>
            <a:off x="6172200" y="214884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b</a:t>
            </a:r>
            <a:endParaRPr lang="en-US" sz="2400" dirty="0"/>
          </a:p>
        </p:txBody>
      </p:sp>
      <p:sp>
        <p:nvSpPr>
          <p:cNvPr id="7" name="box-96"/>
          <p:cNvSpPr txBox="1"/>
          <p:nvPr/>
        </p:nvSpPr>
        <p:spPr>
          <a:xfrm>
            <a:off x="6903720" y="214884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im Fächerverbund mit Wirtschaft</a:t>
            </a:r>
            <a:endParaRPr lang="en-US" sz="2100" dirty="0"/>
          </a:p>
        </p:txBody>
      </p:sp>
      <p:sp>
        <p:nvSpPr>
          <p:cNvPr id="8" name="box-97"/>
          <p:cNvSpPr txBox="1"/>
          <p:nvPr/>
        </p:nvSpPr>
        <p:spPr>
          <a:xfrm>
            <a:off x="548640" y="301752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c</a:t>
            </a:r>
            <a:endParaRPr lang="en-US" sz="2400" dirty="0"/>
          </a:p>
        </p:txBody>
      </p:sp>
      <p:sp>
        <p:nvSpPr>
          <p:cNvPr id="9" name="box-98"/>
          <p:cNvSpPr txBox="1"/>
          <p:nvPr/>
        </p:nvSpPr>
        <p:spPr>
          <a:xfrm>
            <a:off x="1280160" y="301752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im Fächerverbund mit Naturwissenschaften</a:t>
            </a:r>
            <a:endParaRPr lang="en-US" sz="2100" dirty="0"/>
          </a:p>
        </p:txBody>
      </p:sp>
      <p:sp>
        <p:nvSpPr>
          <p:cNvPr id="10" name="box-99"/>
          <p:cNvSpPr txBox="1"/>
          <p:nvPr/>
        </p:nvSpPr>
        <p:spPr>
          <a:xfrm>
            <a:off x="6172200" y="301752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d</a:t>
            </a:r>
            <a:endParaRPr lang="en-US" sz="2400" dirty="0"/>
          </a:p>
        </p:txBody>
      </p:sp>
      <p:sp>
        <p:nvSpPr>
          <p:cNvPr id="11" name="box-100"/>
          <p:cNvSpPr txBox="1"/>
          <p:nvPr/>
        </p:nvSpPr>
        <p:spPr>
          <a:xfrm>
            <a:off x="6903720" y="301752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im Fächerverbund mit Informatik</a:t>
            </a:r>
            <a:endParaRPr lang="en-US" sz="2100" dirty="0"/>
          </a:p>
        </p:txBody>
      </p:sp>
      <p:sp>
        <p:nvSpPr>
          <p:cNvPr id="12" name="box-101"/>
          <p:cNvSpPr txBox="1"/>
          <p:nvPr/>
        </p:nvSpPr>
        <p:spPr>
          <a:xfrm>
            <a:off x="548640" y="388620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e</a:t>
            </a:r>
            <a:endParaRPr lang="en-US" sz="2400" dirty="0"/>
          </a:p>
        </p:txBody>
      </p:sp>
      <p:sp>
        <p:nvSpPr>
          <p:cNvPr id="13" name="box-102"/>
          <p:cNvSpPr txBox="1"/>
          <p:nvPr/>
        </p:nvSpPr>
        <p:spPr>
          <a:xfrm>
            <a:off x="1280160" y="388620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nur integriert in Projekte</a:t>
            </a:r>
            <a:endParaRPr lang="en-US" sz="2100" dirty="0"/>
          </a:p>
        </p:txBody>
      </p:sp>
      <p:sp>
        <p:nvSpPr>
          <p:cNvPr id="14" name="box-103"/>
          <p:cNvSpPr txBox="1"/>
          <p:nvPr/>
        </p:nvSpPr>
        <p:spPr>
          <a:xfrm>
            <a:off x="6172200" y="3886200"/>
            <a:ext cx="640080" cy="731520"/>
          </a:xfrm>
          <a:prstGeom prst="rect">
            <a:avLst/>
          </a:prstGeom>
          <a:solidFill>
            <a:srgbClr val="035591"/>
          </a:solidFill>
          <a:ln/>
        </p:spPr>
        <p:txBody>
          <a:bodyPr wrap="square" lIns="101600" tIns="101600" rIns="101600" bIns="101600" rtlCol="0" anchor="ctr"/>
          <a:lstStyle/>
          <a:p>
            <a:pPr algn="ctr" indent="0" marL="0">
              <a:buNone/>
            </a:pPr>
            <a:r>
              <a:rPr lang="en-US" sz="2400" b="1" dirty="0">
                <a:solidFill>
                  <a:srgbClr val="FFFFFF"/>
                </a:solidFill>
              </a:rPr>
              <a:t>f</a:t>
            </a:r>
            <a:endParaRPr lang="en-US" sz="2400" dirty="0"/>
          </a:p>
        </p:txBody>
      </p:sp>
      <p:sp>
        <p:nvSpPr>
          <p:cNvPr id="15" name="box-104"/>
          <p:cNvSpPr txBox="1"/>
          <p:nvPr/>
        </p:nvSpPr>
        <p:spPr>
          <a:xfrm>
            <a:off x="6903720" y="3886200"/>
            <a:ext cx="4736592" cy="731520"/>
          </a:xfrm>
          <a:prstGeom prst="rect">
            <a:avLst/>
          </a:prstGeom>
          <a:solidFill>
            <a:srgbClr val="EEF3F7"/>
          </a:solidFill>
          <a:ln/>
        </p:spPr>
        <p:txBody>
          <a:bodyPr wrap="square" lIns="101600" tIns="101600" rIns="101600" bIns="101600" rtlCol="0" anchor="ctr"/>
          <a:lstStyle/>
          <a:p>
            <a:pPr algn="l" indent="0" marL="0">
              <a:buNone/>
            </a:pPr>
            <a:r>
              <a:rPr lang="en-US" sz="2100" dirty="0">
                <a:solidFill>
                  <a:srgbClr val="14232F"/>
                </a:solidFill>
              </a:rPr>
              <a:t>gar nicht</a:t>
            </a:r>
            <a:endParaRPr lang="en-US" sz="2100" dirty="0"/>
          </a:p>
        </p:txBody>
      </p:sp>
      <p:sp>
        <p:nvSpPr>
          <p:cNvPr id="16" name="aufgabe-105"/>
          <p:cNvSpPr txBox="1"/>
          <p:nvPr/>
        </p:nvSpPr>
        <p:spPr>
          <a:xfrm>
            <a:off x="548640" y="4892040"/>
            <a:ext cx="11094415" cy="914400"/>
          </a:xfrm>
          <a:prstGeom prst="rect">
            <a:avLst/>
          </a:prstGeom>
          <a:solidFill>
            <a:srgbClr val="FFF3C9"/>
          </a:solidFill>
          <a:ln w="25400">
            <a:solidFill>
              <a:srgbClr val="F5B700"/>
            </a:solidFill>
          </a:ln>
        </p:spPr>
        <p:txBody>
          <a:bodyPr wrap="square" lIns="101600" tIns="177800" rIns="177800" bIns="101600" rtlCol="0" anchor="ctr"/>
          <a:lstStyle/>
          <a:p>
            <a:pPr indent="0" marL="0">
              <a:buNone/>
            </a:pPr>
            <a:r>
              <a:rPr lang="en-US" sz="2000" b="1" dirty="0">
                <a:solidFill>
                  <a:srgbClr val="035591"/>
                </a:solidFill>
              </a:rPr>
              <a:t>Aufgabe 1.9</a:t>
            </a:r>
            <a:endParaRPr lang="en-US" sz="2000" dirty="0"/>
          </a:p>
          <a:p>
            <a:pPr indent="0" marL="0">
              <a:spcBef>
                <a:spcPts val="400"/>
              </a:spcBef>
              <a:buNone/>
            </a:pPr>
            <a:r>
              <a:rPr lang="en-US" sz="2100" dirty="0">
                <a:solidFill>
                  <a:srgbClr val="14232F"/>
                </a:solidFill>
              </a:rPr>
              <a:t>Für welche Möglichkeit würdest du dich entscheiden? Begründe deine Meinung.</a:t>
            </a:r>
            <a:endParaRPr lang="en-US" sz="2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el-106"/>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Bis Termin 2: Aufgabenpaket 1</a:t>
            </a:r>
            <a:endParaRPr lang="en-US" sz="2800" dirty="0"/>
          </a:p>
        </p:txBody>
      </p:sp>
      <p:sp>
        <p:nvSpPr>
          <p:cNvPr id="3" name="tile-107"/>
          <p:cNvSpPr txBox="1"/>
          <p:nvPr/>
        </p:nvSpPr>
        <p:spPr>
          <a:xfrm>
            <a:off x="548640" y="1600200"/>
            <a:ext cx="5440680" cy="1920240"/>
          </a:xfrm>
          <a:prstGeom prst="rect">
            <a:avLst/>
          </a:prstGeom>
          <a:solidFill>
            <a:srgbClr val="EEF3F7"/>
          </a:solidFill>
          <a:ln w="6350">
            <a:solidFill>
              <a:srgbClr val="EEF3F7"/>
            </a:solidFill>
          </a:ln>
        </p:spPr>
        <p:txBody>
          <a:bodyPr wrap="square" lIns="127000" tIns="127000" rIns="127000" bIns="127000" rtlCol="0" anchor="t"/>
          <a:lstStyle/>
          <a:p>
            <a:pPr indent="0" marL="0">
              <a:buNone/>
            </a:pPr>
            <a:r>
              <a:rPr lang="en-US" sz="2200" b="1" dirty="0">
                <a:solidFill>
                  <a:srgbClr val="035591"/>
                </a:solidFill>
              </a:rPr>
              <a:t>Technikbegriff · 1.1–1.3</a:t>
            </a:r>
            <a:endParaRPr lang="en-US" sz="2200" dirty="0"/>
          </a:p>
          <a:p>
            <a:pPr indent="0" marL="0">
              <a:spcBef>
                <a:spcPts val="400"/>
              </a:spcBef>
              <a:buNone/>
            </a:pPr>
            <a:r>
              <a:rPr lang="en-US" sz="1900" dirty="0">
                <a:solidFill>
                  <a:srgbClr val="14232F"/>
                </a:solidFill>
              </a:rPr>
              <a:t>Ropohl für die 6. Klasse, Technikbegriff im KC, KC und Ropohl vergleichen</a:t>
            </a:r>
            <a:endParaRPr lang="en-US" sz="2200" dirty="0"/>
          </a:p>
        </p:txBody>
      </p:sp>
      <p:sp>
        <p:nvSpPr>
          <p:cNvPr id="4" name="tile-108"/>
          <p:cNvSpPr txBox="1"/>
          <p:nvPr/>
        </p:nvSpPr>
        <p:spPr>
          <a:xfrm>
            <a:off x="6199632" y="1600200"/>
            <a:ext cx="5440680" cy="1920240"/>
          </a:xfrm>
          <a:prstGeom prst="rect">
            <a:avLst/>
          </a:prstGeom>
          <a:solidFill>
            <a:srgbClr val="FFF3C9"/>
          </a:solidFill>
          <a:ln w="6350">
            <a:solidFill>
              <a:srgbClr val="FFF3C9"/>
            </a:solidFill>
          </a:ln>
        </p:spPr>
        <p:txBody>
          <a:bodyPr wrap="square" lIns="127000" tIns="127000" rIns="127000" bIns="127000" rtlCol="0" anchor="t"/>
          <a:lstStyle/>
          <a:p>
            <a:pPr indent="0" marL="0">
              <a:buNone/>
            </a:pPr>
            <a:r>
              <a:rPr lang="en-US" sz="2200" b="1" dirty="0">
                <a:solidFill>
                  <a:srgbClr val="035591"/>
                </a:solidFill>
              </a:rPr>
              <a:t>Fächerkanon · 1.4–1.9</a:t>
            </a:r>
            <a:endParaRPr lang="en-US" sz="2200" dirty="0"/>
          </a:p>
          <a:p>
            <a:pPr indent="0" marL="0">
              <a:spcBef>
                <a:spcPts val="400"/>
              </a:spcBef>
              <a:buNone/>
            </a:pPr>
            <a:r>
              <a:rPr lang="en-US" sz="1900" dirty="0">
                <a:solidFill>
                  <a:srgbClr val="14232F"/>
                </a:solidFill>
              </a:rPr>
              <a:t>Intentionen, Harald Lesch, Schulversuch, Physik und Technik, VDI, deine Entscheidung</a:t>
            </a:r>
            <a:endParaRPr lang="en-US" sz="2200" dirty="0"/>
          </a:p>
        </p:txBody>
      </p:sp>
      <p:sp>
        <p:nvSpPr>
          <p:cNvPr id="5" name="list-109"/>
          <p:cNvSpPr txBox="1"/>
          <p:nvPr/>
        </p:nvSpPr>
        <p:spPr>
          <a:xfrm>
            <a:off x="548640" y="3840480"/>
            <a:ext cx="11094415" cy="1463040"/>
          </a:xfrm>
          <a:prstGeom prst="rect">
            <a:avLst/>
          </a:prstGeom>
          <a:noFill/>
          <a:ln/>
        </p:spPr>
        <p:txBody>
          <a:bodyPr wrap="square" lIns="38100" tIns="38100" rIns="38100" bIns="38100" rtlCol="0" anchor="t"/>
          <a:lstStyle/>
          <a:p>
            <a:pPr marL="279400" indent="-279400">
              <a:spcAft>
                <a:spcPts val="1000"/>
              </a:spcAft>
              <a:buSzPct val="100000"/>
              <a:buChar char="•"/>
            </a:pPr>
            <a:r>
              <a:rPr lang="en-US" sz="2200" dirty="0">
                <a:solidFill>
                  <a:srgbClr val="14232F"/>
                </a:solidFill>
              </a:rPr>
              <a:t>Lernplattform → Termin 1 → „Nach dem Termin“</a:t>
            </a:r>
            <a:endParaRPr lang="en-US" sz="2200" dirty="0"/>
          </a:p>
          <a:p>
            <a:pPr marL="279400" indent="-279400">
              <a:spcAft>
                <a:spcPts val="1000"/>
              </a:spcAft>
              <a:buSzPct val="100000"/>
              <a:buChar char="•"/>
            </a:pPr>
            <a:r>
              <a:rPr lang="en-US" sz="2200" dirty="0">
                <a:solidFill>
                  <a:srgbClr val="14232F"/>
                </a:solidFill>
              </a:rPr>
              <a:t>Vor Termin 2: Export „Nur Aufgabenpaket 1“ als Word oder PDF schicken</a:t>
            </a:r>
            <a:endParaRPr lang="en-US" sz="2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el-110"/>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2800" b="1" dirty="0">
                <a:solidFill>
                  <a:srgbClr val="14232F"/>
                </a:solidFill>
              </a:rPr>
              <a:t>Kursseite und Lernplattform</a:t>
            </a:r>
            <a:endParaRPr lang="en-US" sz="2800" dirty="0"/>
          </a:p>
        </p:txBody>
      </p:sp>
      <p:sp>
        <p:nvSpPr>
          <p:cNvPr id="3" name="text-111"/>
          <p:cNvSpPr txBox="1"/>
          <p:nvPr/>
        </p:nvSpPr>
        <p:spPr>
          <a:xfrm>
            <a:off x="548640" y="1691640"/>
            <a:ext cx="6949440" cy="548640"/>
          </a:xfrm>
          <a:prstGeom prst="rect">
            <a:avLst/>
          </a:prstGeom>
          <a:noFill/>
          <a:ln/>
        </p:spPr>
        <p:txBody>
          <a:bodyPr wrap="square" lIns="38100" tIns="38100" rIns="38100" bIns="38100" rtlCol="0" anchor="t"/>
          <a:lstStyle/>
          <a:p>
            <a:pPr algn="l" indent="0" marL="0">
              <a:buNone/>
            </a:pPr>
            <a:r>
              <a:rPr lang="en-US" sz="2200" b="1" dirty="0">
                <a:solidFill>
                  <a:srgbClr val="14232F"/>
                </a:solidFill>
              </a:rPr>
              <a:t>Kursseite mit Präsentationen, Material und Link zur Lernplattform</a:t>
            </a:r>
            <a:endParaRPr lang="en-US" sz="2200" dirty="0"/>
          </a:p>
        </p:txBody>
      </p:sp>
      <p:sp>
        <p:nvSpPr>
          <p:cNvPr id="4" name="link-112"/>
          <p:cNvSpPr txBox="1"/>
          <p:nvPr/>
        </p:nvSpPr>
        <p:spPr>
          <a:xfrm>
            <a:off x="548640" y="2377440"/>
            <a:ext cx="6949440" cy="822960"/>
          </a:xfrm>
          <a:prstGeom prst="rect">
            <a:avLst/>
          </a:prstGeom>
          <a:noFill/>
          <a:ln/>
        </p:spPr>
        <p:txBody>
          <a:bodyPr wrap="square" lIns="38100" tIns="38100" rIns="38100" bIns="38100" rtlCol="0" anchor="ctr"/>
          <a:lstStyle/>
          <a:p>
            <a:pPr indent="0" marL="0">
              <a:buNone/>
            </a:pPr>
            <a:r>
              <a:rPr lang="en-US" sz="4000" b="1" u="sng" dirty="0">
                <a:solidFill>
                  <a:srgbClr val="035591"/>
                </a:solidFill>
                <a:hlinkClick r:id="rId1" invalidUrl="" action="" tgtFrame="" tooltip="" history="1" highlightClick="0" endSnd="0">
                  <a:extLst>
                    <a:ext uri="{A12FA001-AC4F-418D-AE19-62706E023703}">
                      <ahyp:hlinkClr xmlns:ahyp="http://schemas.microsoft.com/office/drawing/2018/hyperlinkcolor" val="tx"/>
                    </a:ext>
                  </a:extLst>
                </a:hlinkClick>
              </a:rPr>
              <a:t>https://t1p.de/tdk-26</a:t>
            </a:r>
            <a:endParaRPr lang="en-US" sz="4000" dirty="0"/>
          </a:p>
        </p:txBody>
      </p:sp>
      <p:sp>
        <p:nvSpPr>
          <p:cNvPr id="5" name="list-113"/>
          <p:cNvSpPr txBox="1"/>
          <p:nvPr/>
        </p:nvSpPr>
        <p:spPr>
          <a:xfrm>
            <a:off x="548640" y="3429000"/>
            <a:ext cx="6949440" cy="2194560"/>
          </a:xfrm>
          <a:prstGeom prst="rect">
            <a:avLst/>
          </a:prstGeom>
          <a:noFill/>
          <a:ln/>
        </p:spPr>
        <p:txBody>
          <a:bodyPr wrap="square" lIns="38100" tIns="38100" rIns="38100" bIns="38100" rtlCol="0" anchor="t"/>
          <a:lstStyle/>
          <a:p>
            <a:pPr marL="279400" indent="-279400">
              <a:spcAft>
                <a:spcPts val="1000"/>
              </a:spcAft>
              <a:buSzPct val="100000"/>
              <a:buChar char="•"/>
            </a:pPr>
            <a:r>
              <a:rPr lang="en-US" sz="2000" dirty="0">
                <a:solidFill>
                  <a:srgbClr val="14232F"/>
                </a:solidFill>
              </a:rPr>
              <a:t>Spalte „Aufgaben“ → Lernplattform</a:t>
            </a:r>
            <a:endParaRPr lang="en-US" sz="2000" dirty="0"/>
          </a:p>
          <a:p>
            <a:pPr marL="279400" indent="-279400">
              <a:spcAft>
                <a:spcPts val="1000"/>
              </a:spcAft>
              <a:buSzPct val="100000"/>
              <a:buChar char="•"/>
            </a:pPr>
            <a:r>
              <a:rPr lang="en-US" sz="2000" dirty="0">
                <a:solidFill>
                  <a:srgbClr val="14232F"/>
                </a:solidFill>
              </a:rPr>
              <a:t>Termin wählen → „Nach dem Termin“: Aufgabenpaket</a:t>
            </a:r>
            <a:endParaRPr lang="en-US" sz="2000" dirty="0"/>
          </a:p>
          <a:p>
            <a:pPr marL="279400" indent="-279400">
              <a:spcAft>
                <a:spcPts val="1000"/>
              </a:spcAft>
              <a:buSzPct val="100000"/>
              <a:buChar char="•"/>
            </a:pPr>
            <a:r>
              <a:rPr lang="en-US" sz="2000" dirty="0">
                <a:solidFill>
                  <a:srgbClr val="14232F"/>
                </a:solidFill>
              </a:rPr>
              <a:t>Vor dem nächsten Termin: Export als Word oder PDF schicken</a:t>
            </a:r>
            <a:endParaRPr lang="en-US" sz="2000" dirty="0"/>
          </a:p>
        </p:txBody>
      </p:sp>
      <p:pic>
        <p:nvPicPr>
          <p:cNvPr id="6" name="qr-114" descr="QR-Code zur Kursseite: https://t1p.de/tdk-26">    </p:cNvPr>
          <p:cNvPicPr>
            <a:picLocks noChangeAspect="1"/>
          </p:cNvPicPr>
          <p:nvPr/>
        </p:nvPicPr>
        <p:blipFill>
          <a:blip r:embed="rId2"/>
          <a:stretch>
            <a:fillRect/>
          </a:stretch>
        </p:blipFill>
        <p:spPr>
          <a:xfrm>
            <a:off x="8138160" y="1645920"/>
            <a:ext cx="3520440" cy="3520440"/>
          </a:xfrm>
          <a:prstGeom prst="rect">
            <a:avLst/>
          </a:prstGeom>
        </p:spPr>
      </p:pic>
      <p:sp>
        <p:nvSpPr>
          <p:cNvPr id="7" name="text-115"/>
          <p:cNvSpPr txBox="1"/>
          <p:nvPr/>
        </p:nvSpPr>
        <p:spPr>
          <a:xfrm>
            <a:off x="8138160" y="5212080"/>
            <a:ext cx="3520440" cy="320040"/>
          </a:xfrm>
          <a:prstGeom prst="rect">
            <a:avLst/>
          </a:prstGeom>
          <a:noFill/>
          <a:ln/>
        </p:spPr>
        <p:txBody>
          <a:bodyPr wrap="square" lIns="38100" tIns="38100" rIns="38100" bIns="38100" rtlCol="0" anchor="t"/>
          <a:lstStyle/>
          <a:p>
            <a:pPr algn="ctr" indent="0" marL="0">
              <a:buNone/>
            </a:pPr>
            <a:r>
              <a:rPr lang="en-US" sz="1200" dirty="0">
                <a:solidFill>
                  <a:srgbClr val="56687A"/>
                </a:solidFill>
              </a:rPr>
              <a:t>QR-Code: https://t1p.de/tdk-26</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7A"/>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deinTechniklehrer">
  <a:themeElements>
    <a:clrScheme name="deinTechniklehrer">
      <a:dk1>
        <a:srgbClr val="14232F"/>
      </a:dk1>
      <a:lt1>
        <a:srgbClr val="FFFFFF"/>
      </a:lt1>
      <a:dk2>
        <a:srgbClr val="023A63"/>
      </a:dk2>
      <a:lt2>
        <a:srgbClr val="EEF3F7"/>
      </a:lt2>
      <a:accent1>
        <a:srgbClr val="035591"/>
      </a:accent1>
      <a:accent2>
        <a:srgbClr val="F5B700"/>
      </a:accent2>
      <a:accent3>
        <a:srgbClr val="C2255C"/>
      </a:accent3>
      <a:accent4>
        <a:srgbClr val="D9480F"/>
      </a:accent4>
      <a:accent5>
        <a:srgbClr val="3B6E8F"/>
      </a:accent5>
      <a:accent6>
        <a:srgbClr val="17803F"/>
      </a:accent6>
      <a:hlink>
        <a:srgbClr val="035591"/>
      </a:hlink>
      <a:folHlink>
        <a:srgbClr val="56687A"/>
      </a:folHlink>
    </a:clrScheme>
    <a:fontScheme name="deinTechniklehr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Technikdidaktisches Kolloquium – Termin 1: Einführung und Technikbegriff</dc:title>
  <dc:subject>Universität Hildesheim, WiSe 2026/27</dc:subject>
  <dc:creator>Daniel Beyrodt</dc:creator>
  <cp:lastModifiedBy>Daniel Beyrodt</cp:lastModifiedBy>
  <cp:revision>1</cp:revision>
  <dcterms:created xsi:type="dcterms:W3CDTF">2026-10-28T06:34:33Z</dcterms:created>
  <dcterms:modified xsi:type="dcterms:W3CDTF">2026-10-28T06:34:33Z</dcterms:modified>
</cp:coreProperties>
</file>