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01168"/>
            <a:ext cx="1609344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2926080" y="201168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6687A"/>
                </a:solidFill>
              </a:rPr>
              <a:t>Technikdidaktisches Kolloquium · Termin 2</a:t>
            </a:r>
            <a:endParaRPr lang="en-US" sz="1400" dirty="0"/>
          </a:p>
        </p:txBody>
      </p:sp>
      <p:sp>
        <p:nvSpPr>
          <p:cNvPr id="4" name="Shape 1"/>
          <p:cNvSpPr/>
          <p:nvPr/>
        </p:nvSpPr>
        <p:spPr>
          <a:xfrm>
            <a:off x="411480" y="777240"/>
            <a:ext cx="11368735" cy="0"/>
          </a:xfrm>
          <a:prstGeom prst="line">
            <a:avLst/>
          </a:prstGeom>
          <a:noFill/>
          <a:ln w="12700">
            <a:solidFill>
              <a:srgbClr val="C9D4DE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1148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87A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ENN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274320"/>
            <a:ext cx="1920240" cy="603504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329184"/>
            <a:ext cx="1737360" cy="49377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87A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023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2926080" cy="96012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tmp/claude-0/-home-claude/f0df0622-abb2-5c0a-a841-b1a0cebc56b9/scratchpad/pptx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40080"/>
            <a:ext cx="2651760" cy="7498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64008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8E6"/>
                </a:solidFill>
              </a:rPr>
              <a:t>Daniel Beyrodt · Universität Hildesheim · WiSe 2026/27 · CC BY-NC-SA 4.0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t1p.de/tdk-26" TargetMode="External"/><Relationship Id="rId2" Type="http://schemas.openxmlformats.org/officeDocument/2006/relationships/image" Target="../media/image-15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49"/>
          <p:cNvSpPr txBox="1"/>
          <p:nvPr/>
        </p:nvSpPr>
        <p:spPr>
          <a:xfrm>
            <a:off x="548640" y="2011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Technikdidaktisches Kolloquium</a:t>
            </a:r>
            <a:endParaRPr lang="en-US" sz="4400" dirty="0"/>
          </a:p>
        </p:txBody>
      </p:sp>
      <p:sp>
        <p:nvSpPr>
          <p:cNvPr id="3" name="text-150"/>
          <p:cNvSpPr txBox="1"/>
          <p:nvPr/>
        </p:nvSpPr>
        <p:spPr>
          <a:xfrm>
            <a:off x="548640" y="2880360"/>
            <a:ext cx="1097280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B700"/>
                </a:solidFill>
              </a:rPr>
              <a:t>Termin 2 · Der mehrperspektivische Technikunterricht</a:t>
            </a:r>
            <a:endParaRPr lang="en-US" sz="2600" dirty="0"/>
          </a:p>
        </p:txBody>
      </p:sp>
      <p:sp>
        <p:nvSpPr>
          <p:cNvPr id="4" name="box-151"/>
          <p:cNvSpPr txBox="1"/>
          <p:nvPr/>
        </p:nvSpPr>
        <p:spPr>
          <a:xfrm>
            <a:off x="548640" y="3566160"/>
            <a:ext cx="1828800" cy="530352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1</a:t>
            </a:r>
            <a:endParaRPr lang="en-US" sz="2000" dirty="0"/>
          </a:p>
        </p:txBody>
      </p:sp>
      <p:sp>
        <p:nvSpPr>
          <p:cNvPr id="5" name="text-152"/>
          <p:cNvSpPr txBox="1"/>
          <p:nvPr/>
        </p:nvSpPr>
        <p:spPr>
          <a:xfrm>
            <a:off x="2560320" y="3566160"/>
            <a:ext cx="896112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Einführung · Technikbegriff · Technik im Fächerkanon</a:t>
            </a:r>
            <a:endParaRPr lang="en-US" sz="2200" dirty="0"/>
          </a:p>
        </p:txBody>
      </p:sp>
      <p:sp>
        <p:nvSpPr>
          <p:cNvPr id="6" name="box-153"/>
          <p:cNvSpPr txBox="1"/>
          <p:nvPr/>
        </p:nvSpPr>
        <p:spPr>
          <a:xfrm>
            <a:off x="548640" y="4206240"/>
            <a:ext cx="1828800" cy="530352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32F"/>
                </a:solidFill>
              </a:rPr>
              <a:t>Termin 2</a:t>
            </a:r>
            <a:endParaRPr lang="en-US" sz="2000" dirty="0"/>
          </a:p>
        </p:txBody>
      </p:sp>
      <p:sp>
        <p:nvSpPr>
          <p:cNvPr id="7" name="text-154"/>
          <p:cNvSpPr txBox="1"/>
          <p:nvPr/>
        </p:nvSpPr>
        <p:spPr>
          <a:xfrm>
            <a:off x="2560320" y="4206240"/>
            <a:ext cx="896112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Besprechung Paket 1 · Der mehrperspektivische Technikunterricht</a:t>
            </a:r>
            <a:endParaRPr lang="en-US" sz="2200" dirty="0"/>
          </a:p>
        </p:txBody>
      </p:sp>
      <p:sp>
        <p:nvSpPr>
          <p:cNvPr id="8" name="box-155"/>
          <p:cNvSpPr txBox="1"/>
          <p:nvPr/>
        </p:nvSpPr>
        <p:spPr>
          <a:xfrm>
            <a:off x="548640" y="4846320"/>
            <a:ext cx="1828800" cy="530352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3</a:t>
            </a:r>
            <a:endParaRPr lang="en-US" sz="2000" dirty="0"/>
          </a:p>
        </p:txBody>
      </p:sp>
      <p:sp>
        <p:nvSpPr>
          <p:cNvPr id="9" name="text-156"/>
          <p:cNvSpPr txBox="1"/>
          <p:nvPr/>
        </p:nvSpPr>
        <p:spPr>
          <a:xfrm>
            <a:off x="2560320" y="4846320"/>
            <a:ext cx="896112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Besprechung Paket 2 · Aktuelle Entwicklungen im Technikunterricht</a:t>
            </a:r>
            <a:endParaRPr lang="en-US" sz="2200" dirty="0"/>
          </a:p>
        </p:txBody>
      </p:sp>
      <p:sp>
        <p:nvSpPr>
          <p:cNvPr id="10" name="box-157"/>
          <p:cNvSpPr txBox="1"/>
          <p:nvPr/>
        </p:nvSpPr>
        <p:spPr>
          <a:xfrm>
            <a:off x="548640" y="5486400"/>
            <a:ext cx="1828800" cy="530352"/>
          </a:xfrm>
          <a:prstGeom prst="rect">
            <a:avLst/>
          </a:prstGeom>
          <a:solidFill>
            <a:srgbClr val="0F4F7E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Termin 4</a:t>
            </a:r>
            <a:endParaRPr lang="en-US" sz="2000" dirty="0"/>
          </a:p>
        </p:txBody>
      </p:sp>
      <p:sp>
        <p:nvSpPr>
          <p:cNvPr id="11" name="text-158"/>
          <p:cNvSpPr txBox="1"/>
          <p:nvPr/>
        </p:nvSpPr>
        <p:spPr>
          <a:xfrm>
            <a:off x="2560320" y="5486400"/>
            <a:ext cx="8961120" cy="530352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C9D8E6"/>
                </a:solidFill>
              </a:rPr>
              <a:t>Referat oder Vortrag und Diskussion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-159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Ablauf heute</a:t>
            </a:r>
            <a:endParaRPr lang="en-US" sz="2800" dirty="0"/>
          </a:p>
        </p:txBody>
      </p:sp>
      <p:sp>
        <p:nvSpPr>
          <p:cNvPr id="3" name="phase-160"/>
          <p:cNvSpPr txBox="1"/>
          <p:nvPr/>
        </p:nvSpPr>
        <p:spPr>
          <a:xfrm>
            <a:off x="548640" y="1783080"/>
            <a:ext cx="3423818" cy="2651760"/>
          </a:xfrm>
          <a:prstGeom prst="rect">
            <a:avLst/>
          </a:prstGeom>
          <a:solidFill>
            <a:srgbClr val="E2F4E8"/>
          </a:solidFill>
          <a:ln w="31750">
            <a:solidFill>
              <a:srgbClr val="17803F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7803F"/>
                </a:solidFill>
              </a:rPr>
              <a:t>Besprechung</a:t>
            </a:r>
            <a:endParaRPr lang="en-US" sz="2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Aufgabenpaket 1</a:t>
            </a:r>
            <a:endParaRPr lang="en-US" sz="22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1800" b="1" dirty="0">
                <a:solidFill>
                  <a:srgbClr val="14232F"/>
                </a:solidFill>
              </a:rPr>
              <a:t>Folien 3–5</a:t>
            </a:r>
            <a:endParaRPr lang="en-US" sz="2200" dirty="0"/>
          </a:p>
        </p:txBody>
      </p:sp>
      <p:sp>
        <p:nvSpPr>
          <p:cNvPr id="4" name="arrow-161"/>
          <p:cNvSpPr/>
          <p:nvPr/>
        </p:nvSpPr>
        <p:spPr>
          <a:xfrm>
            <a:off x="4027322" y="3108960"/>
            <a:ext cx="301752" cy="91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5" name="phase-162"/>
          <p:cNvSpPr txBox="1"/>
          <p:nvPr/>
        </p:nvSpPr>
        <p:spPr>
          <a:xfrm>
            <a:off x="4383938" y="1783080"/>
            <a:ext cx="3423818" cy="2651760"/>
          </a:xfrm>
          <a:prstGeom prst="rect">
            <a:avLst/>
          </a:prstGeom>
          <a:solidFill>
            <a:srgbClr val="DDE9F1"/>
          </a:solidFill>
          <a:ln w="31750">
            <a:solidFill>
              <a:srgbClr val="035591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Impuls</a:t>
            </a:r>
            <a:endParaRPr lang="en-US" sz="2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Der mehrperspektivische Technikunterricht</a:t>
            </a:r>
            <a:endParaRPr lang="en-US" sz="22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1800" b="1" dirty="0">
                <a:solidFill>
                  <a:srgbClr val="14232F"/>
                </a:solidFill>
              </a:rPr>
              <a:t>Folien 6–8</a:t>
            </a:r>
            <a:endParaRPr lang="en-US" sz="2200" dirty="0"/>
          </a:p>
        </p:txBody>
      </p:sp>
      <p:sp>
        <p:nvSpPr>
          <p:cNvPr id="6" name="arrow-163"/>
          <p:cNvSpPr/>
          <p:nvPr/>
        </p:nvSpPr>
        <p:spPr>
          <a:xfrm>
            <a:off x="7862621" y="3108960"/>
            <a:ext cx="301752" cy="914"/>
          </a:xfrm>
          <a:prstGeom prst="line">
            <a:avLst/>
          </a:prstGeom>
          <a:noFill/>
          <a:ln w="25400">
            <a:solidFill>
              <a:srgbClr val="56687A"/>
            </a:solidFill>
            <a:prstDash val="solid"/>
            <a:tailEnd type="triangle"/>
          </a:ln>
        </p:spPr>
      </p:sp>
      <p:sp>
        <p:nvSpPr>
          <p:cNvPr id="7" name="phase-164"/>
          <p:cNvSpPr txBox="1"/>
          <p:nvPr/>
        </p:nvSpPr>
        <p:spPr>
          <a:xfrm>
            <a:off x="8219237" y="1783080"/>
            <a:ext cx="3423818" cy="2651760"/>
          </a:xfrm>
          <a:prstGeom prst="rect">
            <a:avLst/>
          </a:prstGeom>
          <a:solidFill>
            <a:srgbClr val="FFF3C9"/>
          </a:solidFill>
          <a:ln w="31750">
            <a:solidFill>
              <a:srgbClr val="F5B700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B7791F"/>
                </a:solidFill>
              </a:rPr>
              <a:t>Aufgaben für zu Hause</a:t>
            </a:r>
            <a:endParaRPr lang="en-US" sz="2200" dirty="0"/>
          </a:p>
          <a:p>
            <a:pPr indent="0" marL="0">
              <a:spcBef>
                <a:spcPts val="6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Aufgabenpaket 2: mpTu und dein Thema</a:t>
            </a:r>
            <a:endParaRPr lang="en-US" sz="2200" dirty="0"/>
          </a:p>
          <a:p>
            <a:pPr indent="0" marL="0">
              <a:spcBef>
                <a:spcPts val="1000"/>
              </a:spcBef>
              <a:buNone/>
            </a:pPr>
            <a:r>
              <a:rPr lang="en-US" sz="1800" b="1" dirty="0">
                <a:solidFill>
                  <a:srgbClr val="14232F"/>
                </a:solidFill>
              </a:rPr>
              <a:t>Folien 9–15</a:t>
            </a:r>
            <a:endParaRPr lang="en-US" sz="2200" dirty="0"/>
          </a:p>
        </p:txBody>
      </p:sp>
      <p:sp>
        <p:nvSpPr>
          <p:cNvPr id="8" name="text-165"/>
          <p:cNvSpPr txBox="1"/>
          <p:nvPr/>
        </p:nvSpPr>
        <p:spPr>
          <a:xfrm>
            <a:off x="548640" y="4754880"/>
            <a:ext cx="11094415" cy="91440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56687A"/>
                </a:solidFill>
              </a:rPr>
              <a:t>Ab „Aufgaben für zu Hause“: die Aufgaben bis zum nächsten Termin – bearbeiten auf der Lernplattform unter „Zu Hause“.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2F4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-166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17803F"/>
          </a:solidFill>
          <a:ln/>
        </p:spPr>
      </p:sp>
      <p:sp>
        <p:nvSpPr>
          <p:cNvPr id="3" name="box-167"/>
          <p:cNvSpPr txBox="1"/>
          <p:nvPr/>
        </p:nvSpPr>
        <p:spPr>
          <a:xfrm>
            <a:off x="822960" y="1463040"/>
            <a:ext cx="5852160" cy="640080"/>
          </a:xfrm>
          <a:prstGeom prst="rect">
            <a:avLst/>
          </a:prstGeom>
          <a:solidFill>
            <a:srgbClr val="17803F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BESPRECHUNG</a:t>
            </a:r>
            <a:endParaRPr lang="en-US" sz="2400" dirty="0"/>
          </a:p>
        </p:txBody>
      </p:sp>
      <p:sp>
        <p:nvSpPr>
          <p:cNvPr id="4" name="titel-168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32F"/>
                </a:solidFill>
              </a:rPr>
              <a:t>Besprechung: Aufgabenpaket 1</a:t>
            </a:r>
            <a:endParaRPr lang="en-US" sz="4000" dirty="0"/>
          </a:p>
        </p:txBody>
      </p:sp>
      <p:sp>
        <p:nvSpPr>
          <p:cNvPr id="5" name="text-169"/>
          <p:cNvSpPr txBox="1"/>
          <p:nvPr/>
        </p:nvSpPr>
        <p:spPr>
          <a:xfrm>
            <a:off x="822960" y="4480560"/>
            <a:ext cx="106070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56687A"/>
                </a:solidFill>
              </a:rPr>
              <a:t>Im Termin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170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17803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Besprechung</a:t>
            </a:r>
            <a:endParaRPr lang="en-US" sz="1400" dirty="0"/>
          </a:p>
        </p:txBody>
      </p:sp>
      <p:sp>
        <p:nvSpPr>
          <p:cNvPr id="3" name="titel-171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Besprechung: Technikbegriff</a:t>
            </a:r>
            <a:endParaRPr lang="en-US" sz="2800" dirty="0"/>
          </a:p>
        </p:txBody>
      </p:sp>
      <p:sp>
        <p:nvSpPr>
          <p:cNvPr id="4" name="ntile-172"/>
          <p:cNvSpPr txBox="1"/>
          <p:nvPr/>
        </p:nvSpPr>
        <p:spPr>
          <a:xfrm>
            <a:off x="548640" y="1783080"/>
            <a:ext cx="3515258" cy="329184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1.1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Deine Definition für die 6. Klasse: vereinfacht, aber nicht verfälscht?</a:t>
            </a:r>
            <a:endParaRPr lang="en-US" sz="3400" dirty="0"/>
          </a:p>
        </p:txBody>
      </p:sp>
      <p:sp>
        <p:nvSpPr>
          <p:cNvPr id="5" name="ntile-173"/>
          <p:cNvSpPr txBox="1"/>
          <p:nvPr/>
        </p:nvSpPr>
        <p:spPr>
          <a:xfrm>
            <a:off x="4338218" y="1783080"/>
            <a:ext cx="3515258" cy="329184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1.2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Wie beschreibt das KC Technik?</a:t>
            </a:r>
            <a:endParaRPr lang="en-US" sz="3400" dirty="0"/>
          </a:p>
        </p:txBody>
      </p:sp>
      <p:sp>
        <p:nvSpPr>
          <p:cNvPr id="6" name="ntile-174"/>
          <p:cNvSpPr txBox="1"/>
          <p:nvPr/>
        </p:nvSpPr>
        <p:spPr>
          <a:xfrm>
            <a:off x="8127797" y="1783080"/>
            <a:ext cx="3515258" cy="3291840"/>
          </a:xfrm>
          <a:prstGeom prst="rect">
            <a:avLst/>
          </a:prstGeom>
          <a:solidFill>
            <a:srgbClr val="FFF3C9"/>
          </a:solidFill>
          <a:ln w="19050">
            <a:solidFill>
              <a:srgbClr val="F5B700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1.3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KC und Ropohl: Was ist gleich, was fehlt?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175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17803F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Besprechung</a:t>
            </a:r>
            <a:endParaRPr lang="en-US" sz="1400" dirty="0"/>
          </a:p>
        </p:txBody>
      </p:sp>
      <p:sp>
        <p:nvSpPr>
          <p:cNvPr id="3" name="titel-176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Besprechung: Technik im Fächerkanon</a:t>
            </a:r>
            <a:endParaRPr lang="en-US" sz="2800" dirty="0"/>
          </a:p>
        </p:txBody>
      </p:sp>
      <p:sp>
        <p:nvSpPr>
          <p:cNvPr id="4" name="ntile-177"/>
          <p:cNvSpPr txBox="1"/>
          <p:nvPr/>
        </p:nvSpPr>
        <p:spPr>
          <a:xfrm>
            <a:off x="548640" y="1691640"/>
            <a:ext cx="3515258" cy="201168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1.4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Intentionen und Begründungen</a:t>
            </a:r>
            <a:endParaRPr lang="en-US" sz="3400" dirty="0"/>
          </a:p>
        </p:txBody>
      </p:sp>
      <p:sp>
        <p:nvSpPr>
          <p:cNvPr id="5" name="ntile-178"/>
          <p:cNvSpPr txBox="1"/>
          <p:nvPr/>
        </p:nvSpPr>
        <p:spPr>
          <a:xfrm>
            <a:off x="4338218" y="1691640"/>
            <a:ext cx="3515258" cy="201168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1.5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Harald Lesch und das Fach Technik</a:t>
            </a:r>
            <a:endParaRPr lang="en-US" sz="3400" dirty="0"/>
          </a:p>
        </p:txBody>
      </p:sp>
      <p:sp>
        <p:nvSpPr>
          <p:cNvPr id="6" name="ntile-179"/>
          <p:cNvSpPr txBox="1"/>
          <p:nvPr/>
        </p:nvSpPr>
        <p:spPr>
          <a:xfrm>
            <a:off x="8127797" y="1691640"/>
            <a:ext cx="3515258" cy="201168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1.6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Der Schulversuch der RBG</a:t>
            </a:r>
            <a:endParaRPr lang="en-US" sz="3400" dirty="0"/>
          </a:p>
        </p:txBody>
      </p:sp>
      <p:sp>
        <p:nvSpPr>
          <p:cNvPr id="7" name="ntile-180"/>
          <p:cNvSpPr txBox="1"/>
          <p:nvPr/>
        </p:nvSpPr>
        <p:spPr>
          <a:xfrm>
            <a:off x="548640" y="3931920"/>
            <a:ext cx="3515258" cy="201168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1.7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Physik und Technik zusammenlegen?</a:t>
            </a:r>
            <a:endParaRPr lang="en-US" sz="3400" dirty="0"/>
          </a:p>
        </p:txBody>
      </p:sp>
      <p:sp>
        <p:nvSpPr>
          <p:cNvPr id="8" name="ntile-181"/>
          <p:cNvSpPr txBox="1"/>
          <p:nvPr/>
        </p:nvSpPr>
        <p:spPr>
          <a:xfrm>
            <a:off x="4338218" y="3931920"/>
            <a:ext cx="3515258" cy="2011680"/>
          </a:xfrm>
          <a:prstGeom prst="rect">
            <a:avLst/>
          </a:prstGeom>
          <a:solidFill>
            <a:srgbClr val="EEF3F7"/>
          </a:solidFill>
          <a:ln w="19050">
            <a:solidFill>
              <a:srgbClr val="EEF3F7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1.8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Und der VDI?</a:t>
            </a:r>
            <a:endParaRPr lang="en-US" sz="3400" dirty="0"/>
          </a:p>
        </p:txBody>
      </p:sp>
      <p:sp>
        <p:nvSpPr>
          <p:cNvPr id="9" name="ntile-182"/>
          <p:cNvSpPr txBox="1"/>
          <p:nvPr/>
        </p:nvSpPr>
        <p:spPr>
          <a:xfrm>
            <a:off x="8127797" y="3931920"/>
            <a:ext cx="3515258" cy="2011680"/>
          </a:xfrm>
          <a:prstGeom prst="rect">
            <a:avLst/>
          </a:prstGeom>
          <a:solidFill>
            <a:srgbClr val="FFF3C9"/>
          </a:solidFill>
          <a:ln w="19050">
            <a:solidFill>
              <a:srgbClr val="F5B700"/>
            </a:solidFill>
          </a:ln>
        </p:spPr>
        <p:txBody>
          <a:bodyPr wrap="square" lIns="152400" tIns="152400" rIns="152400" bIns="15240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35591"/>
                </a:solidFill>
              </a:rPr>
              <a:t>1.9</a:t>
            </a:r>
            <a:endParaRPr lang="en-US" sz="34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Deine Entscheidung (a–f) und dein stärkstes Argument</a:t>
            </a: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DE9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-18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35591"/>
          </a:solidFill>
          <a:ln/>
        </p:spPr>
      </p:sp>
      <p:sp>
        <p:nvSpPr>
          <p:cNvPr id="3" name="box-184"/>
          <p:cNvSpPr txBox="1"/>
          <p:nvPr/>
        </p:nvSpPr>
        <p:spPr>
          <a:xfrm>
            <a:off x="822960" y="1463040"/>
            <a:ext cx="5852160" cy="640080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IMPULS</a:t>
            </a:r>
            <a:endParaRPr lang="en-US" sz="2400" dirty="0"/>
          </a:p>
        </p:txBody>
      </p:sp>
      <p:sp>
        <p:nvSpPr>
          <p:cNvPr id="4" name="titel-185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32F"/>
                </a:solidFill>
              </a:rPr>
              <a:t>Impuls: Der mehrperspektivische Technikunterricht</a:t>
            </a:r>
            <a:endParaRPr lang="en-US" sz="4000" dirty="0"/>
          </a:p>
        </p:txBody>
      </p:sp>
      <p:sp>
        <p:nvSpPr>
          <p:cNvPr id="5" name="text-186"/>
          <p:cNvSpPr txBox="1"/>
          <p:nvPr/>
        </p:nvSpPr>
        <p:spPr>
          <a:xfrm>
            <a:off x="822960" y="4480560"/>
            <a:ext cx="106070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56687A"/>
                </a:solidFill>
              </a:rPr>
              <a:t>Im Termin</a:t>
            </a:r>
            <a:endParaRPr lang="en-US"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187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Impuls</a:t>
            </a:r>
            <a:endParaRPr lang="en-US" sz="1400" dirty="0"/>
          </a:p>
        </p:txBody>
      </p:sp>
      <p:sp>
        <p:nvSpPr>
          <p:cNvPr id="3" name="titel-188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Mehrperspektivisch ≠ mehrdimensional</a:t>
            </a:r>
            <a:endParaRPr lang="en-US" sz="2800" dirty="0"/>
          </a:p>
        </p:txBody>
      </p:sp>
      <p:sp>
        <p:nvSpPr>
          <p:cNvPr id="4" name="tile-189"/>
          <p:cNvSpPr txBox="1"/>
          <p:nvPr/>
        </p:nvSpPr>
        <p:spPr>
          <a:xfrm>
            <a:off x="548640" y="1691640"/>
            <a:ext cx="5440680" cy="3017520"/>
          </a:xfrm>
          <a:prstGeom prst="rect">
            <a:avLst/>
          </a:prstGeom>
          <a:solidFill>
            <a:srgbClr val="FCE8E5"/>
          </a:solidFill>
          <a:ln w="25400">
            <a:solidFill>
              <a:srgbClr val="C23B2E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C23B2E"/>
                </a:solidFill>
              </a:rPr>
              <a:t>Nicht gemeint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möglichst viele Wissenschaften berücksichtigen – dafür wäre „mehrdimensional“ das passende Wort</a:t>
            </a:r>
            <a:endParaRPr lang="en-US" sz="2600" dirty="0"/>
          </a:p>
        </p:txBody>
      </p:sp>
      <p:sp>
        <p:nvSpPr>
          <p:cNvPr id="5" name="tile-190"/>
          <p:cNvSpPr txBox="1"/>
          <p:nvPr/>
        </p:nvSpPr>
        <p:spPr>
          <a:xfrm>
            <a:off x="6199632" y="1691640"/>
            <a:ext cx="5440680" cy="3017520"/>
          </a:xfrm>
          <a:prstGeom prst="rect">
            <a:avLst/>
          </a:prstGeom>
          <a:solidFill>
            <a:srgbClr val="E2F4E8"/>
          </a:solidFill>
          <a:ln w="25400">
            <a:solidFill>
              <a:srgbClr val="17803F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17803F"/>
                </a:solidFill>
              </a:rPr>
              <a:t>Gemeint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ein Unterricht, der die Zielperspektiven verfolgt – Richtziel: Mündigkeit in einer von Technik geprägten Welt</a:t>
            </a:r>
            <a:endParaRPr lang="en-US" sz="2600" dirty="0"/>
          </a:p>
        </p:txBody>
      </p:sp>
      <p:sp>
        <p:nvSpPr>
          <p:cNvPr id="6" name="text-191"/>
          <p:cNvSpPr txBox="1"/>
          <p:nvPr/>
        </p:nvSpPr>
        <p:spPr>
          <a:xfrm>
            <a:off x="548640" y="539496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Bienhaus (2008): Technikdidaktik – der mehrperspektivische Ansatz, S. 3 und 6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192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035591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Impuls</a:t>
            </a:r>
            <a:endParaRPr lang="en-US" sz="1400" dirty="0"/>
          </a:p>
        </p:txBody>
      </p:sp>
      <p:sp>
        <p:nvSpPr>
          <p:cNvPr id="3" name="titel-193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Ein Gegenstand, drei Blicke</a:t>
            </a:r>
            <a:endParaRPr lang="en-US" sz="2800" dirty="0"/>
          </a:p>
        </p:txBody>
      </p:sp>
      <p:sp>
        <p:nvSpPr>
          <p:cNvPr id="4" name="text-194"/>
          <p:cNvSpPr txBox="1"/>
          <p:nvPr/>
        </p:nvSpPr>
        <p:spPr>
          <a:xfrm>
            <a:off x="548640" y="1554480"/>
            <a:ext cx="11094415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35591"/>
                </a:solidFill>
              </a:rPr>
              <a:t>Beispiel: das E-Bike</a:t>
            </a:r>
            <a:endParaRPr lang="en-US" sz="2400" dirty="0"/>
          </a:p>
        </p:txBody>
      </p:sp>
      <p:sp>
        <p:nvSpPr>
          <p:cNvPr id="5" name="tile-195"/>
          <p:cNvSpPr txBox="1"/>
          <p:nvPr/>
        </p:nvSpPr>
        <p:spPr>
          <a:xfrm>
            <a:off x="548640" y="2240280"/>
            <a:ext cx="3474720" cy="3108960"/>
          </a:xfrm>
          <a:prstGeom prst="rect">
            <a:avLst/>
          </a:prstGeom>
          <a:solidFill>
            <a:srgbClr val="DDE9F1"/>
          </a:solidFill>
          <a:ln w="6350">
            <a:solidFill>
              <a:srgbClr val="DDE9F1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Sachperspektive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100" dirty="0">
                <a:solidFill>
                  <a:srgbClr val="14232F"/>
                </a:solidFill>
              </a:rPr>
              <a:t>Wie arbeiten Motor, Akku und Steuerung zusammen?</a:t>
            </a:r>
            <a:endParaRPr lang="en-US" sz="2200" dirty="0"/>
          </a:p>
        </p:txBody>
      </p:sp>
      <p:sp>
        <p:nvSpPr>
          <p:cNvPr id="6" name="tile-196"/>
          <p:cNvSpPr txBox="1"/>
          <p:nvPr/>
        </p:nvSpPr>
        <p:spPr>
          <a:xfrm>
            <a:off x="4297680" y="2240280"/>
            <a:ext cx="3474720" cy="3108960"/>
          </a:xfrm>
          <a:prstGeom prst="rect">
            <a:avLst/>
          </a:prstGeom>
          <a:solidFill>
            <a:srgbClr val="FBE3EC"/>
          </a:solidFill>
          <a:ln w="6350">
            <a:solidFill>
              <a:srgbClr val="FBE3EC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human-soziale Perspektive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100" dirty="0">
                <a:solidFill>
                  <a:srgbClr val="14232F"/>
                </a:solidFill>
              </a:rPr>
              <a:t>Wer fährt E-Bike – und wie verändert es Wege zur Arbeit oder Lieferdienste?</a:t>
            </a:r>
            <a:endParaRPr lang="en-US" sz="2200" dirty="0"/>
          </a:p>
        </p:txBody>
      </p:sp>
      <p:sp>
        <p:nvSpPr>
          <p:cNvPr id="7" name="tile-197"/>
          <p:cNvSpPr txBox="1"/>
          <p:nvPr/>
        </p:nvSpPr>
        <p:spPr>
          <a:xfrm>
            <a:off x="8046720" y="2240280"/>
            <a:ext cx="3474720" cy="3108960"/>
          </a:xfrm>
          <a:prstGeom prst="rect">
            <a:avLst/>
          </a:prstGeom>
          <a:solidFill>
            <a:srgbClr val="FDE6D7"/>
          </a:solidFill>
          <a:ln w="6350">
            <a:solidFill>
              <a:srgbClr val="FDE6D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Sinn- und Wertperspektive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100" dirty="0">
                <a:solidFill>
                  <a:srgbClr val="14232F"/>
                </a:solidFill>
              </a:rPr>
              <a:t>Beitrag zur Verkehrswende? Und um welchen Preis, etwa bei Rohstoffen für Akkus?</a:t>
            </a:r>
            <a:endParaRPr lang="en-US" sz="2200" dirty="0"/>
          </a:p>
        </p:txBody>
      </p:sp>
      <p:sp>
        <p:nvSpPr>
          <p:cNvPr id="8" name="text-198"/>
          <p:cNvSpPr txBox="1"/>
          <p:nvPr/>
        </p:nvSpPr>
        <p:spPr>
          <a:xfrm>
            <a:off x="548640" y="557784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Erkenntnisperspektiven nach Schmayl, dargestellt bei Bienhaus (2008), S. 2 f. Beispiel: eigene Darstellung.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3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nd-199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B700"/>
          </a:solidFill>
          <a:ln/>
        </p:spPr>
      </p:sp>
      <p:sp>
        <p:nvSpPr>
          <p:cNvPr id="3" name="box-200"/>
          <p:cNvSpPr txBox="1"/>
          <p:nvPr/>
        </p:nvSpPr>
        <p:spPr>
          <a:xfrm>
            <a:off x="822960" y="1463040"/>
            <a:ext cx="5852160" cy="640080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4232F"/>
                </a:solidFill>
              </a:rPr>
              <a:t>AUFGABEN FÜR ZU HAUSE</a:t>
            </a:r>
            <a:endParaRPr lang="en-US" sz="2400" dirty="0"/>
          </a:p>
        </p:txBody>
      </p:sp>
      <p:sp>
        <p:nvSpPr>
          <p:cNvPr id="4" name="titel-201"/>
          <p:cNvSpPr txBox="1"/>
          <p:nvPr/>
        </p:nvSpPr>
        <p:spPr>
          <a:xfrm>
            <a:off x="822960" y="23774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4232F"/>
                </a:solidFill>
              </a:rPr>
              <a:t>Aufgabenpaket 2: mpTu und dein Thema</a:t>
            </a:r>
            <a:endParaRPr lang="en-US" sz="4000" dirty="0"/>
          </a:p>
        </p:txBody>
      </p:sp>
      <p:sp>
        <p:nvSpPr>
          <p:cNvPr id="5" name="text-202"/>
          <p:cNvSpPr txBox="1"/>
          <p:nvPr/>
        </p:nvSpPr>
        <p:spPr>
          <a:xfrm>
            <a:off x="822960" y="4480560"/>
            <a:ext cx="10607040" cy="73152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600" dirty="0">
                <a:solidFill>
                  <a:srgbClr val="56687A"/>
                </a:solidFill>
              </a:rPr>
              <a:t>Zu Hause bearbeiten · fertig bis Termin 3</a:t>
            </a: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03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32F"/>
                </a:solidFill>
              </a:rPr>
              <a:t>Aufgaben für zu Hause</a:t>
            </a:r>
            <a:endParaRPr lang="en-US" sz="1400" dirty="0"/>
          </a:p>
        </p:txBody>
      </p:sp>
      <p:sp>
        <p:nvSpPr>
          <p:cNvPr id="3" name="titel-20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Erkenntnisperspektive und Zielperspektive</a:t>
            </a:r>
            <a:endParaRPr lang="en-US" sz="2800" dirty="0"/>
          </a:p>
        </p:txBody>
      </p:sp>
      <p:sp>
        <p:nvSpPr>
          <p:cNvPr id="4" name="aufgabe-205"/>
          <p:cNvSpPr txBox="1"/>
          <p:nvPr/>
        </p:nvSpPr>
        <p:spPr>
          <a:xfrm>
            <a:off x="548640" y="2057400"/>
            <a:ext cx="11094415" cy="2926080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77800" rIns="177800" bIns="10160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Aufgabe 2.1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600" dirty="0">
                <a:solidFill>
                  <a:srgbClr val="14232F"/>
                </a:solidFill>
              </a:rPr>
              <a:t>Lies den Auszug „Technikdidaktik – der mehrperspektivische Ansatz“ von Bienhaus (Kursseite, Spalte „Material“). Erkläre die Begriffe Erkenntnisperspektive und Zielperspektive und nenne die jeweiligen Perspektiven.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06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32F"/>
                </a:solidFill>
              </a:rPr>
              <a:t>Aufgaben für zu Hause</a:t>
            </a:r>
            <a:endParaRPr lang="en-US" sz="1400" dirty="0"/>
          </a:p>
        </p:txBody>
      </p:sp>
      <p:sp>
        <p:nvSpPr>
          <p:cNvPr id="3" name="titel-207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Erkenntnisperspektiven im Kerncurriculum</a:t>
            </a:r>
            <a:endParaRPr lang="en-US" sz="2800" dirty="0"/>
          </a:p>
        </p:txBody>
      </p:sp>
      <p:sp>
        <p:nvSpPr>
          <p:cNvPr id="4" name="aufgabe-208"/>
          <p:cNvSpPr txBox="1"/>
          <p:nvPr/>
        </p:nvSpPr>
        <p:spPr>
          <a:xfrm>
            <a:off x="548640" y="2057400"/>
            <a:ext cx="11094415" cy="2926080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77800" rIns="177800" bIns="10160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Aufgabe 2.2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600" dirty="0">
                <a:solidFill>
                  <a:srgbClr val="14232F"/>
                </a:solidFill>
              </a:rPr>
              <a:t>Analysiere, in welcher Form die Erkenntnisperspektiven nach Schmayl im Kerncurriculum Technik für die Realschule wiederzufinden sind.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09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32F"/>
                </a:solidFill>
              </a:rPr>
              <a:t>Aufgaben für zu Hause</a:t>
            </a:r>
            <a:endParaRPr lang="en-US" sz="1400" dirty="0"/>
          </a:p>
        </p:txBody>
      </p:sp>
      <p:sp>
        <p:nvSpPr>
          <p:cNvPr id="3" name="titel-210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Inhaltsfelder im Kerncurriculum</a:t>
            </a:r>
            <a:endParaRPr lang="en-US" sz="2800" dirty="0"/>
          </a:p>
        </p:txBody>
      </p:sp>
      <p:sp>
        <p:nvSpPr>
          <p:cNvPr id="4" name="aufgabe-211"/>
          <p:cNvSpPr txBox="1"/>
          <p:nvPr/>
        </p:nvSpPr>
        <p:spPr>
          <a:xfrm>
            <a:off x="548640" y="2057400"/>
            <a:ext cx="11094415" cy="2926080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77800" rIns="177800" bIns="10160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35591"/>
                </a:solidFill>
              </a:rPr>
              <a:t>Aufgabe 2.3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600" dirty="0">
                <a:solidFill>
                  <a:srgbClr val="14232F"/>
                </a:solidFill>
              </a:rPr>
              <a:t>Vergleiche, welche Inhaltsfelder des mehrperspektivischen Technikunterrichts im Kerncurriculum Technik für die Realschule vorkommen und welche nicht.</a:t>
            </a:r>
            <a:endParaRPr lang="en-US" sz="26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56687A"/>
                </a:solidFill>
              </a:rPr>
              <a:t>Auf der nächsten Folie findest du eine Übersicht der Inhaltsfelder des mpTu.</a:t>
            </a: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12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32F"/>
                </a:solidFill>
              </a:rPr>
              <a:t>Aufgaben für zu Hause</a:t>
            </a:r>
            <a:endParaRPr lang="en-US" sz="1400" dirty="0"/>
          </a:p>
        </p:txBody>
      </p:sp>
      <p:sp>
        <p:nvSpPr>
          <p:cNvPr id="3" name="titel-213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Mehrperspektivische Technikdidaktik: Inhaltsfelder</a:t>
            </a:r>
            <a:endParaRPr lang="en-US" sz="2800" dirty="0"/>
          </a:p>
        </p:txBody>
      </p:sp>
      <p:graphicFrame>
        <p:nvGraphicFramePr>
          <p:cNvPr id="14" name="table-2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2218334"/>
                <a:gridCol w="2218334"/>
                <a:gridCol w="2218334"/>
                <a:gridCol w="2218334"/>
                <a:gridCol w="2218334"/>
              </a:tblGrid>
              <a:tr h="0"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Lebensbereiche: Haushalt · Betrieb · Öffentlichkeit · Freizeit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3559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Arbeit und Produktion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Bauen und Wohnen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Versorgung und Entsorgung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Transport und Verkehr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4232F"/>
                          </a:solidFill>
                        </a:rPr>
                        <a:t>Information und Kommunikation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9F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Arbeitsverfahren, Werkzeuge, Maschinen, Werkstoffe, Arbeitsplatz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Baukonstruktion, Raumfunktion, Wohnbedürfnisse, Umweltplanung, Haustechnik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Wasserversorgung, Energieversorgung, Abfallentsorgung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Fahrzeuge, Hebezeuge, Verkehrseinrichtung, Verkehrsplanung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4232F"/>
                          </a:solidFill>
                        </a:rPr>
                        <a:t>Steuerung, Regelung, informationsverarbeitende Maschinen, Automatisierung</a:t>
                      </a:r>
                      <a:endParaRPr lang="en-US" sz="1600" dirty="0"/>
                    </a:p>
                  </a:txBody>
                  <a:tcPr marL="63500" marR="63500" marT="63500" marB="63500" anchor="ctr">
                    <a:lnL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9D4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box-215"/>
          <p:cNvSpPr txBox="1"/>
          <p:nvPr/>
        </p:nvSpPr>
        <p:spPr>
          <a:xfrm>
            <a:off x="548640" y="4800600"/>
            <a:ext cx="11094415" cy="685800"/>
          </a:xfrm>
          <a:prstGeom prst="rect">
            <a:avLst/>
          </a:prstGeom>
          <a:solidFill>
            <a:srgbClr val="FFF3C9"/>
          </a:solidFill>
          <a:ln/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32F"/>
                </a:solidFill>
              </a:rPr>
              <a:t>Themen: Bautechnik · Maschinentechnik · Produktionstechnik · Energietechnik · Informationstechnik · Textiltechnik</a:t>
            </a:r>
            <a:endParaRPr lang="en-US" sz="1800" dirty="0"/>
          </a:p>
        </p:txBody>
      </p:sp>
      <p:sp>
        <p:nvSpPr>
          <p:cNvPr id="6" name="text-216"/>
          <p:cNvSpPr txBox="1"/>
          <p:nvPr/>
        </p:nvSpPr>
        <p:spPr>
          <a:xfrm>
            <a:off x="548640" y="5943600"/>
            <a:ext cx="11094415" cy="292608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56687A"/>
                </a:solidFill>
              </a:rPr>
              <a:t>Neu gezeichnet nach Wilkening/Schmayl (1984), Folie aus dem Seminarmaterial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17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32F"/>
                </a:solidFill>
              </a:rPr>
              <a:t>Aufgaben für zu Hause</a:t>
            </a:r>
            <a:endParaRPr lang="en-US" sz="1400" dirty="0"/>
          </a:p>
        </p:txBody>
      </p:sp>
      <p:sp>
        <p:nvSpPr>
          <p:cNvPr id="3" name="titel-218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Dein Referat in Termin 4</a:t>
            </a:r>
            <a:endParaRPr lang="en-US" sz="2800" dirty="0"/>
          </a:p>
        </p:txBody>
      </p:sp>
      <p:sp>
        <p:nvSpPr>
          <p:cNvPr id="4" name="tile-219"/>
          <p:cNvSpPr txBox="1"/>
          <p:nvPr/>
        </p:nvSpPr>
        <p:spPr>
          <a:xfrm>
            <a:off x="548640" y="1600200"/>
            <a:ext cx="5440680" cy="141732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Weg A · Referat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20 Min. + Diskussion + Ausarbeitung (über 10 Seiten)</a:t>
            </a:r>
            <a:endParaRPr lang="en-US" sz="2200" dirty="0"/>
          </a:p>
        </p:txBody>
      </p:sp>
      <p:sp>
        <p:nvSpPr>
          <p:cNvPr id="5" name="tile-220"/>
          <p:cNvSpPr txBox="1"/>
          <p:nvPr/>
        </p:nvSpPr>
        <p:spPr>
          <a:xfrm>
            <a:off x="6199632" y="1600200"/>
            <a:ext cx="5440680" cy="1417320"/>
          </a:xfrm>
          <a:prstGeom prst="rect">
            <a:avLst/>
          </a:prstGeom>
          <a:solidFill>
            <a:srgbClr val="E2F4E8"/>
          </a:solidFill>
          <a:ln w="6350">
            <a:solidFill>
              <a:srgbClr val="E2F4E8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Weg B · Vortrag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000" dirty="0">
                <a:solidFill>
                  <a:srgbClr val="14232F"/>
                </a:solidFill>
              </a:rPr>
              <a:t>40 Min. + Diskussion, keine Ausarbeitung</a:t>
            </a:r>
            <a:endParaRPr lang="en-US" sz="2200" dirty="0"/>
          </a:p>
        </p:txBody>
      </p:sp>
      <p:sp>
        <p:nvSpPr>
          <p:cNvPr id="6" name="aufgabe-221"/>
          <p:cNvSpPr txBox="1"/>
          <p:nvPr/>
        </p:nvSpPr>
        <p:spPr>
          <a:xfrm>
            <a:off x="548640" y="3246120"/>
            <a:ext cx="11094415" cy="1371600"/>
          </a:xfrm>
          <a:prstGeom prst="rect">
            <a:avLst/>
          </a:prstGeom>
          <a:solidFill>
            <a:srgbClr val="FFF3C9"/>
          </a:solidFill>
          <a:ln w="25400">
            <a:solidFill>
              <a:srgbClr val="F5B700"/>
            </a:solidFill>
          </a:ln>
        </p:spPr>
        <p:txBody>
          <a:bodyPr wrap="square" lIns="101600" tIns="177800" rIns="177800" bIns="1016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35591"/>
                </a:solidFill>
              </a:rPr>
              <a:t>Aufgabe 2.4</a:t>
            </a:r>
            <a:endParaRPr lang="en-US" sz="20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2200" dirty="0">
                <a:solidFill>
                  <a:srgbClr val="14232F"/>
                </a:solidFill>
              </a:rPr>
              <a:t>Wähle ein Thema aus der Liste der Seminarthemen oder schlage ein eigenes vor. Entscheide dich für Weg A oder B.</a:t>
            </a:r>
            <a:endParaRPr lang="en-US" sz="2000" dirty="0"/>
          </a:p>
        </p:txBody>
      </p:sp>
      <p:sp>
        <p:nvSpPr>
          <p:cNvPr id="7" name="text-222"/>
          <p:cNvSpPr txBox="1"/>
          <p:nvPr/>
        </p:nvSpPr>
        <p:spPr>
          <a:xfrm>
            <a:off x="548640" y="4846320"/>
            <a:ext cx="11094415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56687A"/>
                </a:solidFill>
              </a:rPr>
              <a:t>Den Beitrag planst du nach Termin 3 in Aufgabenpaket 3.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ox-223"/>
          <p:cNvSpPr txBox="1"/>
          <p:nvPr/>
        </p:nvSpPr>
        <p:spPr>
          <a:xfrm>
            <a:off x="8915400" y="246888"/>
            <a:ext cx="2862072" cy="384048"/>
          </a:xfrm>
          <a:prstGeom prst="rect">
            <a:avLst/>
          </a:prstGeom>
          <a:solidFill>
            <a:srgbClr val="F5B700"/>
          </a:solidFill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4232F"/>
                </a:solidFill>
              </a:rPr>
              <a:t>Aufgaben für zu Hause</a:t>
            </a:r>
            <a:endParaRPr lang="en-US" sz="1400" dirty="0"/>
          </a:p>
        </p:txBody>
      </p:sp>
      <p:sp>
        <p:nvSpPr>
          <p:cNvPr id="3" name="titel-224"/>
          <p:cNvSpPr txBox="1"/>
          <p:nvPr/>
        </p:nvSpPr>
        <p:spPr>
          <a:xfrm>
            <a:off x="548640" y="896112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4232F"/>
                </a:solidFill>
              </a:rPr>
              <a:t>Bis Termin 3: Aufgabenpaket 2</a:t>
            </a:r>
            <a:endParaRPr lang="en-US" sz="2800" dirty="0"/>
          </a:p>
        </p:txBody>
      </p:sp>
      <p:sp>
        <p:nvSpPr>
          <p:cNvPr id="4" name="tile-225"/>
          <p:cNvSpPr txBox="1"/>
          <p:nvPr/>
        </p:nvSpPr>
        <p:spPr>
          <a:xfrm>
            <a:off x="548640" y="1600200"/>
            <a:ext cx="5440680" cy="1920240"/>
          </a:xfrm>
          <a:prstGeom prst="rect">
            <a:avLst/>
          </a:prstGeom>
          <a:solidFill>
            <a:srgbClr val="EEF3F7"/>
          </a:solidFill>
          <a:ln w="6350">
            <a:solidFill>
              <a:srgbClr val="EEF3F7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mpTu · 2.1–2.3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Erkenntnis- und Zielperspektive, Perspektiven im KC, Inhaltsfelder im KC</a:t>
            </a:r>
            <a:endParaRPr lang="en-US" sz="2200" dirty="0"/>
          </a:p>
        </p:txBody>
      </p:sp>
      <p:sp>
        <p:nvSpPr>
          <p:cNvPr id="5" name="tile-226"/>
          <p:cNvSpPr txBox="1"/>
          <p:nvPr/>
        </p:nvSpPr>
        <p:spPr>
          <a:xfrm>
            <a:off x="6199632" y="1600200"/>
            <a:ext cx="5440680" cy="1920240"/>
          </a:xfrm>
          <a:prstGeom prst="rect">
            <a:avLst/>
          </a:prstGeom>
          <a:solidFill>
            <a:srgbClr val="FFF3C9"/>
          </a:solidFill>
          <a:ln w="6350">
            <a:solidFill>
              <a:srgbClr val="FFF3C9"/>
            </a:solidFill>
          </a:ln>
        </p:spPr>
        <p:txBody>
          <a:bodyPr wrap="square" lIns="127000" tIns="127000" rIns="127000" bIns="12700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35591"/>
                </a:solidFill>
              </a:rPr>
              <a:t>Referat · 2.4</a:t>
            </a:r>
            <a:endParaRPr lang="en-US" sz="2200" dirty="0"/>
          </a:p>
          <a:p>
            <a:pPr indent="0" marL="0">
              <a:spcBef>
                <a:spcPts val="400"/>
              </a:spcBef>
              <a:buNone/>
            </a:pPr>
            <a:r>
              <a:rPr lang="en-US" sz="1900" dirty="0">
                <a:solidFill>
                  <a:srgbClr val="14232F"/>
                </a:solidFill>
              </a:rPr>
              <a:t>Thema wählen, Weg A oder B</a:t>
            </a:r>
            <a:endParaRPr lang="en-US" sz="2200" dirty="0"/>
          </a:p>
        </p:txBody>
      </p:sp>
      <p:sp>
        <p:nvSpPr>
          <p:cNvPr id="6" name="link-227"/>
          <p:cNvSpPr txBox="1"/>
          <p:nvPr/>
        </p:nvSpPr>
        <p:spPr>
          <a:xfrm>
            <a:off x="548640" y="3931920"/>
            <a:ext cx="7132320" cy="64008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4232F"/>
                </a:solidFill>
              </a:rPr>
              <a:t>Kursseite: </a:t>
            </a:r>
            <a:pPr indent="0" marL="0">
              <a:buNone/>
            </a:pPr>
            <a:r>
              <a:rPr lang="en-US" sz="3000" b="1" u="sng" dirty="0">
                <a:solidFill>
                  <a:srgbClr val="03559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https://t1p.de/tdk-26</a:t>
            </a:r>
            <a:endParaRPr lang="en-US" sz="3000" dirty="0"/>
          </a:p>
        </p:txBody>
      </p:sp>
      <p:sp>
        <p:nvSpPr>
          <p:cNvPr id="7" name="text-228"/>
          <p:cNvSpPr txBox="1"/>
          <p:nvPr/>
        </p:nvSpPr>
        <p:spPr>
          <a:xfrm>
            <a:off x="548640" y="4663440"/>
            <a:ext cx="7132320" cy="548640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4232F"/>
                </a:solidFill>
              </a:rPr>
              <a:t>Vor Termin 3: Export „Nur Aufgabenpaket 2“ schicken</a:t>
            </a:r>
            <a:endParaRPr lang="en-US" sz="2000" dirty="0"/>
          </a:p>
        </p:txBody>
      </p:sp>
      <p:pic>
        <p:nvPicPr>
          <p:cNvPr id="8" name="qr-229" descr="QR-Code zur Kursseite: https://t1p.de/tdk-26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8280" y="3703320"/>
            <a:ext cx="2103120" cy="21031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6687A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einTechniklehrer">
  <a:themeElements>
    <a:clrScheme name="deinTechniklehrer">
      <a:dk1>
        <a:srgbClr val="14232F"/>
      </a:dk1>
      <a:lt1>
        <a:srgbClr val="FFFFFF"/>
      </a:lt1>
      <a:dk2>
        <a:srgbClr val="023A63"/>
      </a:dk2>
      <a:lt2>
        <a:srgbClr val="EEF3F7"/>
      </a:lt2>
      <a:accent1>
        <a:srgbClr val="035591"/>
      </a:accent1>
      <a:accent2>
        <a:srgbClr val="F5B700"/>
      </a:accent2>
      <a:accent3>
        <a:srgbClr val="C2255C"/>
      </a:accent3>
      <a:accent4>
        <a:srgbClr val="D9480F"/>
      </a:accent4>
      <a:accent5>
        <a:srgbClr val="3B6E8F"/>
      </a:accent5>
      <a:accent6>
        <a:srgbClr val="17803F"/>
      </a:accent6>
      <a:hlink>
        <a:srgbClr val="035591"/>
      </a:hlink>
      <a:folHlink>
        <a:srgbClr val="56687A"/>
      </a:folHlink>
    </a:clrScheme>
    <a:fontScheme name="deinTechniklehre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Technikdidaktisches Kolloquium – Termin 2: Der mehrperspektivische Technikunterricht</dc:title>
  <dc:subject>Universität Hildesheim, WiSe 2026/27</dc:subject>
  <dc:creator>Daniel Beyrodt</dc:creator>
  <cp:lastModifiedBy>Daniel Beyrodt</cp:lastModifiedBy>
  <cp:revision>1</cp:revision>
  <dcterms:created xsi:type="dcterms:W3CDTF">2026-10-28T11:06:13Z</dcterms:created>
  <dcterms:modified xsi:type="dcterms:W3CDTF">2026-10-28T11:06:13Z</dcterms:modified>
</cp:coreProperties>
</file>